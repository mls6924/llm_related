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59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3" r:id="rId17"/>
    <p:sldId id="270" r:id="rId18"/>
    <p:sldId id="27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3"/>
        <p:guide pos="38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367030" y="113665"/>
            <a:ext cx="9144000" cy="1344295"/>
          </a:xfrm>
        </p:spPr>
        <p:txBody>
          <a:bodyPr/>
          <a:p>
            <a:r>
              <a:rPr lang="en-US" altLang="zh-CN" sz="4800"/>
              <a:t>1 ppo</a:t>
            </a:r>
            <a:r>
              <a:rPr lang="zh-CN" altLang="en-US" sz="4800"/>
              <a:t>算法的</a:t>
            </a:r>
            <a:r>
              <a:rPr lang="zh-CN" altLang="en-US" sz="4800">
                <a:sym typeface="+mn-ea"/>
              </a:rPr>
              <a:t>诞生</a:t>
            </a:r>
            <a:r>
              <a:rPr lang="zh-CN" altLang="en-US" sz="4800"/>
              <a:t>背景</a:t>
            </a:r>
            <a:endParaRPr lang="en-US" altLang="zh-CN" sz="4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6640" y="113665"/>
            <a:ext cx="2607310" cy="65481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5955" y="2828925"/>
            <a:ext cx="6977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https://chat.deepseek.com/a/chat/s/1dd0249b-40c8-41a6-bdb4-ae12d744079e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35000" y="205105"/>
            <a:ext cx="12261850" cy="998855"/>
          </a:xfrm>
        </p:spPr>
        <p:txBody>
          <a:bodyPr>
            <a:normAutofit/>
          </a:bodyPr>
          <a:p>
            <a:pPr algn="l"/>
            <a:r>
              <a:rPr lang="en-US" altLang="zh-CN" sz="3200"/>
              <a:t>1.1 ppo</a:t>
            </a:r>
            <a:r>
              <a:rPr lang="zh-CN" altLang="en-US" sz="3200"/>
              <a:t>算法的</a:t>
            </a:r>
            <a:r>
              <a:rPr lang="zh-CN" altLang="en-US" sz="3200">
                <a:sym typeface="+mn-ea"/>
              </a:rPr>
              <a:t>诞生</a:t>
            </a:r>
            <a:r>
              <a:rPr lang="zh-CN" altLang="en-US" sz="3200"/>
              <a:t>背景：</a:t>
            </a:r>
            <a:r>
              <a:rPr lang="en-US" altLang="zh-CN" sz="3200"/>
              <a:t>REINFORCE</a:t>
            </a:r>
            <a:r>
              <a:rPr lang="zh-CN" altLang="en-US" sz="3200"/>
              <a:t>算法（蒙特卡洛策略梯度）</a:t>
            </a:r>
            <a:endParaRPr lang="zh-CN" altLang="en-US" sz="32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0" y="1203960"/>
            <a:ext cx="5581650" cy="24193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98550" y="3850640"/>
            <a:ext cx="889698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REINFORCE</a:t>
            </a:r>
            <a:r>
              <a:rPr lang="zh-CN" altLang="en-US"/>
              <a:t>：</a:t>
            </a:r>
            <a:r>
              <a:rPr lang="en-US" altLang="zh-CN"/>
              <a:t>PPO</a:t>
            </a:r>
            <a:r>
              <a:rPr lang="zh-CN" altLang="en-US"/>
              <a:t>的</a:t>
            </a:r>
            <a:r>
              <a:rPr lang="en-US" altLang="zh-CN"/>
              <a:t>“</a:t>
            </a:r>
            <a:r>
              <a:rPr lang="zh-CN" altLang="en-US"/>
              <a:t>祖父</a:t>
            </a:r>
            <a:r>
              <a:rPr lang="en-US" altLang="zh-CN"/>
              <a:t>”——</a:t>
            </a:r>
            <a:r>
              <a:rPr lang="zh-CN" altLang="en-US"/>
              <a:t>基础但低效</a:t>
            </a:r>
            <a:endParaRPr lang="zh-CN" altLang="en-US"/>
          </a:p>
          <a:p>
            <a:r>
              <a:rPr lang="zh-CN" altLang="en-US"/>
              <a:t>关系：</a:t>
            </a:r>
            <a:r>
              <a:rPr lang="en-US" altLang="zh-CN"/>
              <a:t>PPO</a:t>
            </a:r>
            <a:r>
              <a:rPr lang="zh-CN" altLang="en-US"/>
              <a:t>是策略梯度家族的一员，</a:t>
            </a:r>
            <a:r>
              <a:rPr lang="en-US" altLang="zh-CN"/>
              <a:t>REINFORCE</a:t>
            </a:r>
            <a:r>
              <a:rPr lang="zh-CN" altLang="en-US"/>
              <a:t>是这个家族最经典的算法，定义了</a:t>
            </a:r>
            <a:r>
              <a:rPr lang="en-US" altLang="zh-CN"/>
              <a:t>“</a:t>
            </a:r>
            <a:r>
              <a:rPr lang="zh-CN" altLang="en-US"/>
              <a:t>通过调整动作概率来最大化回报</a:t>
            </a:r>
            <a:r>
              <a:rPr lang="en-US" altLang="zh-CN"/>
              <a:t>”</a:t>
            </a:r>
            <a:r>
              <a:rPr lang="zh-CN" altLang="en-US"/>
              <a:t>的核心思想。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PPO</a:t>
            </a:r>
            <a:r>
              <a:rPr lang="zh-CN" altLang="en-US"/>
              <a:t>继承了它什么？</a:t>
            </a:r>
            <a:r>
              <a:rPr lang="en-US" altLang="zh-CN"/>
              <a:t> PPO</a:t>
            </a:r>
            <a:r>
              <a:rPr lang="zh-CN" altLang="en-US"/>
              <a:t>继承了</a:t>
            </a:r>
            <a:r>
              <a:rPr lang="en-US" altLang="zh-CN" b="1">
                <a:solidFill>
                  <a:srgbClr val="FF0000"/>
                </a:solidFill>
              </a:rPr>
              <a:t> ∇θ log π(a|s) * A</a:t>
            </a:r>
            <a:r>
              <a:rPr lang="en-US" altLang="zh-CN"/>
              <a:t> </a:t>
            </a:r>
            <a:r>
              <a:rPr lang="zh-CN" altLang="en-US"/>
              <a:t>这个最根本的优化逻辑。这是所有策略梯度算法的</a:t>
            </a:r>
            <a:r>
              <a:rPr lang="en-US" altLang="zh-CN"/>
              <a:t>“</a:t>
            </a:r>
            <a:r>
              <a:rPr lang="zh-CN" altLang="en-US"/>
              <a:t>心脏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PPO</a:t>
            </a:r>
            <a:r>
              <a:rPr lang="zh-CN" altLang="en-US"/>
              <a:t>要解决它的什么问题？</a:t>
            </a:r>
            <a:r>
              <a:rPr lang="en-US" altLang="zh-CN"/>
              <a:t> REINFORCE</a:t>
            </a:r>
            <a:r>
              <a:rPr lang="zh-CN" altLang="en-US"/>
              <a:t>是完全的在线学习：用当前策略采样一批数据，更新一次，然后这批数据就被丢弃。因为更新后策略变了，旧数据不再适用。这就像每吃一口饭就重新种一次庄稼，数据利用效率极低，训练非常慢。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84250" y="85090"/>
            <a:ext cx="8333105" cy="998855"/>
          </a:xfrm>
        </p:spPr>
        <p:txBody>
          <a:bodyPr>
            <a:normAutofit fontScale="90000"/>
          </a:bodyPr>
          <a:p>
            <a:r>
              <a:rPr lang="en-US" altLang="zh-CN" sz="3200"/>
              <a:t>1.2 ppo</a:t>
            </a:r>
            <a:r>
              <a:rPr lang="zh-CN" altLang="en-US" sz="3200"/>
              <a:t>算法的</a:t>
            </a:r>
            <a:r>
              <a:rPr lang="zh-CN" altLang="en-US" sz="3200"/>
              <a:t>诞生背景：</a:t>
            </a:r>
            <a:r>
              <a:rPr lang="en-US" altLang="zh-CN" sz="3200"/>
              <a:t>TRPO(</a:t>
            </a:r>
            <a:r>
              <a:rPr lang="zh-CN" altLang="en-US" sz="3200"/>
              <a:t>信任域策略优化</a:t>
            </a:r>
            <a:r>
              <a:rPr lang="en-US" altLang="zh-CN" sz="3200"/>
              <a:t>)</a:t>
            </a:r>
            <a:endParaRPr lang="en-US" altLang="zh-CN" sz="3200"/>
          </a:p>
        </p:txBody>
      </p:sp>
      <p:sp>
        <p:nvSpPr>
          <p:cNvPr id="7" name="文本框 6"/>
          <p:cNvSpPr txBox="1"/>
          <p:nvPr/>
        </p:nvSpPr>
        <p:spPr>
          <a:xfrm>
            <a:off x="1098550" y="3850640"/>
            <a:ext cx="889698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 TRPO</a:t>
            </a:r>
            <a:r>
              <a:rPr lang="zh-CN" altLang="en-US"/>
              <a:t>：</a:t>
            </a:r>
            <a:r>
              <a:rPr lang="en-US" altLang="zh-CN"/>
              <a:t>PPO</a:t>
            </a:r>
            <a:r>
              <a:rPr lang="zh-CN" altLang="en-US"/>
              <a:t>的</a:t>
            </a:r>
            <a:r>
              <a:rPr lang="en-US" altLang="zh-CN"/>
              <a:t>“</a:t>
            </a:r>
            <a:r>
              <a:rPr lang="zh-CN" altLang="en-US"/>
              <a:t>父亲</a:t>
            </a:r>
            <a:r>
              <a:rPr lang="en-US" altLang="zh-CN"/>
              <a:t>”——</a:t>
            </a:r>
            <a:r>
              <a:rPr lang="zh-CN" altLang="en-US"/>
              <a:t>强大但笨重</a:t>
            </a:r>
            <a:endParaRPr lang="zh-CN" altLang="en-US"/>
          </a:p>
          <a:p>
            <a:r>
              <a:rPr lang="zh-CN" altLang="en-US"/>
              <a:t>关系：</a:t>
            </a:r>
            <a:r>
              <a:rPr lang="en-US" altLang="zh-CN"/>
              <a:t>TRPO</a:t>
            </a:r>
            <a:r>
              <a:rPr lang="zh-CN" altLang="en-US"/>
              <a:t>是</a:t>
            </a:r>
            <a:r>
              <a:rPr lang="en-US" altLang="zh-CN"/>
              <a:t>PPO</a:t>
            </a:r>
            <a:r>
              <a:rPr lang="zh-CN" altLang="en-US"/>
              <a:t>的直接前身，它提出了</a:t>
            </a:r>
            <a:r>
              <a:rPr lang="en-US" altLang="zh-CN"/>
              <a:t>PPO</a:t>
            </a:r>
            <a:r>
              <a:rPr lang="zh-CN" altLang="en-US"/>
              <a:t>所要解决的核心问题，并给出了第一个解决方案。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PPO</a:t>
            </a:r>
            <a:r>
              <a:rPr lang="zh-CN" altLang="en-US"/>
              <a:t>继承了它什么？</a:t>
            </a:r>
            <a:r>
              <a:rPr lang="en-US" altLang="zh-CN"/>
              <a:t> PPO</a:t>
            </a:r>
            <a:r>
              <a:rPr lang="zh-CN" altLang="en-US"/>
              <a:t>完整继承了</a:t>
            </a:r>
            <a:r>
              <a:rPr lang="en-US" altLang="zh-CN"/>
              <a:t>TRPO</a:t>
            </a:r>
            <a:r>
              <a:rPr lang="zh-CN" altLang="en-US"/>
              <a:t>的两个核心洞见：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它从</a:t>
            </a:r>
            <a:r>
              <a:rPr lang="en-US" altLang="zh-CN"/>
              <a:t>TRPO</a:t>
            </a:r>
            <a:r>
              <a:rPr lang="zh-CN" altLang="en-US"/>
              <a:t>那里拿来了：</a:t>
            </a:r>
            <a:r>
              <a:rPr lang="en-US" altLang="zh-CN" b="1">
                <a:solidFill>
                  <a:srgbClr val="FF0000"/>
                </a:solidFill>
              </a:rPr>
              <a:t>“</a:t>
            </a:r>
            <a:r>
              <a:rPr lang="zh-CN" altLang="en-US" b="1">
                <a:solidFill>
                  <a:srgbClr val="FF0000"/>
                </a:solidFill>
              </a:rPr>
              <a:t>用旧数据更新</a:t>
            </a:r>
            <a:r>
              <a:rPr lang="en-US" altLang="zh-CN" b="1">
                <a:solidFill>
                  <a:srgbClr val="FF0000"/>
                </a:solidFill>
              </a:rPr>
              <a:t>”</a:t>
            </a:r>
            <a:r>
              <a:rPr lang="zh-CN" altLang="en-US" b="1">
                <a:solidFill>
                  <a:srgbClr val="FF0000"/>
                </a:solidFill>
              </a:rPr>
              <a:t>和</a:t>
            </a:r>
            <a:r>
              <a:rPr lang="en-US" altLang="zh-CN" b="1">
                <a:solidFill>
                  <a:srgbClr val="FF0000"/>
                </a:solidFill>
              </a:rPr>
              <a:t>“</a:t>
            </a:r>
            <a:r>
              <a:rPr lang="zh-CN" altLang="en-US" b="1">
                <a:solidFill>
                  <a:srgbClr val="FF0000"/>
                </a:solidFill>
              </a:rPr>
              <a:t>限制更新幅度</a:t>
            </a:r>
            <a:r>
              <a:rPr lang="en-US" altLang="zh-CN" b="1">
                <a:solidFill>
                  <a:srgbClr val="FF0000"/>
                </a:solidFill>
              </a:rPr>
              <a:t>”</a:t>
            </a:r>
            <a:r>
              <a:rPr lang="zh-CN" altLang="en-US"/>
              <a:t>这两个核心需求。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" y="1536700"/>
            <a:ext cx="573405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84250" y="148590"/>
            <a:ext cx="8333105" cy="744855"/>
          </a:xfrm>
        </p:spPr>
        <p:txBody>
          <a:bodyPr>
            <a:normAutofit/>
          </a:bodyPr>
          <a:p>
            <a:pPr algn="l"/>
            <a:r>
              <a:rPr lang="en-US" altLang="zh-CN" sz="3200"/>
              <a:t>1.3 ppo</a:t>
            </a:r>
            <a:r>
              <a:rPr lang="zh-CN" altLang="en-US" sz="3200"/>
              <a:t>算法的</a:t>
            </a:r>
            <a:r>
              <a:rPr lang="zh-CN" altLang="en-US" sz="3200">
                <a:sym typeface="+mn-ea"/>
              </a:rPr>
              <a:t>诞生</a:t>
            </a:r>
            <a:r>
              <a:rPr lang="zh-CN" altLang="en-US" sz="3200"/>
              <a:t>背景：</a:t>
            </a:r>
            <a:r>
              <a:rPr lang="en-US" altLang="zh-CN" sz="3200"/>
              <a:t>ppo</a:t>
            </a:r>
            <a:endParaRPr lang="en-US" altLang="zh-CN" sz="3200"/>
          </a:p>
        </p:txBody>
      </p:sp>
      <p:sp>
        <p:nvSpPr>
          <p:cNvPr id="7" name="文本框 6"/>
          <p:cNvSpPr txBox="1"/>
          <p:nvPr/>
        </p:nvSpPr>
        <p:spPr>
          <a:xfrm>
            <a:off x="1061720" y="893445"/>
            <a:ext cx="1070292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在继承</a:t>
            </a:r>
            <a:r>
              <a:rPr lang="en-US" altLang="zh-CN"/>
              <a:t>REINFORCE</a:t>
            </a:r>
            <a:r>
              <a:rPr lang="zh-CN" altLang="en-US"/>
              <a:t>的简单思想和</a:t>
            </a:r>
            <a:r>
              <a:rPr lang="en-US" altLang="zh-CN"/>
              <a:t>TRPO</a:t>
            </a:r>
            <a:r>
              <a:rPr lang="zh-CN" altLang="en-US"/>
              <a:t>的稳定性目标之间，找到一个计算高效、实现简单的</a:t>
            </a:r>
            <a:r>
              <a:rPr lang="en-US" altLang="zh-CN"/>
              <a:t>“</a:t>
            </a:r>
            <a:r>
              <a:rPr lang="zh-CN" altLang="en-US"/>
              <a:t>甜蜜点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它从</a:t>
            </a:r>
            <a:r>
              <a:rPr lang="en-US" altLang="zh-CN"/>
              <a:t>REINFORCE</a:t>
            </a:r>
            <a:r>
              <a:rPr lang="zh-CN" altLang="en-US"/>
              <a:t>那里拿来了：策略梯度的基本形式。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它从</a:t>
            </a:r>
            <a:r>
              <a:rPr lang="en-US" altLang="zh-CN"/>
              <a:t>TRPO</a:t>
            </a:r>
            <a:r>
              <a:rPr lang="zh-CN" altLang="en-US"/>
              <a:t>那里拿来了：</a:t>
            </a:r>
            <a:r>
              <a:rPr lang="en-US" altLang="zh-CN"/>
              <a:t>“</a:t>
            </a:r>
            <a:r>
              <a:rPr lang="zh-CN" altLang="en-US"/>
              <a:t>用旧数据更新</a:t>
            </a:r>
            <a:r>
              <a:rPr lang="en-US" altLang="zh-CN"/>
              <a:t>”</a:t>
            </a:r>
            <a:r>
              <a:rPr lang="zh-CN" altLang="en-US"/>
              <a:t>和</a:t>
            </a:r>
            <a:r>
              <a:rPr lang="en-US" altLang="zh-CN"/>
              <a:t>“</a:t>
            </a:r>
            <a:r>
              <a:rPr lang="zh-CN" altLang="en-US"/>
              <a:t>限制更新幅度</a:t>
            </a:r>
            <a:r>
              <a:rPr lang="en-US" altLang="zh-CN"/>
              <a:t>”</a:t>
            </a:r>
            <a:r>
              <a:rPr lang="zh-CN" altLang="en-US"/>
              <a:t>这两个核心需求。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它自己的</a:t>
            </a:r>
            <a:r>
              <a:rPr lang="zh-CN" altLang="en-US" b="1">
                <a:solidFill>
                  <a:srgbClr val="FF0000"/>
                </a:solidFill>
              </a:rPr>
              <a:t>革命性创新</a:t>
            </a:r>
            <a:r>
              <a:rPr lang="zh-CN" altLang="en-US"/>
              <a:t>是：</a:t>
            </a:r>
            <a:r>
              <a:rPr lang="zh-CN" altLang="en-US">
                <a:solidFill>
                  <a:srgbClr val="FF0000"/>
                </a:solidFill>
              </a:rPr>
              <a:t>用一个简单的裁剪操作和一个最小化目标函数，近似地实现了</a:t>
            </a:r>
            <a:r>
              <a:rPr lang="en-US" altLang="zh-CN">
                <a:solidFill>
                  <a:srgbClr val="FF0000"/>
                </a:solidFill>
              </a:rPr>
              <a:t>TRPO</a:t>
            </a:r>
            <a:r>
              <a:rPr lang="zh-CN" altLang="en-US">
                <a:solidFill>
                  <a:srgbClr val="FF0000"/>
                </a:solidFill>
              </a:rPr>
              <a:t>的信任域约束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简单比喻：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REINFORCE</a:t>
            </a:r>
            <a:r>
              <a:rPr lang="zh-CN" altLang="en-US"/>
              <a:t>：学做菜。做一道，尝一口，不好就重做。</a:t>
            </a:r>
            <a:r>
              <a:rPr lang="en-US" altLang="zh-CN"/>
              <a:t>(</a:t>
            </a:r>
            <a:r>
              <a:rPr lang="zh-CN" altLang="en-US"/>
              <a:t>低效</a:t>
            </a:r>
            <a:r>
              <a:rPr lang="en-US" altLang="zh-CN"/>
              <a:t>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TRPO</a:t>
            </a:r>
            <a:r>
              <a:rPr lang="zh-CN" altLang="en-US"/>
              <a:t>：学做菜。做一道，反复品尝分析，并用一套复杂的营养学公式精确计算下一道菜的改动，确保健康。</a:t>
            </a:r>
            <a:r>
              <a:rPr lang="en-US" altLang="zh-CN"/>
              <a:t>(</a:t>
            </a:r>
            <a:r>
              <a:rPr lang="zh-CN" altLang="en-US"/>
              <a:t>高效但繁琐</a:t>
            </a:r>
            <a:r>
              <a:rPr lang="en-US" altLang="zh-CN"/>
              <a:t>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PPO</a:t>
            </a:r>
            <a:r>
              <a:rPr lang="zh-CN" altLang="en-US"/>
              <a:t>：学做菜。做一道，反复品尝分析。下一道菜的改动遵循一个简单规则：</a:t>
            </a:r>
            <a:r>
              <a:rPr lang="en-US" altLang="zh-CN"/>
              <a:t>“</a:t>
            </a:r>
            <a:r>
              <a:rPr lang="zh-CN" altLang="en-US"/>
              <a:t>盐和调料的变化不能超过上一道的</a:t>
            </a:r>
            <a:r>
              <a:rPr lang="en-US" altLang="zh-CN"/>
              <a:t>20%”</a:t>
            </a:r>
            <a:r>
              <a:rPr lang="zh-CN" altLang="en-US"/>
              <a:t>。这个规则简单、好实现，并且在实践中效果和复杂公式一样好，甚至更稳定。</a:t>
            </a:r>
            <a:r>
              <a:rPr lang="en-US" altLang="zh-CN"/>
              <a:t>(</a:t>
            </a:r>
            <a:r>
              <a:rPr lang="zh-CN" altLang="en-US"/>
              <a:t>高效且简单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39750" y="176530"/>
            <a:ext cx="8333105" cy="746125"/>
          </a:xfrm>
        </p:spPr>
        <p:txBody>
          <a:bodyPr>
            <a:normAutofit/>
          </a:bodyPr>
          <a:p>
            <a:pPr algn="l"/>
            <a:r>
              <a:rPr lang="en-US" altLang="zh-CN" sz="3200"/>
              <a:t>2 ppo</a:t>
            </a:r>
            <a:r>
              <a:rPr lang="zh-CN" altLang="en-US" sz="3200"/>
              <a:t>算法</a:t>
            </a:r>
            <a:endParaRPr lang="en-US" altLang="zh-CN" sz="3200"/>
          </a:p>
        </p:txBody>
      </p:sp>
      <p:sp>
        <p:nvSpPr>
          <p:cNvPr id="7" name="文本框 6"/>
          <p:cNvSpPr txBox="1"/>
          <p:nvPr/>
        </p:nvSpPr>
        <p:spPr>
          <a:xfrm>
            <a:off x="539750" y="873125"/>
            <a:ext cx="8896985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PPO</a:t>
            </a:r>
            <a:r>
              <a:rPr lang="zh-CN" altLang="en-US"/>
              <a:t>有两个主要版本，我们重点解析</a:t>
            </a:r>
            <a:r>
              <a:rPr lang="en-US" altLang="zh-CN"/>
              <a:t>PPO-Clip</a:t>
            </a:r>
            <a:r>
              <a:rPr lang="zh-CN" altLang="en-US"/>
              <a:t>（裁剪法），这是最流行的版本。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1322070"/>
            <a:ext cx="6070600" cy="1320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5349875"/>
            <a:ext cx="5905500" cy="7874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037705" y="4949190"/>
            <a:ext cx="6828790" cy="135445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l"/>
            <a:r>
              <a:rPr lang="en-US" altLang="zh-CN" b="0" i="1">
                <a:solidFill>
                  <a:srgbClr val="FF0000"/>
                </a:solidFill>
                <a:latin typeface="KaTeX_Math"/>
                <a:ea typeface="KaTeX_Math"/>
              </a:rPr>
              <a:t>LtVF</a:t>
            </a:r>
            <a:r>
              <a:rPr lang="en-US" altLang="zh-CN" b="0" i="0">
                <a:solidFill>
                  <a:srgbClr val="FF0000"/>
                </a:solidFill>
                <a:latin typeface="KaTeX_Main"/>
                <a:ea typeface="KaTeX_Main"/>
              </a:rPr>
              <a:t>​(</a:t>
            </a:r>
            <a:r>
              <a:rPr lang="en-US" altLang="zh-CN" b="0" i="1">
                <a:solidFill>
                  <a:srgbClr val="FF0000"/>
                </a:solidFill>
                <a:latin typeface="KaTeX_Math"/>
                <a:ea typeface="KaTeX_Math"/>
              </a:rPr>
              <a:t>θ</a:t>
            </a:r>
            <a:r>
              <a:rPr lang="en-US" altLang="zh-CN" b="0" i="0">
                <a:solidFill>
                  <a:srgbClr val="FF0000"/>
                </a:solidFill>
                <a:latin typeface="KaTeX_Main"/>
                <a:ea typeface="KaTeX_Main"/>
              </a:rPr>
              <a:t>)</a:t>
            </a:r>
            <a:r>
              <a:rPr lang="en-US" altLang="zh-CN" b="0" i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b="0" i="0">
                <a:solidFill>
                  <a:srgbClr val="FF0000"/>
                </a:solidFill>
                <a:latin typeface="+mn-ea"/>
              </a:rPr>
              <a:t>价值函数损失</a:t>
            </a:r>
            <a:endParaRPr lang="zh-CN" altLang="en-US" b="0" i="0">
              <a:solidFill>
                <a:srgbClr val="FF0000"/>
              </a:solidFill>
              <a:latin typeface="+mn-ea"/>
            </a:endParaRPr>
          </a:p>
          <a:p>
            <a:pPr marL="0" indent="0" algn="l"/>
            <a:r>
              <a:rPr lang="zh-CN" altLang="en-US" b="0" i="0">
                <a:solidFill>
                  <a:schemeClr val="tx1"/>
                </a:solidFill>
                <a:latin typeface="+mn-ea"/>
              </a:rPr>
              <a:t>含义：价值网络（</a:t>
            </a:r>
            <a:r>
              <a:rPr lang="en-US" altLang="zh-CN" b="0" i="0">
                <a:solidFill>
                  <a:schemeClr val="tx1"/>
                </a:solidFill>
                <a:latin typeface="+mn-ea"/>
              </a:rPr>
              <a:t>Critic</a:t>
            </a:r>
            <a:r>
              <a:rPr lang="zh-CN" altLang="en-US" b="0" i="0">
                <a:solidFill>
                  <a:schemeClr val="tx1"/>
                </a:solidFill>
                <a:latin typeface="+mn-ea"/>
              </a:rPr>
              <a:t>）的损失函数。</a:t>
            </a:r>
            <a:endParaRPr lang="zh-CN" altLang="en-US" b="0" i="0">
              <a:solidFill>
                <a:schemeClr val="tx1"/>
              </a:solidFill>
              <a:latin typeface="+mn-ea"/>
            </a:endParaRPr>
          </a:p>
          <a:p>
            <a:pPr marL="0" indent="0" algn="l"/>
            <a:endParaRPr lang="zh-CN" altLang="en-US" b="0" i="0">
              <a:solidFill>
                <a:schemeClr val="tx1"/>
              </a:solidFill>
              <a:latin typeface="+mn-ea"/>
            </a:endParaRPr>
          </a:p>
          <a:p>
            <a:pPr marL="0" indent="0" algn="l"/>
            <a:r>
              <a:rPr lang="en-US" altLang="zh-CN" b="0" i="1">
                <a:solidFill>
                  <a:srgbClr val="FF0000"/>
                </a:solidFill>
                <a:latin typeface="KaTeX_Math"/>
                <a:ea typeface="KaTeX_Math"/>
              </a:rPr>
              <a:t>S[πθ](st)</a:t>
            </a:r>
            <a:r>
              <a:rPr lang="en-US" altLang="zh-CN">
                <a:solidFill>
                  <a:srgbClr val="FF0000"/>
                </a:solidFill>
                <a:latin typeface="+mn-ea"/>
                <a:sym typeface="+mn-ea"/>
              </a:rPr>
              <a:t>-</a:t>
            </a:r>
            <a:r>
              <a:rPr lang="zh-CN" altLang="en-US">
                <a:solidFill>
                  <a:srgbClr val="FF0000"/>
                </a:solidFill>
                <a:latin typeface="+mn-ea"/>
                <a:sym typeface="+mn-ea"/>
              </a:rPr>
              <a:t>策略的</a:t>
            </a:r>
            <a:r>
              <a:rPr lang="zh-CN" altLang="en-US">
                <a:solidFill>
                  <a:srgbClr val="FF0000"/>
                </a:solidFill>
                <a:latin typeface="+mn-ea"/>
                <a:sym typeface="+mn-ea"/>
              </a:rPr>
              <a:t>熵</a:t>
            </a:r>
            <a:endParaRPr lang="zh-CN" altLang="en-US">
              <a:solidFill>
                <a:srgbClr val="FF0000"/>
              </a:solidFill>
              <a:latin typeface="+mn-ea"/>
              <a:sym typeface="+mn-ea"/>
            </a:endParaRPr>
          </a:p>
          <a:p>
            <a:pPr marL="0" indent="0" algn="l"/>
            <a:r>
              <a:rPr lang="zh-CN" altLang="en-US">
                <a:solidFill>
                  <a:schemeClr val="tx1"/>
                </a:solidFill>
                <a:latin typeface="+mn-ea"/>
                <a:sym typeface="+mn-ea"/>
              </a:rPr>
              <a:t>含义：策略在状态</a:t>
            </a:r>
            <a:r>
              <a:rPr lang="en-US" altLang="zh-CN">
                <a:solidFill>
                  <a:schemeClr val="tx1"/>
                </a:solidFill>
                <a:latin typeface="+mn-ea"/>
                <a:sym typeface="+mn-ea"/>
              </a:rPr>
              <a:t>s_t</a:t>
            </a:r>
            <a:r>
              <a:rPr lang="zh-CN" altLang="en-US">
                <a:solidFill>
                  <a:schemeClr val="tx1"/>
                </a:solidFill>
                <a:latin typeface="+mn-ea"/>
                <a:sym typeface="+mn-ea"/>
              </a:rPr>
              <a:t>下的熵，衡量策略的随机性。</a:t>
            </a:r>
            <a:endParaRPr lang="zh-CN" altLang="en-US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1200" y="2734945"/>
            <a:ext cx="10180955" cy="166497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zh-CN" altLang="en-US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您应该这样理解它的每一个部分：</a:t>
            </a:r>
            <a:endParaRPr lang="zh-CN" altLang="en-US" b="0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r_t(θ) * A_t</a:t>
            </a:r>
            <a:r>
              <a:rPr lang="zh-CN" altLang="en-US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：这是来自</a:t>
            </a:r>
            <a:r>
              <a:rPr lang="en-US" altLang="zh-CN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REINFORCE</a:t>
            </a:r>
            <a:r>
              <a:rPr lang="zh-CN" altLang="en-US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（通过重要性采样）的性能提升动力</a:t>
            </a:r>
            <a:r>
              <a:rPr lang="en-US" altLang="zh-CN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——“</a:t>
            </a:r>
            <a:r>
              <a:rPr lang="zh-CN" altLang="en-US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我想变得更好”。</a:t>
            </a:r>
            <a:endParaRPr lang="zh-CN" altLang="en-US" b="0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clip(...) </a:t>
            </a:r>
            <a:r>
              <a:rPr lang="zh-CN" altLang="en-US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min(...)</a:t>
            </a:r>
            <a:r>
              <a:rPr lang="zh-CN" altLang="en-US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：这是</a:t>
            </a:r>
            <a:r>
              <a:rPr lang="en-US" altLang="zh-CN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PPO</a:t>
            </a:r>
            <a:r>
              <a:rPr lang="zh-CN" altLang="en-US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自己的发明，旨在优雅地满足从</a:t>
            </a:r>
            <a:r>
              <a:rPr lang="en-US" altLang="zh-CN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TRPO</a:t>
            </a:r>
            <a:r>
              <a:rPr lang="zh-CN" altLang="en-US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那里继承来的“信任域”要求</a:t>
            </a:r>
            <a:r>
              <a:rPr lang="en-US" altLang="zh-CN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——“</a:t>
            </a:r>
            <a:r>
              <a:rPr lang="zh-CN" altLang="en-US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但我不能步子迈太大，得稳一点”。</a:t>
            </a:r>
            <a:endParaRPr lang="zh-CN" altLang="en-US" b="0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超参数 </a:t>
            </a:r>
            <a:r>
              <a:rPr lang="zh-CN" altLang="en-US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ϵ：就是这个“信任域”的宽松、简单的边界，替代了TRPO复杂的KL约束。</a:t>
            </a:r>
            <a:endParaRPr lang="zh-CN" altLang="en-US" b="0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ts val="800"/>
              </a:spcBef>
              <a:spcAft>
                <a:spcPct val="0"/>
              </a:spcAft>
            </a:pPr>
            <a:endParaRPr lang="zh-CN" altLang="en-US" b="0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6215"/>
            <a:ext cx="10515600" cy="1325563"/>
          </a:xfrm>
        </p:spPr>
        <p:txBody>
          <a:bodyPr/>
          <a:p>
            <a:r>
              <a:rPr lang="en-US" altLang="zh-CN">
                <a:solidFill>
                  <a:srgbClr val="C00000"/>
                </a:solidFill>
              </a:rPr>
              <a:t>4+2</a:t>
            </a:r>
            <a:r>
              <a:rPr lang="zh-CN" altLang="en-US">
                <a:solidFill>
                  <a:srgbClr val="C00000"/>
                </a:solidFill>
              </a:rPr>
              <a:t>理解法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9230"/>
            <a:ext cx="10515600" cy="3533140"/>
          </a:xfrm>
        </p:spPr>
        <p:txBody>
          <a:bodyPr/>
          <a:p>
            <a:r>
              <a:rPr lang="zh-CN" altLang="en-US">
                <a:solidFill>
                  <a:srgbClr val="C00000"/>
                </a:solidFill>
              </a:rPr>
              <a:t>四个模型</a:t>
            </a:r>
            <a:r>
              <a:rPr lang="zh-CN" altLang="en-US"/>
              <a:t>：</a:t>
            </a:r>
            <a:endParaRPr lang="zh-CN" altLang="en-US"/>
          </a:p>
          <a:p>
            <a:pPr marL="514350" indent="-514350">
              <a:buFont typeface="+mj-lt"/>
              <a:buAutoNum type="arabicPeriod"/>
            </a:pPr>
            <a:r>
              <a:rPr lang="zh-CN" altLang="en-US"/>
              <a:t>策略模型：</a:t>
            </a:r>
            <a:r>
              <a:rPr lang="zh-CN" altLang="en-US" b="1"/>
              <a:t>待优化的模型</a:t>
            </a:r>
            <a:r>
              <a:rPr lang="zh-CN" altLang="en-US"/>
              <a:t>，</a:t>
            </a:r>
            <a:r>
              <a:rPr lang="zh-CN" altLang="en-US">
                <a:solidFill>
                  <a:srgbClr val="C00000"/>
                </a:solidFill>
              </a:rPr>
              <a:t>参与参数更新</a:t>
            </a:r>
            <a:r>
              <a:rPr lang="zh-CN" altLang="en-US"/>
              <a:t>。</a:t>
            </a:r>
            <a:endParaRPr lang="zh-CN" altLang="en-US"/>
          </a:p>
          <a:p>
            <a:pPr marL="514350" indent="-514350">
              <a:buFont typeface="+mj-lt"/>
              <a:buAutoNum type="arabicPeriod"/>
            </a:pPr>
            <a:r>
              <a:rPr lang="zh-CN" altLang="en-US"/>
              <a:t>奖励模型：计算当前动作的即时奖励，不参与</a:t>
            </a:r>
            <a:r>
              <a:rPr lang="zh-CN" altLang="en-US"/>
              <a:t>参数更新。</a:t>
            </a:r>
            <a:endParaRPr lang="zh-CN" altLang="en-US"/>
          </a:p>
          <a:p>
            <a:pPr marL="514350" indent="-514350">
              <a:buFont typeface="+mj-lt"/>
              <a:buAutoNum type="arabicPeriod"/>
            </a:pPr>
            <a:r>
              <a:rPr lang="zh-CN" altLang="en-US"/>
              <a:t>价值模型：</a:t>
            </a:r>
            <a:r>
              <a:rPr lang="zh-CN" altLang="en-US" b="1"/>
              <a:t>计算当前动作和状态的期望回报</a:t>
            </a:r>
            <a:r>
              <a:rPr lang="zh-CN" altLang="en-US"/>
              <a:t>，可由奖励模型或策略模型初始化而来，</a:t>
            </a:r>
            <a:r>
              <a:rPr lang="zh-CN" altLang="en-US">
                <a:solidFill>
                  <a:srgbClr val="C00000"/>
                </a:solidFill>
              </a:rPr>
              <a:t>参与参数更新</a:t>
            </a:r>
            <a:r>
              <a:rPr lang="zh-CN" altLang="en-US"/>
              <a:t>。</a:t>
            </a:r>
            <a:endParaRPr lang="zh-CN" altLang="en-US"/>
          </a:p>
          <a:p>
            <a:pPr marL="514350" indent="-514350">
              <a:buFont typeface="+mj-lt"/>
              <a:buAutoNum type="arabicPeriod"/>
            </a:pPr>
            <a:r>
              <a:rPr lang="zh-CN" altLang="en-US"/>
              <a:t>参考模型：由策略模型进行初始化，不参与参数更新，用于限制策略模型在优化时不偏离原始模型</a:t>
            </a:r>
            <a:r>
              <a:rPr lang="zh-CN" altLang="en-US"/>
              <a:t>太远。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838200" y="4831080"/>
            <a:ext cx="10515600" cy="1776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C00000"/>
                </a:solidFill>
                <a:sym typeface="+mn-ea"/>
              </a:rPr>
              <a:t>两个损失</a:t>
            </a:r>
            <a:r>
              <a:rPr lang="zh-CN" altLang="en-US"/>
              <a:t>：</a:t>
            </a:r>
            <a:endParaRPr lang="zh-CN" altLang="en-US"/>
          </a:p>
          <a:p>
            <a:pPr marL="514350" indent="-514350">
              <a:buFont typeface="+mj-lt"/>
              <a:buAutoNum type="arabicPeriod"/>
            </a:pPr>
            <a:r>
              <a:rPr lang="zh-CN" altLang="en-US"/>
              <a:t>策略损失：</a:t>
            </a:r>
            <a:r>
              <a:rPr lang="zh-CN" altLang="en-US">
                <a:sym typeface="+mn-ea"/>
              </a:rPr>
              <a:t>用于优化</a:t>
            </a:r>
            <a:r>
              <a:rPr lang="zh-CN" altLang="en-US">
                <a:sym typeface="+mn-ea"/>
              </a:rPr>
              <a:t>策略模型。</a:t>
            </a:r>
            <a:endParaRPr lang="zh-CN" altLang="en-US"/>
          </a:p>
          <a:p>
            <a:pPr marL="514350" indent="-514350">
              <a:buFont typeface="+mj-lt"/>
              <a:buAutoNum type="arabicPeriod"/>
            </a:pPr>
            <a:r>
              <a:rPr lang="zh-CN" altLang="en-US"/>
              <a:t>价值损失：用于优化</a:t>
            </a:r>
            <a:r>
              <a:rPr lang="zh-CN" altLang="en-US"/>
              <a:t>价值模型。</a:t>
            </a:r>
            <a:endParaRPr lang="zh-CN" altLang="en-US"/>
          </a:p>
          <a:p>
            <a:pPr marL="514350" indent="-514350">
              <a:buFont typeface="+mj-lt"/>
              <a:buAutoNum type="arabicPeriod"/>
            </a:pP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9595" y="196215"/>
            <a:ext cx="10515600" cy="1325563"/>
          </a:xfrm>
        </p:spPr>
        <p:txBody>
          <a:bodyPr/>
          <a:p>
            <a:r>
              <a:rPr lang="zh-CN" altLang="en-US">
                <a:solidFill>
                  <a:srgbClr val="C00000"/>
                </a:solidFill>
              </a:rPr>
              <a:t>几种</a:t>
            </a:r>
            <a:r>
              <a:rPr lang="zh-CN" altLang="en-US">
                <a:solidFill>
                  <a:srgbClr val="C00000"/>
                </a:solidFill>
              </a:rPr>
              <a:t>概念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9595" y="1459230"/>
            <a:ext cx="10515600" cy="959485"/>
          </a:xfrm>
        </p:spPr>
        <p:txBody>
          <a:bodyPr/>
          <a:p>
            <a:r>
              <a:rPr lang="zh-CN" altLang="en-US" sz="1400">
                <a:solidFill>
                  <a:srgbClr val="C00000"/>
                </a:solidFill>
              </a:rPr>
              <a:t>策略：</a:t>
            </a:r>
            <a:endParaRPr lang="zh-CN" altLang="en-US" sz="1400"/>
          </a:p>
          <a:p>
            <a:pPr marL="514350" indent="-514350">
              <a:buFont typeface="+mj-lt"/>
              <a:buAutoNum type="arabicPeriod"/>
            </a:pPr>
            <a:r>
              <a:rPr lang="zh-CN" altLang="en-US" sz="1400"/>
              <a:t>在</a:t>
            </a:r>
            <a:r>
              <a:rPr lang="en-US" altLang="zh-CN" sz="1400"/>
              <a:t>RLHF</a:t>
            </a:r>
            <a:r>
              <a:rPr lang="zh-CN" altLang="en-US" sz="1400"/>
              <a:t>中，策略即我们要优化的大模型，</a:t>
            </a:r>
            <a:r>
              <a:rPr lang="zh-CN" altLang="en-US" sz="1400" b="1"/>
              <a:t>从策略进行采样的过程即大模型生成句子的过程</a:t>
            </a:r>
            <a:r>
              <a:rPr lang="zh-CN" altLang="en-US" sz="1400"/>
              <a:t>。</a:t>
            </a:r>
            <a:endParaRPr lang="zh-CN" altLang="en-US" sz="14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69595" y="2418715"/>
            <a:ext cx="10515600" cy="1445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C00000"/>
                </a:solidFill>
                <a:sym typeface="+mn-ea"/>
              </a:rPr>
              <a:t>奖励：</a:t>
            </a:r>
            <a:endParaRPr lang="zh-CN" altLang="en-US"/>
          </a:p>
          <a:p>
            <a:pPr marL="514350" indent="-514350" fontAlgn="auto">
              <a:lnSpc>
                <a:spcPct val="100000"/>
              </a:lnSpc>
              <a:buFont typeface="+mj-lt"/>
              <a:buAutoNum type="arabicPeriod"/>
            </a:pPr>
            <a:r>
              <a:rPr lang="zh-CN" altLang="en-US" b="1"/>
              <a:t>单步奖励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根据当前状态、动作和下一状态由奖励模型得到的即时奖励，评估单次动作的</a:t>
            </a:r>
            <a:r>
              <a:rPr lang="zh-CN" altLang="en-US">
                <a:sym typeface="+mn-ea"/>
              </a:rPr>
              <a:t>好坏。</a:t>
            </a:r>
            <a:endParaRPr lang="zh-CN" altLang="en-US"/>
          </a:p>
          <a:p>
            <a:pPr marL="514350" indent="-514350" fontAlgn="auto">
              <a:lnSpc>
                <a:spcPct val="100000"/>
              </a:lnSpc>
              <a:buFont typeface="+mj-lt"/>
              <a:buAutoNum type="arabicPeriod"/>
            </a:pPr>
            <a:r>
              <a:rPr lang="zh-CN" altLang="en-US" b="1">
                <a:sym typeface="+mn-ea"/>
              </a:rPr>
              <a:t>累计奖励</a:t>
            </a:r>
            <a:r>
              <a:rPr lang="zh-CN" altLang="en-US">
                <a:sym typeface="+mn-ea"/>
              </a:rPr>
              <a:t>：</a:t>
            </a:r>
            <a:r>
              <a:rPr lang="zh-CN" altLang="en-US">
                <a:sym typeface="+mn-ea"/>
              </a:rPr>
              <a:t>一条完整轨迹的单步奖励累计之</a:t>
            </a:r>
            <a:r>
              <a:rPr lang="zh-CN" altLang="en-US">
                <a:sym typeface="+mn-ea"/>
              </a:rPr>
              <a:t>和。</a:t>
            </a:r>
            <a:endParaRPr lang="zh-CN" altLang="en-US">
              <a:sym typeface="+mn-ea"/>
            </a:endParaRPr>
          </a:p>
          <a:p>
            <a:pPr marL="514350" indent="-514350" fontAlgn="auto">
              <a:lnSpc>
                <a:spcPct val="100000"/>
              </a:lnSpc>
              <a:buFont typeface="+mj-lt"/>
              <a:buAutoNum type="arabicPeriod"/>
            </a:pPr>
            <a:r>
              <a:rPr lang="zh-CN" altLang="en-US" b="1">
                <a:sym typeface="+mn-ea"/>
              </a:rPr>
              <a:t>折扣奖励</a:t>
            </a:r>
            <a:r>
              <a:rPr lang="zh-CN" altLang="en-US">
                <a:sym typeface="+mn-ea"/>
              </a:rPr>
              <a:t>：平衡即时奖励和长期奖励之间的关系，使得智能体在决策时不仅要考虑当前的奖励，还要考虑未来的潜在奖励。</a:t>
            </a:r>
            <a:endParaRPr lang="zh-CN" altLang="en-US">
              <a:sym typeface="+mn-ea"/>
            </a:endParaRPr>
          </a:p>
          <a:p>
            <a:pPr marL="0" indent="0" fontAlgn="auto">
              <a:lnSpc>
                <a:spcPct val="100000"/>
              </a:lnSpc>
              <a:buFont typeface="+mj-lt"/>
              <a:buNone/>
            </a:pPr>
            <a:endParaRPr lang="zh-CN" altLang="en-US"/>
          </a:p>
          <a:p>
            <a:pPr marL="514350" indent="-514350" fontAlgn="auto">
              <a:lnSpc>
                <a:spcPct val="100000"/>
              </a:lnSpc>
              <a:buFont typeface="+mj-lt"/>
              <a:buAutoNum type="arabicPeriod"/>
            </a:pPr>
            <a:endParaRPr lang="zh-CN" altLang="en-US"/>
          </a:p>
          <a:p>
            <a:pPr marL="514350" indent="-514350">
              <a:buFont typeface="+mj-lt"/>
              <a:buAutoNum type="arabicPeriod"/>
            </a:pPr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19125" y="3864610"/>
            <a:ext cx="10515600" cy="959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>
                <a:solidFill>
                  <a:srgbClr val="C00000"/>
                </a:solidFill>
              </a:rPr>
              <a:t>轨迹：</a:t>
            </a:r>
            <a:endParaRPr lang="zh-CN" altLang="en-US" sz="1400"/>
          </a:p>
          <a:p>
            <a:pPr marL="514350" indent="-514350">
              <a:buFont typeface="+mj-lt"/>
              <a:buAutoNum type="arabicPeriod"/>
            </a:pPr>
            <a:r>
              <a:rPr lang="zh-CN" altLang="en-US" sz="1400"/>
              <a:t>轨迹由一系列的动作、状态组成，</a:t>
            </a:r>
            <a:r>
              <a:rPr lang="zh-CN" altLang="en-US" sz="1400" b="1"/>
              <a:t>代表一次完整的采样，即大模型生成一条完整的句子</a:t>
            </a:r>
            <a:r>
              <a:rPr lang="zh-CN" altLang="en-US" sz="1400"/>
              <a:t>。</a:t>
            </a:r>
            <a:endParaRPr lang="zh-CN" altLang="en-US" sz="1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3910" y="4157980"/>
            <a:ext cx="2089150" cy="2349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51215" y="3928110"/>
            <a:ext cx="143954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olidFill>
                  <a:srgbClr val="C00000"/>
                </a:solidFill>
              </a:rPr>
              <a:t>念</a:t>
            </a:r>
            <a:r>
              <a:rPr lang="en-US" altLang="zh-CN" sz="900">
                <a:solidFill>
                  <a:srgbClr val="C00000"/>
                </a:solidFill>
              </a:rPr>
              <a:t>“tao”</a:t>
            </a:r>
            <a:r>
              <a:rPr lang="zh-CN" altLang="en-US" sz="900">
                <a:solidFill>
                  <a:srgbClr val="C00000"/>
                </a:solidFill>
              </a:rPr>
              <a:t>，第一声</a:t>
            </a:r>
            <a:endParaRPr lang="zh-CN" altLang="en-US" sz="900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51215" y="4155440"/>
            <a:ext cx="225425" cy="2374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270" y="1461135"/>
            <a:ext cx="2438400" cy="6667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9595" y="196215"/>
            <a:ext cx="10515600" cy="1325563"/>
          </a:xfrm>
        </p:spPr>
        <p:txBody>
          <a:bodyPr/>
          <a:p>
            <a:r>
              <a:rPr lang="zh-CN" altLang="en-US">
                <a:solidFill>
                  <a:srgbClr val="C00000"/>
                </a:solidFill>
              </a:rPr>
              <a:t>基于策略的强化学习</a:t>
            </a:r>
            <a:r>
              <a:rPr lang="zh-CN" altLang="en-US">
                <a:solidFill>
                  <a:srgbClr val="C00000"/>
                </a:solidFill>
              </a:rPr>
              <a:t>的优化目标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3312795" y="2519045"/>
            <a:ext cx="7623810" cy="466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这部分的含义是：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请告诉我，神经网络的参数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到底要调成什么样子，才能让总分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达到最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66185" y="1522095"/>
            <a:ext cx="392239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olidFill>
                  <a:srgbClr val="C00000"/>
                </a:solidFill>
              </a:rPr>
              <a:t>Q</a:t>
            </a:r>
            <a:r>
              <a:rPr lang="zh-CN" altLang="en-US" sz="900">
                <a:solidFill>
                  <a:srgbClr val="C00000"/>
                </a:solidFill>
              </a:rPr>
              <a:t>：右半第一行转化为第二行时，</a:t>
            </a:r>
            <a:r>
              <a:rPr lang="en-US" altLang="zh-CN" sz="900">
                <a:solidFill>
                  <a:srgbClr val="C00000"/>
                </a:solidFill>
              </a:rPr>
              <a:t>arg max</a:t>
            </a:r>
            <a:r>
              <a:rPr lang="zh-CN" altLang="en-US" sz="900">
                <a:solidFill>
                  <a:srgbClr val="C00000"/>
                </a:solidFill>
              </a:rPr>
              <a:t>去哪了？我的理解是有</a:t>
            </a:r>
            <a:r>
              <a:rPr lang="en-US" altLang="zh-CN" sz="900">
                <a:solidFill>
                  <a:srgbClr val="C00000"/>
                </a:solidFill>
              </a:rPr>
              <a:t>arg max</a:t>
            </a:r>
            <a:r>
              <a:rPr lang="zh-CN" altLang="en-US" sz="900">
                <a:solidFill>
                  <a:srgbClr val="C00000"/>
                </a:solidFill>
              </a:rPr>
              <a:t>时，这个总值</a:t>
            </a:r>
            <a:r>
              <a:rPr lang="zh-CN" altLang="en-US" sz="900">
                <a:solidFill>
                  <a:srgbClr val="C00000"/>
                </a:solidFill>
              </a:rPr>
              <a:t>代表的是最优策略参数的值，参数值怎么能等于</a:t>
            </a:r>
            <a:r>
              <a:rPr lang="en-US" altLang="zh-CN" sz="900">
                <a:solidFill>
                  <a:srgbClr val="C00000"/>
                </a:solidFill>
              </a:rPr>
              <a:t>“</a:t>
            </a:r>
            <a:r>
              <a:rPr lang="zh-CN" altLang="en-US" sz="900">
                <a:solidFill>
                  <a:srgbClr val="C00000"/>
                </a:solidFill>
              </a:rPr>
              <a:t>平均分</a:t>
            </a:r>
            <a:r>
              <a:rPr lang="en-US" altLang="zh-CN" sz="900">
                <a:solidFill>
                  <a:srgbClr val="C00000"/>
                </a:solidFill>
              </a:rPr>
              <a:t>”</a:t>
            </a:r>
            <a:r>
              <a:rPr lang="zh-CN" altLang="en-US" sz="900">
                <a:solidFill>
                  <a:srgbClr val="C00000"/>
                </a:solidFill>
              </a:rPr>
              <a:t>呢？</a:t>
            </a:r>
            <a:endParaRPr lang="zh-CN" altLang="en-US" sz="900">
              <a:solidFill>
                <a:srgbClr val="C00000"/>
              </a:solidFill>
            </a:endParaRPr>
          </a:p>
          <a:p>
            <a:endParaRPr lang="zh-CN" altLang="en-US" sz="900">
              <a:solidFill>
                <a:srgbClr val="C00000"/>
              </a:solidFill>
            </a:endParaRPr>
          </a:p>
          <a:p>
            <a:r>
              <a:rPr lang="en-US" altLang="zh-CN" sz="900">
                <a:solidFill>
                  <a:srgbClr val="C00000"/>
                </a:solidFill>
              </a:rPr>
              <a:t>A</a:t>
            </a:r>
            <a:r>
              <a:rPr lang="zh-CN" altLang="en-US" sz="900">
                <a:solidFill>
                  <a:srgbClr val="C00000"/>
                </a:solidFill>
              </a:rPr>
              <a:t>：这确实是数学公式书写中常见的一种</a:t>
            </a:r>
            <a:r>
              <a:rPr lang="en-US" altLang="zh-CN" sz="900">
                <a:solidFill>
                  <a:srgbClr val="C00000"/>
                </a:solidFill>
              </a:rPr>
              <a:t>**“</a:t>
            </a:r>
            <a:r>
              <a:rPr lang="zh-CN" altLang="en-US" sz="900">
                <a:solidFill>
                  <a:srgbClr val="C00000"/>
                </a:solidFill>
              </a:rPr>
              <a:t>简写</a:t>
            </a:r>
            <a:r>
              <a:rPr lang="en-US" altLang="zh-CN" sz="900">
                <a:solidFill>
                  <a:srgbClr val="C00000"/>
                </a:solidFill>
              </a:rPr>
              <a:t>”</a:t>
            </a:r>
            <a:r>
              <a:rPr lang="zh-CN" altLang="en-US" sz="900">
                <a:solidFill>
                  <a:srgbClr val="C00000"/>
                </a:solidFill>
              </a:rPr>
              <a:t>或</a:t>
            </a:r>
            <a:r>
              <a:rPr lang="en-US" altLang="zh-CN" sz="900">
                <a:solidFill>
                  <a:srgbClr val="C00000"/>
                </a:solidFill>
              </a:rPr>
              <a:t>“</a:t>
            </a:r>
            <a:r>
              <a:rPr lang="zh-CN" altLang="en-US" sz="900">
                <a:solidFill>
                  <a:srgbClr val="C00000"/>
                </a:solidFill>
              </a:rPr>
              <a:t>省略</a:t>
            </a:r>
            <a:r>
              <a:rPr lang="en-US" altLang="zh-CN" sz="900">
                <a:solidFill>
                  <a:srgbClr val="C00000"/>
                </a:solidFill>
              </a:rPr>
              <a:t>”**</a:t>
            </a:r>
            <a:r>
              <a:rPr lang="zh-CN" altLang="en-US" sz="900">
                <a:solidFill>
                  <a:srgbClr val="C00000"/>
                </a:solidFill>
              </a:rPr>
              <a:t>，如果严格按照数学逻辑去扣，你是完全正确的：这确实写得不严谨。</a:t>
            </a:r>
            <a:endParaRPr lang="zh-CN" altLang="en-US" sz="900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02335" y="1461135"/>
            <a:ext cx="472440" cy="2654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911350" y="1461135"/>
            <a:ext cx="472440" cy="2654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713865" y="1990090"/>
            <a:ext cx="197485" cy="2654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r>
              <a:rPr lang="zh-CN" altLang="en-US" sz="900">
                <a:solidFill>
                  <a:srgbClr val="C00000"/>
                </a:solidFill>
              </a:rPr>
              <a:t>？</a:t>
            </a:r>
            <a:endParaRPr lang="zh-CN" altLang="en-US" sz="900">
              <a:solidFill>
                <a:srgbClr val="C00000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35" y="2413000"/>
            <a:ext cx="1358900" cy="3873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70" y="3122295"/>
            <a:ext cx="2025650" cy="4635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035" y="3113405"/>
            <a:ext cx="6565900" cy="6223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70" y="4361180"/>
            <a:ext cx="1619250" cy="590550"/>
          </a:xfrm>
          <a:prstGeom prst="rect">
            <a:avLst/>
          </a:prstGeom>
        </p:spPr>
      </p:pic>
      <p:sp>
        <p:nvSpPr>
          <p:cNvPr id="22" name="内容占位符 2"/>
          <p:cNvSpPr>
            <a:spLocks noGrp="1"/>
          </p:cNvSpPr>
          <p:nvPr/>
        </p:nvSpPr>
        <p:spPr>
          <a:xfrm>
            <a:off x="3201670" y="3745865"/>
            <a:ext cx="8300720" cy="4660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这部分的含义是：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我们要优化的目标，就是让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所有可能玩出来的游戏轨迹的平均回报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最大化。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内容占位符 2"/>
          <p:cNvSpPr>
            <a:spLocks noGrp="1"/>
          </p:cNvSpPr>
          <p:nvPr/>
        </p:nvSpPr>
        <p:spPr>
          <a:xfrm>
            <a:off x="6107430" y="4231640"/>
            <a:ext cx="4977765" cy="15449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（省略了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arg max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期望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展开成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求和。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Font typeface="+mj-lt"/>
              <a:buNone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这其实就是期望（平均值）的数学定义。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Font typeface="+mj-lt"/>
              <a:buNone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这部分的含义是：所谓的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平均分最高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，在数学上等同于：（这条路的分数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*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走这条路的概率）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的总和。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Font typeface="+mj-lt"/>
              <a:buNone/>
            </a:pP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Font typeface="+mj-lt"/>
              <a:buNone/>
            </a:pPr>
            <a:endParaRPr lang="zh-CN" altLang="en-US" sz="9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4790" y="4140835"/>
            <a:ext cx="3193415" cy="163385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569595" y="5796280"/>
            <a:ext cx="11331575" cy="10763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Bef>
                <a:spcPct val="0"/>
              </a:spcBef>
            </a:pPr>
            <a:r>
              <a:rPr lang="zh-CN" altLang="en-US" sz="1600" b="1">
                <a:solidFill>
                  <a:srgbClr val="C00000"/>
                </a:solidFill>
                <a:latin typeface="Google Sans Text"/>
                <a:ea typeface="Google Sans Text"/>
              </a:rPr>
              <a:t>结论：</a:t>
            </a:r>
            <a:endParaRPr lang="zh-CN" altLang="en-US" sz="1600" b="1">
              <a:solidFill>
                <a:srgbClr val="C00000"/>
              </a:solidFill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</a:pPr>
            <a:r>
              <a:rPr lang="zh-CN" altLang="en-US" sz="1600">
                <a:latin typeface="Google Sans Text"/>
                <a:ea typeface="Google Sans Text"/>
              </a:rPr>
              <a:t>如果我们想提高总分，唯一的办法就是调整参数 </a:t>
            </a:r>
            <a:r>
              <a:rPr lang="en-US" altLang="zh-CN" sz="1600">
                <a:latin typeface="Google Sans Text"/>
                <a:ea typeface="Google Sans Text"/>
              </a:rPr>
              <a:t>$\theta$</a:t>
            </a:r>
            <a:r>
              <a:rPr lang="zh-CN" altLang="en-US" sz="1600">
                <a:latin typeface="Google Sans Text"/>
                <a:ea typeface="Google Sans Text"/>
              </a:rPr>
              <a:t>，</a:t>
            </a:r>
            <a:r>
              <a:rPr lang="zh-CN" altLang="en-US" sz="1600" b="1">
                <a:solidFill>
                  <a:srgbClr val="C00000"/>
                </a:solidFill>
                <a:latin typeface="Google Sans Text"/>
                <a:ea typeface="Google Sans Text"/>
              </a:rPr>
              <a:t>提高那些高分轨迹</a:t>
            </a:r>
            <a:r>
              <a:rPr lang="zh-CN" altLang="en-US" sz="1600">
                <a:latin typeface="Google Sans Text"/>
                <a:ea typeface="Google Sans Text"/>
              </a:rPr>
              <a:t>（</a:t>
            </a:r>
            <a:r>
              <a:rPr lang="en-US" altLang="zh-CN" sz="1600">
                <a:latin typeface="Google Sans Text"/>
                <a:ea typeface="Google Sans Text"/>
              </a:rPr>
              <a:t>$R(\tau)$ </a:t>
            </a:r>
            <a:r>
              <a:rPr lang="zh-CN" altLang="en-US" sz="1600">
                <a:latin typeface="Google Sans Text"/>
                <a:ea typeface="Google Sans Text"/>
              </a:rPr>
              <a:t>大）</a:t>
            </a:r>
            <a:r>
              <a:rPr lang="zh-CN" altLang="en-US" sz="1600" b="1">
                <a:solidFill>
                  <a:srgbClr val="C00000"/>
                </a:solidFill>
                <a:latin typeface="Google Sans Text"/>
                <a:ea typeface="Google Sans Text"/>
              </a:rPr>
              <a:t>出现的概率</a:t>
            </a:r>
            <a:r>
              <a:rPr lang="zh-CN" altLang="en-US" sz="1600">
                <a:latin typeface="Google Sans Text"/>
                <a:ea typeface="Google Sans Text"/>
              </a:rPr>
              <a:t>（</a:t>
            </a:r>
            <a:r>
              <a:rPr lang="en-US" altLang="zh-CN" sz="1600">
                <a:latin typeface="Google Sans Text"/>
                <a:ea typeface="Google Sans Text"/>
              </a:rPr>
              <a:t>$P(\tau|\pi_\theta)$</a:t>
            </a:r>
            <a:r>
              <a:rPr lang="zh-CN" altLang="en-US" sz="1600">
                <a:latin typeface="Google Sans Text"/>
                <a:ea typeface="Google Sans Text"/>
              </a:rPr>
              <a:t>），</a:t>
            </a:r>
            <a:r>
              <a:rPr lang="zh-CN" altLang="en-US" sz="1600" b="1">
                <a:solidFill>
                  <a:srgbClr val="C00000"/>
                </a:solidFill>
                <a:latin typeface="Google Sans Text"/>
                <a:ea typeface="Google Sans Text"/>
              </a:rPr>
              <a:t>同时降低那些低分轨迹出现的概率</a:t>
            </a:r>
            <a:r>
              <a:rPr lang="zh-CN" altLang="en-US" sz="1600">
                <a:latin typeface="Google Sans Text"/>
                <a:ea typeface="Google Sans Text"/>
              </a:rPr>
              <a:t>。</a:t>
            </a:r>
            <a:endParaRPr lang="zh-CN" altLang="en-US"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</a:pPr>
            <a:r>
              <a:rPr lang="zh-CN" altLang="en-US" sz="1600">
                <a:latin typeface="Google Sans Text"/>
                <a:ea typeface="Google Sans Text"/>
              </a:rPr>
              <a:t>这就是 </a:t>
            </a:r>
            <a:r>
              <a:rPr lang="en-US" altLang="zh-CN" sz="1600">
                <a:latin typeface="Google Sans Text"/>
                <a:ea typeface="Google Sans Text"/>
              </a:rPr>
              <a:t>PPO </a:t>
            </a:r>
            <a:r>
              <a:rPr lang="zh-CN" altLang="en-US" sz="1600">
                <a:latin typeface="Google Sans Text"/>
                <a:ea typeface="Google Sans Text"/>
              </a:rPr>
              <a:t>以及所有策略梯度算法的核心逻辑起点。</a:t>
            </a:r>
            <a:endParaRPr lang="zh-CN" altLang="en-US" sz="1600">
              <a:latin typeface="Google Sans Text"/>
              <a:ea typeface="Google Sans Tex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595" y="1122045"/>
            <a:ext cx="5695950" cy="3810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9595" y="196215"/>
            <a:ext cx="10515600" cy="1325563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C00000"/>
                </a:solidFill>
              </a:rPr>
              <a:t>基于策略的强化学习的优化目标：</a:t>
            </a:r>
            <a:r>
              <a:rPr lang="zh-CN" altLang="en-US">
                <a:solidFill>
                  <a:srgbClr val="C00000"/>
                </a:solidFill>
              </a:rPr>
              <a:t>计算梯度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2" name="内容占位符 2"/>
          <p:cNvSpPr>
            <a:spLocks noGrp="1"/>
          </p:cNvSpPr>
          <p:nvPr/>
        </p:nvSpPr>
        <p:spPr>
          <a:xfrm>
            <a:off x="5466715" y="1938655"/>
            <a:ext cx="5230495" cy="564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buFont typeface="+mj-lt"/>
              <a:buNone/>
            </a:pP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因为公式变回了</a:t>
            </a:r>
            <a:r>
              <a:rPr lang="en-US" altLang="zh-CN" sz="1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000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∑ P X (...) </a:t>
            </a: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的形式，我们可以把它写回期望</a:t>
            </a:r>
            <a:r>
              <a:rPr lang="en-US" altLang="zh-CN" sz="1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</a:t>
            </a: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。意义：</a:t>
            </a:r>
            <a:r>
              <a:rPr lang="en-US" altLang="zh-CN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这意味着我们不需要算出所有轨迹的积分，只需要玩</a:t>
            </a:r>
            <a:r>
              <a:rPr lang="zh-CN" altLang="en-US" sz="1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游戏采样</a:t>
            </a: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，算出这批样本的平均值，就能代表整个梯度。</a:t>
            </a:r>
            <a:endParaRPr lang="zh-CN" altLang="en-US" sz="10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69595" y="5796280"/>
            <a:ext cx="11331575" cy="10763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Bef>
                <a:spcPct val="0"/>
              </a:spcBef>
            </a:pPr>
            <a:r>
              <a:rPr lang="zh-CN" altLang="en-US" sz="1600" b="1">
                <a:solidFill>
                  <a:srgbClr val="C00000"/>
                </a:solidFill>
                <a:latin typeface="Google Sans Text"/>
                <a:ea typeface="Google Sans Text"/>
              </a:rPr>
              <a:t>结论：</a:t>
            </a:r>
            <a:endParaRPr lang="zh-CN" altLang="en-US" sz="1600" b="1">
              <a:solidFill>
                <a:srgbClr val="C00000"/>
              </a:solidFill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</a:pPr>
            <a:r>
              <a:rPr lang="zh-CN" altLang="en-US" sz="1600">
                <a:latin typeface="Google Sans Text"/>
                <a:ea typeface="Google Sans Text"/>
              </a:rPr>
              <a:t>如果我们想提高总分，唯一的办法就是调整参数 </a:t>
            </a:r>
            <a:r>
              <a:rPr lang="en-US" altLang="zh-CN" sz="1600">
                <a:latin typeface="Google Sans Text"/>
                <a:ea typeface="Google Sans Text"/>
              </a:rPr>
              <a:t>$\theta$</a:t>
            </a:r>
            <a:r>
              <a:rPr lang="zh-CN" altLang="en-US" sz="1600">
                <a:latin typeface="Google Sans Text"/>
                <a:ea typeface="Google Sans Text"/>
              </a:rPr>
              <a:t>，</a:t>
            </a:r>
            <a:r>
              <a:rPr lang="zh-CN" altLang="en-US" sz="1600" b="1">
                <a:solidFill>
                  <a:srgbClr val="C00000"/>
                </a:solidFill>
                <a:latin typeface="Google Sans Text"/>
                <a:ea typeface="Google Sans Text"/>
              </a:rPr>
              <a:t>提高那些高分轨迹</a:t>
            </a:r>
            <a:r>
              <a:rPr lang="zh-CN" altLang="en-US" sz="1600">
                <a:latin typeface="Google Sans Text"/>
                <a:ea typeface="Google Sans Text"/>
              </a:rPr>
              <a:t>（</a:t>
            </a:r>
            <a:r>
              <a:rPr lang="en-US" altLang="zh-CN" sz="1600">
                <a:latin typeface="Google Sans Text"/>
                <a:ea typeface="Google Sans Text"/>
              </a:rPr>
              <a:t>$R(\tau)$ </a:t>
            </a:r>
            <a:r>
              <a:rPr lang="zh-CN" altLang="en-US" sz="1600">
                <a:latin typeface="Google Sans Text"/>
                <a:ea typeface="Google Sans Text"/>
              </a:rPr>
              <a:t>大）</a:t>
            </a:r>
            <a:r>
              <a:rPr lang="zh-CN" altLang="en-US" sz="1600" b="1">
                <a:solidFill>
                  <a:srgbClr val="C00000"/>
                </a:solidFill>
                <a:latin typeface="Google Sans Text"/>
                <a:ea typeface="Google Sans Text"/>
              </a:rPr>
              <a:t>出现的概率</a:t>
            </a:r>
            <a:r>
              <a:rPr lang="zh-CN" altLang="en-US" sz="1600">
                <a:latin typeface="Google Sans Text"/>
                <a:ea typeface="Google Sans Text"/>
              </a:rPr>
              <a:t>（</a:t>
            </a:r>
            <a:r>
              <a:rPr lang="en-US" altLang="zh-CN" sz="1600">
                <a:latin typeface="Google Sans Text"/>
                <a:ea typeface="Google Sans Text"/>
              </a:rPr>
              <a:t>$P(\tau|\pi_\theta)$</a:t>
            </a:r>
            <a:r>
              <a:rPr lang="zh-CN" altLang="en-US" sz="1600">
                <a:latin typeface="Google Sans Text"/>
                <a:ea typeface="Google Sans Text"/>
              </a:rPr>
              <a:t>），</a:t>
            </a:r>
            <a:r>
              <a:rPr lang="zh-CN" altLang="en-US" sz="1600" b="1">
                <a:solidFill>
                  <a:srgbClr val="C00000"/>
                </a:solidFill>
                <a:latin typeface="Google Sans Text"/>
                <a:ea typeface="Google Sans Text"/>
              </a:rPr>
              <a:t>同时降低那些低分轨迹出现的概率</a:t>
            </a:r>
            <a:r>
              <a:rPr lang="zh-CN" altLang="en-US" sz="1600">
                <a:latin typeface="Google Sans Text"/>
                <a:ea typeface="Google Sans Text"/>
              </a:rPr>
              <a:t>。</a:t>
            </a:r>
            <a:endParaRPr lang="zh-CN" altLang="en-US" sz="1600">
              <a:latin typeface="Google Sans Text"/>
              <a:ea typeface="Google Sans Text"/>
            </a:endParaRPr>
          </a:p>
          <a:p>
            <a:pPr>
              <a:spcBef>
                <a:spcPct val="0"/>
              </a:spcBef>
            </a:pPr>
            <a:r>
              <a:rPr lang="zh-CN" altLang="en-US" sz="1600">
                <a:latin typeface="Google Sans Text"/>
                <a:ea typeface="Google Sans Text"/>
              </a:rPr>
              <a:t>这就是 </a:t>
            </a:r>
            <a:r>
              <a:rPr lang="en-US" altLang="zh-CN" sz="1600">
                <a:latin typeface="Google Sans Text"/>
                <a:ea typeface="Google Sans Text"/>
              </a:rPr>
              <a:t>PPO </a:t>
            </a:r>
            <a:r>
              <a:rPr lang="zh-CN" altLang="en-US" sz="1600">
                <a:latin typeface="Google Sans Text"/>
                <a:ea typeface="Google Sans Text"/>
              </a:rPr>
              <a:t>以及所有策略梯度算法的核心逻辑起点。</a:t>
            </a:r>
            <a:endParaRPr lang="zh-CN" altLang="en-US" sz="1600">
              <a:latin typeface="Google Sans Text"/>
              <a:ea typeface="Google Sans Tex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11170" y="2433955"/>
            <a:ext cx="331470" cy="2374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011170" y="2101850"/>
            <a:ext cx="218440" cy="3327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526155" y="2101850"/>
            <a:ext cx="443865" cy="2374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1" name="内容占位符 2"/>
          <p:cNvSpPr>
            <a:spLocks noGrp="1"/>
          </p:cNvSpPr>
          <p:nvPr/>
        </p:nvSpPr>
        <p:spPr>
          <a:xfrm>
            <a:off x="5593715" y="2989580"/>
            <a:ext cx="5230495" cy="564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buFont typeface="+mj-lt"/>
              <a:buNone/>
            </a:pPr>
            <a:r>
              <a:rPr lang="en-US" altLang="zh-CN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log(a*b)=loga + logb</a:t>
            </a: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所以连乘符号加</a:t>
            </a:r>
            <a:r>
              <a:rPr lang="en-US" altLang="zh-CN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</a:t>
            </a: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会变累加</a:t>
            </a: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符号。</a:t>
            </a:r>
            <a:endParaRPr lang="zh-CN" altLang="en-US" sz="10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内容占位符 2"/>
          <p:cNvSpPr>
            <a:spLocks noGrp="1"/>
          </p:cNvSpPr>
          <p:nvPr/>
        </p:nvSpPr>
        <p:spPr>
          <a:xfrm>
            <a:off x="5664835" y="4294505"/>
            <a:ext cx="5230495" cy="564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buFont typeface="+mj-lt"/>
              <a:buNone/>
            </a:pP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因为是对参数</a:t>
            </a:r>
            <a:r>
              <a:rPr lang="en-US" altLang="zh-CN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Θ</a:t>
            </a: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求导，所以前两项值为零，</a:t>
            </a: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舍去。</a:t>
            </a:r>
            <a:endParaRPr lang="zh-CN" altLang="en-US" sz="10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" y="4859020"/>
            <a:ext cx="4749800" cy="9461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640" y="6194425"/>
            <a:ext cx="2133600" cy="3111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" y="1393190"/>
            <a:ext cx="4749800" cy="94615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0" y="2339340"/>
            <a:ext cx="5943600" cy="33845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9595" y="196215"/>
            <a:ext cx="10515600" cy="1325563"/>
          </a:xfrm>
        </p:spPr>
        <p:txBody>
          <a:bodyPr/>
          <a:p>
            <a:r>
              <a:rPr lang="zh-CN" altLang="en-US">
                <a:solidFill>
                  <a:srgbClr val="C00000"/>
                </a:solidFill>
              </a:rPr>
              <a:t>基于策略的强化学习的优化目标：</a:t>
            </a:r>
            <a:r>
              <a:rPr lang="en-US" altLang="zh-CN">
                <a:solidFill>
                  <a:srgbClr val="C00000"/>
                </a:solidFill>
              </a:rPr>
              <a:t>GAE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22" name="内容占位符 2"/>
          <p:cNvSpPr>
            <a:spLocks noGrp="1"/>
          </p:cNvSpPr>
          <p:nvPr/>
        </p:nvSpPr>
        <p:spPr>
          <a:xfrm>
            <a:off x="6109335" y="2742565"/>
            <a:ext cx="5350510" cy="577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buFont typeface="+mj-lt"/>
              <a:buNone/>
            </a:pP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ψ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（大写</a:t>
            </a: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Ψ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，小写</a:t>
            </a: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ψ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）在英文中，通常读作</a:t>
            </a: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/sa</a:t>
            </a:r>
            <a:r>
              <a:rPr lang="en-US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ɪ</a:t>
            </a: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（类似于</a:t>
            </a: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“sigh”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的发音）。</a:t>
            </a:r>
            <a:endParaRPr lang="zh-CN" altLang="en-US" sz="9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00000"/>
              </a:lnSpc>
              <a:buFont typeface="+mj-lt"/>
              <a:buNone/>
            </a:pP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这段策略梯度推导中，</a:t>
            </a: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ψ_t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是一个</a:t>
            </a: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占位符符号</a:t>
            </a: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，代表用于评估单步动作质量的任意函数。</a:t>
            </a:r>
            <a:endParaRPr lang="zh-CN" altLang="en-US" sz="9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13125" y="3082925"/>
            <a:ext cx="190500" cy="2374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320" y="3320415"/>
            <a:ext cx="3126740" cy="25711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207500" y="3383280"/>
            <a:ext cx="2252345" cy="87820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90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δ</a:t>
            </a:r>
            <a:r>
              <a:rPr lang="zh-CN" altLang="en-US" sz="90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（</a:t>
            </a:r>
            <a:r>
              <a:rPr lang="en-US" altLang="zh-CN" sz="90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delta)</a:t>
            </a:r>
            <a:r>
              <a:rPr lang="zh-CN" altLang="en-US" sz="900" b="0" i="0">
                <a:solidFill>
                  <a:srgbClr val="C00000"/>
                </a:solidFill>
                <a:latin typeface="+mn-ea"/>
                <a:cs typeface="+mn-ea"/>
              </a:rPr>
              <a:t>，简称</a:t>
            </a:r>
            <a:r>
              <a:rPr lang="en-US" altLang="zh-CN" sz="900" b="0" i="0">
                <a:solidFill>
                  <a:srgbClr val="C00000"/>
                </a:solidFill>
                <a:latin typeface="+mn-ea"/>
                <a:cs typeface="+mn-ea"/>
              </a:rPr>
              <a:t>TD Error</a:t>
            </a:r>
            <a:r>
              <a:rPr lang="zh-CN" sz="900" b="0" i="0">
                <a:solidFill>
                  <a:srgbClr val="C00000"/>
                </a:solidFill>
                <a:latin typeface="+mn-ea"/>
                <a:cs typeface="+mn-ea"/>
              </a:rPr>
              <a:t>（</a:t>
            </a:r>
            <a:r>
              <a:rPr lang="en-US" altLang="zh-CN" sz="900" b="0" i="0">
                <a:solidFill>
                  <a:srgbClr val="C00000"/>
                </a:solidFill>
                <a:latin typeface="+mn-ea"/>
                <a:cs typeface="+mn-ea"/>
              </a:rPr>
              <a:t>Temporal Difference Error</a:t>
            </a:r>
            <a:r>
              <a:rPr lang="zh-CN" altLang="en-US" sz="900" b="0" i="0">
                <a:solidFill>
                  <a:srgbClr val="C00000"/>
                </a:solidFill>
                <a:latin typeface="+mn-ea"/>
                <a:cs typeface="+mn-ea"/>
              </a:rPr>
              <a:t>），时序差分</a:t>
            </a:r>
            <a:r>
              <a:rPr lang="zh-CN" altLang="en-US" sz="900" b="0" i="0">
                <a:solidFill>
                  <a:srgbClr val="C00000"/>
                </a:solidFill>
                <a:latin typeface="+mn-ea"/>
                <a:cs typeface="+mn-ea"/>
              </a:rPr>
              <a:t>误差，是强化学习中一类核心的学习方法。</a:t>
            </a:r>
            <a:endParaRPr lang="zh-CN" altLang="en-US" sz="900" b="0" i="0">
              <a:solidFill>
                <a:srgbClr val="C00000"/>
              </a:solidFill>
              <a:latin typeface="+mn-ea"/>
              <a:cs typeface="+mn-ea"/>
            </a:endParaRPr>
          </a:p>
          <a:p>
            <a:pPr marL="0" indent="0"/>
            <a:endParaRPr lang="zh-CN" altLang="en-US" sz="900" b="0" i="0">
              <a:solidFill>
                <a:srgbClr val="C00000"/>
              </a:solidFill>
              <a:latin typeface="+mn-ea"/>
              <a:cs typeface="+mn-ea"/>
            </a:endParaRPr>
          </a:p>
          <a:p>
            <a:pPr marL="0" indent="0"/>
            <a:r>
              <a:rPr lang="en-US" altLang="zh-CN" sz="900" b="0" i="0">
                <a:solidFill>
                  <a:srgbClr val="C00000"/>
                </a:solidFill>
                <a:latin typeface="+mn-ea"/>
                <a:cs typeface="+mn-ea"/>
              </a:rPr>
              <a:t>Temporal</a:t>
            </a:r>
            <a:r>
              <a:rPr lang="zh-CN" altLang="en-US" sz="900" b="0" i="0">
                <a:solidFill>
                  <a:srgbClr val="C00000"/>
                </a:solidFill>
                <a:latin typeface="+mn-ea"/>
                <a:cs typeface="+mn-ea"/>
              </a:rPr>
              <a:t>（时间</a:t>
            </a:r>
            <a:r>
              <a:rPr lang="en-US" altLang="zh-CN" sz="900" b="0" i="0">
                <a:solidFill>
                  <a:srgbClr val="C00000"/>
                </a:solidFill>
                <a:latin typeface="+mn-ea"/>
                <a:cs typeface="+mn-ea"/>
              </a:rPr>
              <a:t>/</a:t>
            </a:r>
            <a:r>
              <a:rPr lang="zh-CN" altLang="en-US" sz="900" b="0" i="0">
                <a:solidFill>
                  <a:srgbClr val="C00000"/>
                </a:solidFill>
                <a:latin typeface="+mn-ea"/>
                <a:cs typeface="+mn-ea"/>
              </a:rPr>
              <a:t>时序）：表示考虑时间序列上的连续状态变化</a:t>
            </a:r>
            <a:endParaRPr lang="zh-CN" altLang="en-US" sz="900" b="0" i="0">
              <a:solidFill>
                <a:srgbClr val="C00000"/>
              </a:solidFill>
              <a:latin typeface="+mn-ea"/>
              <a:cs typeface="+mn-ea"/>
            </a:endParaRPr>
          </a:p>
          <a:p>
            <a:pPr marL="0" indent="0"/>
            <a:endParaRPr lang="en-US" altLang="zh-CN" sz="900" b="0" i="0">
              <a:solidFill>
                <a:srgbClr val="C00000"/>
              </a:solidFill>
              <a:latin typeface="+mn-ea"/>
              <a:cs typeface="+mn-ea"/>
            </a:endParaRPr>
          </a:p>
          <a:p>
            <a:pPr marL="0" indent="0"/>
            <a:r>
              <a:rPr lang="en-US" altLang="zh-CN" sz="900" b="0" i="0">
                <a:solidFill>
                  <a:srgbClr val="C00000"/>
                </a:solidFill>
                <a:latin typeface="+mn-ea"/>
                <a:cs typeface="+mn-ea"/>
              </a:rPr>
              <a:t>Difference</a:t>
            </a:r>
            <a:r>
              <a:rPr lang="zh-CN" altLang="en-US" sz="900" b="0" i="0">
                <a:solidFill>
                  <a:srgbClr val="C00000"/>
                </a:solidFill>
                <a:latin typeface="+mn-ea"/>
                <a:cs typeface="+mn-ea"/>
              </a:rPr>
              <a:t>（差分）：表示通过比较不同时间点的估计值差异来进行学习</a:t>
            </a:r>
            <a:endParaRPr lang="zh-CN" altLang="en-US" sz="900" b="0" i="0">
              <a:solidFill>
                <a:srgbClr val="C00000"/>
              </a:solidFill>
              <a:latin typeface="+mn-ea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207500" y="4845685"/>
            <a:ext cx="2252345" cy="114554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900" b="0" i="0">
                <a:solidFill>
                  <a:srgbClr val="C00000"/>
                </a:solidFill>
                <a:latin typeface="+mn-ea"/>
                <a:cs typeface="+mn-ea"/>
              </a:rPr>
              <a:t>γ</a:t>
            </a:r>
            <a:r>
              <a:rPr lang="zh-CN" altLang="en-US" sz="900" b="0" i="0">
                <a:solidFill>
                  <a:srgbClr val="C00000"/>
                </a:solidFill>
                <a:latin typeface="+mn-ea"/>
                <a:cs typeface="+mn-ea"/>
              </a:rPr>
              <a:t>（</a:t>
            </a:r>
            <a:r>
              <a:rPr lang="en-US" altLang="zh-CN" sz="900" b="0" i="0">
                <a:solidFill>
                  <a:srgbClr val="C00000"/>
                </a:solidFill>
                <a:latin typeface="+mn-ea"/>
                <a:cs typeface="+mn-ea"/>
              </a:rPr>
              <a:t>gamma</a:t>
            </a:r>
            <a:r>
              <a:rPr lang="zh-CN" altLang="en-US" sz="900" b="0" i="0">
                <a:solidFill>
                  <a:srgbClr val="C00000"/>
                </a:solidFill>
                <a:latin typeface="+mn-ea"/>
                <a:cs typeface="+mn-ea"/>
              </a:rPr>
              <a:t>）</a:t>
            </a:r>
            <a:r>
              <a:rPr lang="zh-CN" altLang="en-US" sz="900" b="0" i="0">
                <a:solidFill>
                  <a:srgbClr val="C00000"/>
                </a:solidFill>
                <a:latin typeface="+mn-ea"/>
                <a:cs typeface="+mn-ea"/>
              </a:rPr>
              <a:t>为时间折扣：未来的奖励不如现在的值钱。</a:t>
            </a:r>
            <a:endParaRPr lang="zh-CN" altLang="en-US" sz="900" b="0" i="0">
              <a:solidFill>
                <a:srgbClr val="C00000"/>
              </a:solidFill>
              <a:latin typeface="+mn-ea"/>
              <a:cs typeface="+mn-ea"/>
            </a:endParaRPr>
          </a:p>
          <a:p>
            <a:pPr marL="0" indent="0"/>
            <a:endParaRPr lang="zh-CN" altLang="en-US" sz="900" b="0" i="0">
              <a:solidFill>
                <a:srgbClr val="C00000"/>
              </a:solidFill>
              <a:latin typeface="+mn-ea"/>
              <a:cs typeface="+mn-ea"/>
            </a:endParaRPr>
          </a:p>
          <a:p>
            <a:pPr marL="0" indent="0"/>
            <a:r>
              <a:rPr lang="en-US" altLang="zh-CN" sz="90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λ</a:t>
            </a:r>
            <a:r>
              <a:rPr lang="zh-CN" altLang="en-US" sz="90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（</a:t>
            </a:r>
            <a:r>
              <a:rPr lang="en-US" altLang="zh-CN" sz="90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lambda</a:t>
            </a:r>
            <a:r>
              <a:rPr lang="zh-CN" altLang="en-US" sz="90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）为估计折扣：控制偏差</a:t>
            </a:r>
            <a:r>
              <a:rPr lang="en-US" altLang="zh-CN" sz="90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-</a:t>
            </a:r>
            <a:r>
              <a:rPr lang="zh-CN" altLang="en-US" sz="90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方差权衡。例子：</a:t>
            </a:r>
            <a:r>
              <a:rPr lang="zh-CN" altLang="en-US" sz="900" b="0" i="0">
                <a:solidFill>
                  <a:srgbClr val="C00000"/>
                </a:solidFill>
                <a:latin typeface="+mn-ea"/>
                <a:cs typeface="+mn-ea"/>
              </a:rPr>
              <a:t>要不要相信远期的信息？</a:t>
            </a:r>
            <a:endParaRPr lang="zh-CN" altLang="en-US" sz="900" b="0" i="0">
              <a:solidFill>
                <a:srgbClr val="C00000"/>
              </a:solidFill>
              <a:latin typeface="+mn-ea"/>
              <a:cs typeface="+mn-ea"/>
            </a:endParaRPr>
          </a:p>
          <a:p>
            <a:pPr marL="0" indent="0"/>
            <a:endParaRPr lang="zh-CN" altLang="en-US" sz="900" b="0" i="0">
              <a:solidFill>
                <a:srgbClr val="C00000"/>
              </a:solidFill>
              <a:latin typeface="+mn-ea"/>
              <a:cs typeface="+mn-ea"/>
            </a:endParaRPr>
          </a:p>
          <a:p>
            <a:pPr marL="0" indent="0"/>
            <a:endParaRPr lang="en-US" altLang="zh-CN" sz="900" b="0" i="0">
              <a:solidFill>
                <a:srgbClr val="C00000"/>
              </a:solidFill>
              <a:latin typeface="+mn-ea"/>
              <a:cs typeface="+mn-ea"/>
            </a:endParaRPr>
          </a:p>
          <a:p>
            <a:pPr marL="0" indent="0"/>
            <a:endParaRPr lang="zh-CN" altLang="en-US" sz="900" b="0" i="0">
              <a:solidFill>
                <a:srgbClr val="C00000"/>
              </a:solidFill>
              <a:latin typeface="+mn-ea"/>
              <a:cs typeface="+mn-ea"/>
            </a:endParaRPr>
          </a:p>
          <a:p>
            <a:pPr marL="0" indent="0"/>
            <a:endParaRPr lang="zh-CN" altLang="en-US" sz="900" b="0" i="0">
              <a:solidFill>
                <a:srgbClr val="C00000"/>
              </a:solidFill>
              <a:latin typeface="+mn-ea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29610" y="1847850"/>
            <a:ext cx="296545" cy="3327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5" name="内容占位符 2"/>
          <p:cNvSpPr>
            <a:spLocks noGrp="1"/>
          </p:cNvSpPr>
          <p:nvPr/>
        </p:nvSpPr>
        <p:spPr>
          <a:xfrm>
            <a:off x="3356610" y="6102985"/>
            <a:ext cx="5203190" cy="4940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buFont typeface="+mj-lt"/>
              <a:buNone/>
            </a:pP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：在时刻</a:t>
            </a: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 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获得的即时奖励</a:t>
            </a:r>
            <a:endParaRPr lang="zh-CN" altLang="en-US" sz="9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00000"/>
              </a:lnSpc>
              <a:buFont typeface="+mj-lt"/>
              <a:buNone/>
            </a:pP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V(st)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：表示</a:t>
            </a: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在当前状态下的长期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期望价值</a:t>
            </a: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给定状态</a:t>
            </a: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时视作一个常数。</a:t>
            </a:r>
            <a:endParaRPr lang="zh-CN" altLang="en-US" sz="9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内容占位符 2"/>
          <p:cNvSpPr>
            <a:spLocks noGrp="1"/>
          </p:cNvSpPr>
          <p:nvPr/>
        </p:nvSpPr>
        <p:spPr>
          <a:xfrm>
            <a:off x="6186805" y="1602740"/>
            <a:ext cx="5350510" cy="577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buFont typeface="+mj-lt"/>
              <a:buNone/>
            </a:pP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：为什么可以</a:t>
            </a: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</a:t>
            </a: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而不影响结果？</a:t>
            </a:r>
            <a:endParaRPr lang="zh-CN" altLang="en-US" sz="9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00000"/>
              </a:lnSpc>
              <a:buFont typeface="+mj-lt"/>
              <a:buNone/>
            </a:pPr>
            <a:r>
              <a:rPr lang="en-US" altLang="zh-CN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：因为这些替代形式都保持了策略梯度的期望不变，或者说是</a:t>
            </a:r>
            <a:r>
              <a:rPr lang="zh-CN" altLang="en-US" sz="9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en-US" altLang="zh-CN" sz="9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R(τ) </a:t>
            </a:r>
            <a:r>
              <a:rPr lang="zh-CN" altLang="en-US" sz="9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的无偏估计</a:t>
            </a:r>
            <a:r>
              <a:rPr lang="zh-CN" altLang="en-US" sz="9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9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9595" y="196215"/>
            <a:ext cx="10515600" cy="1325563"/>
          </a:xfrm>
        </p:spPr>
        <p:txBody>
          <a:bodyPr>
            <a:normAutofit/>
          </a:bodyPr>
          <a:p>
            <a:r>
              <a:rPr lang="zh-CN" altLang="en-US">
                <a:solidFill>
                  <a:srgbClr val="C00000"/>
                </a:solidFill>
              </a:rPr>
              <a:t>策略损失：重要性</a:t>
            </a:r>
            <a:r>
              <a:rPr lang="zh-CN" altLang="en-US">
                <a:solidFill>
                  <a:srgbClr val="C00000"/>
                </a:solidFill>
              </a:rPr>
              <a:t>采样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9595" y="1356360"/>
            <a:ext cx="9390380" cy="5784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latin typeface="-apple-system"/>
                <a:ea typeface="-apple-system"/>
              </a:rPr>
              <a:t>✅ PPO </a:t>
            </a:r>
            <a:r>
              <a:rPr lang="zh-CN" altLang="en-US" sz="1600" b="0" i="0">
                <a:latin typeface="-apple-system"/>
                <a:ea typeface="-apple-system"/>
              </a:rPr>
              <a:t>的训练方式是“多次迭代”：先用旧策略收集数据，再用这些数据更新新策略。</a:t>
            </a:r>
            <a:endParaRPr lang="zh-CN" altLang="en-US" sz="1600" b="0" i="0">
              <a:latin typeface="-apple-system"/>
              <a:ea typeface="-apple-system"/>
            </a:endParaRPr>
          </a:p>
          <a:p>
            <a:pPr marL="0" indent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如果每次更新都必须重新采样新数据，那效率会很低！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69595" y="1978660"/>
            <a:ext cx="99904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假设我们有一个旧策略</a:t>
            </a:r>
            <a:r>
              <a:rPr lang="en-US" altLang="zh-CN" i="1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π</a:t>
            </a:r>
            <a:r>
              <a:rPr lang="en-US" altLang="zh-CN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old​</a:t>
            </a:r>
            <a:r>
              <a:rPr lang="zh-CN" altLang="en-US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，它已经采集了一堆数据（状态 </a:t>
            </a:r>
            <a:r>
              <a:rPr lang="en-US" altLang="zh-CN" i="1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</a:t>
            </a:r>
            <a:r>
              <a:rPr lang="en-US" altLang="zh-CN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</a:t>
            </a:r>
            <a:r>
              <a:rPr lang="zh-CN" altLang="en-US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、动作 </a:t>
            </a:r>
            <a:r>
              <a:rPr lang="en-US" altLang="zh-CN" i="1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at</a:t>
            </a:r>
            <a:r>
              <a:rPr lang="en-US" altLang="zh-CN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</a:t>
            </a:r>
            <a:r>
              <a:rPr lang="zh-CN" altLang="en-US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），但我们现在想优化新策略</a:t>
            </a:r>
            <a:r>
              <a:rPr lang="en-US" altLang="zh-CN" i="1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πθ</a:t>
            </a:r>
            <a:r>
              <a:rPr lang="en-US" altLang="zh-CN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</a:t>
            </a:r>
            <a:r>
              <a:rPr lang="zh-CN" altLang="en-US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。但</a:t>
            </a:r>
            <a:r>
              <a:rPr lang="zh-CN" altLang="en-US" b="0" i="0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我们不能直接用旧数据计算</a:t>
            </a:r>
            <a:r>
              <a:rPr lang="en-US" altLang="zh-CN" b="0" i="0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 </a:t>
            </a:r>
            <a:r>
              <a:rPr lang="en-US" altLang="zh-CN" baseline="-25000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τ∼πθ</a:t>
            </a:r>
            <a:r>
              <a:rPr lang="zh-CN" altLang="en-US" b="0" i="0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因为分布不一样</a:t>
            </a:r>
            <a:r>
              <a:rPr lang="zh-CN" altLang="en-US" b="0" i="0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b="0" i="0">
              <a:solidFill>
                <a:srgbClr val="1111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35000" y="2900680"/>
            <a:ext cx="10236835" cy="9245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4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altLang="zh-CN" b="0" i="0">
                <a:solidFill>
                  <a:srgbClr val="111133"/>
                </a:solidFill>
                <a:latin typeface="-apple-system"/>
                <a:ea typeface="-apple-system"/>
              </a:rPr>
              <a:t>✅ </a:t>
            </a:r>
            <a:r>
              <a:rPr lang="zh-CN" altLang="en-US" b="0" i="0">
                <a:solidFill>
                  <a:srgbClr val="111133"/>
                </a:solidFill>
                <a:latin typeface="-apple-system"/>
                <a:ea typeface="-apple-system"/>
              </a:rPr>
              <a:t>解决方案：引入</a:t>
            </a:r>
            <a:r>
              <a:rPr lang="en-US" altLang="zh-CN" b="0" i="0">
                <a:solidFill>
                  <a:srgbClr val="111133"/>
                </a:solidFill>
                <a:latin typeface="-apple-system"/>
                <a:ea typeface="-apple-system"/>
              </a:rPr>
              <a:t> </a:t>
            </a:r>
            <a:r>
              <a:rPr lang="zh-CN" altLang="en-US" b="0" i="0">
                <a:solidFill>
                  <a:srgbClr val="111133"/>
                </a:solidFill>
                <a:latin typeface="-apple-system"/>
                <a:ea typeface="-apple-system"/>
              </a:rPr>
              <a:t>重要性采样（</a:t>
            </a:r>
            <a:r>
              <a:rPr lang="en-US" altLang="zh-CN" b="0" i="0">
                <a:solidFill>
                  <a:srgbClr val="111133"/>
                </a:solidFill>
                <a:latin typeface="-apple-system"/>
                <a:ea typeface="-apple-system"/>
              </a:rPr>
              <a:t>Importance Sampling</a:t>
            </a:r>
            <a:r>
              <a:rPr lang="zh-CN" altLang="en-US" b="0" i="0">
                <a:solidFill>
                  <a:srgbClr val="111133"/>
                </a:solidFill>
                <a:latin typeface="-apple-system"/>
                <a:ea typeface="-apple-system"/>
              </a:rPr>
              <a:t>）</a:t>
            </a:r>
            <a:endParaRPr lang="zh-CN" altLang="en-US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lnSpc>
                <a:spcPts val="13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💡 核心思想：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0" indent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latin typeface="-apple-system"/>
                <a:ea typeface="-apple-system"/>
              </a:rPr>
              <a:t>如果我们有从分布 </a:t>
            </a:r>
            <a:r>
              <a:rPr lang="en-US" altLang="zh-CN" sz="1600" b="0" i="1">
                <a:latin typeface="KaTeX_Math"/>
                <a:ea typeface="KaTeX_Math"/>
              </a:rPr>
              <a:t>p</a:t>
            </a:r>
            <a:r>
              <a:rPr lang="en-US" altLang="zh-CN" sz="1600" b="0" i="0">
                <a:latin typeface="-apple-system"/>
                <a:ea typeface="-apple-system"/>
              </a:rPr>
              <a:t> </a:t>
            </a:r>
            <a:r>
              <a:rPr lang="zh-CN" altLang="en-US" sz="1600" b="0" i="0">
                <a:latin typeface="-apple-system"/>
                <a:ea typeface="-apple-system"/>
              </a:rPr>
              <a:t>采样的数据，但想估计在分布 </a:t>
            </a:r>
            <a:r>
              <a:rPr lang="en-US" altLang="zh-CN" sz="1600" b="0" i="1">
                <a:latin typeface="KaTeX_Math"/>
                <a:ea typeface="KaTeX_Math"/>
              </a:rPr>
              <a:t>q</a:t>
            </a:r>
            <a:r>
              <a:rPr lang="en-US" altLang="zh-CN" sz="1600" b="0" i="0">
                <a:latin typeface="-apple-system"/>
                <a:ea typeface="-apple-system"/>
              </a:rPr>
              <a:t> </a:t>
            </a:r>
            <a:r>
              <a:rPr lang="zh-CN" altLang="en-US" sz="1600" b="0" i="0">
                <a:latin typeface="-apple-system"/>
                <a:ea typeface="-apple-system"/>
              </a:rPr>
              <a:t>下的期望，可以用“权重”来校正。</a:t>
            </a:r>
            <a:endParaRPr lang="zh-CN" altLang="en-US" sz="1600" b="0" i="0">
              <a:latin typeface="-apple-system"/>
              <a:ea typeface="-apple-system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00" y="4233545"/>
            <a:ext cx="2705100" cy="577850"/>
          </a:xfrm>
          <a:prstGeom prst="rect">
            <a:avLst/>
          </a:prstGeom>
        </p:spPr>
      </p:pic>
      <p:sp>
        <p:nvSpPr>
          <p:cNvPr id="18" name="内容占位符 2"/>
          <p:cNvSpPr>
            <a:spLocks noGrp="1"/>
          </p:cNvSpPr>
          <p:nvPr/>
        </p:nvSpPr>
        <p:spPr>
          <a:xfrm>
            <a:off x="740410" y="4965700"/>
            <a:ext cx="2324100" cy="37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buFont typeface="+mj-lt"/>
              <a:buNone/>
            </a:pP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这就是重要性采样</a:t>
            </a: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</a:t>
            </a:r>
            <a:endParaRPr lang="zh-CN" altLang="en-US" sz="10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170" y="3895725"/>
            <a:ext cx="4613910" cy="2895600"/>
          </a:xfrm>
          <a:prstGeom prst="rect">
            <a:avLst/>
          </a:prstGeom>
        </p:spPr>
      </p:pic>
      <p:sp>
        <p:nvSpPr>
          <p:cNvPr id="21" name="内容占位符 2"/>
          <p:cNvSpPr>
            <a:spLocks noGrp="1"/>
          </p:cNvSpPr>
          <p:nvPr/>
        </p:nvSpPr>
        <p:spPr>
          <a:xfrm>
            <a:off x="9081135" y="4810760"/>
            <a:ext cx="2936875" cy="148272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buFont typeface="+mj-lt"/>
              <a:buNone/>
            </a:pPr>
            <a:r>
              <a:rPr lang="zh-CN" altLang="en-US" sz="3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这样就可以，</a:t>
            </a:r>
            <a:endParaRPr lang="zh-CN" altLang="en-US" sz="3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00000"/>
              </a:lnSpc>
              <a:buFont typeface="+mj-lt"/>
              <a:buAutoNum type="arabicPeriod"/>
            </a:pPr>
            <a:r>
              <a:rPr lang="zh-CN" altLang="en-US" sz="3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可以复用旧数据：不需要每次都重新采样；</a:t>
            </a:r>
            <a:endParaRPr lang="zh-CN" altLang="en-US" sz="3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00000"/>
              </a:lnSpc>
              <a:buFont typeface="+mj-lt"/>
              <a:buAutoNum type="arabicPeriod"/>
            </a:pPr>
            <a:r>
              <a:rPr lang="zh-CN" altLang="en-US" sz="3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降低训练成本：一次采样可以用于多个策略更新；</a:t>
            </a:r>
            <a:endParaRPr lang="zh-CN" altLang="en-US" sz="3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00000"/>
              </a:lnSpc>
              <a:buFont typeface="+mj-lt"/>
              <a:buAutoNum type="arabicPeriod"/>
            </a:pPr>
            <a:r>
              <a:rPr lang="zh-CN" altLang="en-US" sz="3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</a:t>
            </a:r>
            <a:r>
              <a:rPr lang="en-US" altLang="zh-CN" sz="3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off-policy </a:t>
            </a:r>
            <a:r>
              <a:rPr lang="zh-CN" altLang="en-US" sz="3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学习：虽然</a:t>
            </a:r>
            <a:r>
              <a:rPr lang="en-US" altLang="zh-CN" sz="3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PPO </a:t>
            </a:r>
            <a:r>
              <a:rPr lang="zh-CN" altLang="en-US" sz="3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3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on-policy </a:t>
            </a:r>
            <a:r>
              <a:rPr lang="zh-CN" altLang="en-US" sz="3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算法，但它允许</a:t>
            </a:r>
            <a:r>
              <a:rPr lang="en-US" altLang="zh-CN" sz="3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3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近似</a:t>
            </a:r>
            <a:r>
              <a:rPr lang="en-US" altLang="zh-CN" sz="3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off-policy”</a:t>
            </a:r>
            <a:r>
              <a:rPr lang="zh-CN" altLang="en-US" sz="3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行为。</a:t>
            </a:r>
            <a:endParaRPr lang="zh-CN" altLang="en-US" sz="3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585" y="1225550"/>
            <a:ext cx="4806950" cy="15049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9595" y="196215"/>
            <a:ext cx="11403965" cy="1325880"/>
          </a:xfrm>
        </p:spPr>
        <p:txBody>
          <a:bodyPr>
            <a:normAutofit/>
          </a:bodyPr>
          <a:p>
            <a:r>
              <a:rPr lang="zh-CN" altLang="en-US">
                <a:solidFill>
                  <a:srgbClr val="C00000"/>
                </a:solidFill>
                <a:sym typeface="+mn-ea"/>
              </a:rPr>
              <a:t>策略损失</a:t>
            </a:r>
            <a:r>
              <a:rPr lang="zh-CN" altLang="en-US">
                <a:solidFill>
                  <a:srgbClr val="C00000"/>
                </a:solidFill>
              </a:rPr>
              <a:t>：</a:t>
            </a:r>
            <a:r>
              <a:rPr lang="zh-CN" altLang="en-US" sz="4400">
                <a:solidFill>
                  <a:srgbClr val="C00000"/>
                </a:solidFill>
              </a:rPr>
              <a:t>从梯度反推出目标函数</a:t>
            </a:r>
            <a:endParaRPr lang="zh-CN" altLang="en-US" sz="440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33365" y="1316990"/>
            <a:ext cx="6203315" cy="156845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i="0">
                <a:solidFill>
                  <a:srgbClr val="111133"/>
                </a:solidFill>
                <a:latin typeface="-apple-system"/>
                <a:ea typeface="-apple-system"/>
              </a:rPr>
              <a:t>Q</a:t>
            </a:r>
            <a:r>
              <a:rPr lang="zh-CN" altLang="en-US" sz="160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：为什么上面还在计算梯度，下面就</a:t>
            </a:r>
            <a:r>
              <a:rPr lang="zh-CN" altLang="en-US" sz="160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能得出目标函数？</a:t>
            </a:r>
            <a:endParaRPr lang="zh-CN" altLang="en-US" sz="160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A</a:t>
            </a:r>
            <a:r>
              <a:rPr lang="zh-CN" altLang="en-US" sz="160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：</a:t>
            </a:r>
            <a:r>
              <a:rPr lang="zh-CN" altLang="en-US" sz="1600" b="1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梯度只是优化</a:t>
            </a:r>
            <a:r>
              <a:rPr lang="en-US" altLang="zh-CN" sz="1600" b="1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“</a:t>
            </a:r>
            <a:r>
              <a:rPr lang="zh-CN" altLang="en-US" sz="1600" b="1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方向</a:t>
            </a:r>
            <a:r>
              <a:rPr lang="en-US" altLang="zh-CN" sz="1600" b="1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”</a:t>
            </a:r>
            <a:r>
              <a:rPr lang="zh-CN" altLang="en-US" sz="1600" b="1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，不是</a:t>
            </a:r>
            <a:r>
              <a:rPr lang="en-US" altLang="zh-CN" sz="1600" b="1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“</a:t>
            </a:r>
            <a:r>
              <a:rPr lang="zh-CN" altLang="en-US" sz="1600" b="1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目标</a:t>
            </a:r>
            <a:r>
              <a:rPr lang="en-US" altLang="zh-CN" sz="1600" b="1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”</a:t>
            </a:r>
            <a:r>
              <a:rPr lang="zh-CN" altLang="en-US" sz="160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；为了用优化算法高效训练，我们需要一个</a:t>
            </a:r>
            <a:r>
              <a:rPr lang="en-US" altLang="zh-CN" sz="160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 </a:t>
            </a:r>
            <a:r>
              <a:rPr lang="zh-CN" altLang="en-US" sz="160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可微的目标函数，然后通过梯度上升来最大化它。</a:t>
            </a: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所以，我们并不是直接优化梯度，而是</a:t>
            </a:r>
            <a:r>
              <a:rPr lang="zh-CN" altLang="en-US" sz="1600" b="1" i="0">
                <a:solidFill>
                  <a:srgbClr val="C00000"/>
                </a:solidFill>
                <a:latin typeface="-apple-system"/>
                <a:ea typeface="宋体" panose="02010600030101010101" pitchFamily="2" charset="-122"/>
              </a:rPr>
              <a:t>构造一个与梯度一致的目标函数</a:t>
            </a: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，再对它做优化。</a:t>
            </a:r>
            <a:endParaRPr lang="zh-CN" altLang="en-US" sz="1600" b="1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010" y="2730500"/>
            <a:ext cx="2647950" cy="654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71805" y="2932430"/>
            <a:ext cx="1463040" cy="33718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rgbClr val="111133"/>
                </a:solidFill>
                <a:latin typeface="-apple-system"/>
                <a:ea typeface="-apple-system"/>
              </a:rPr>
              <a:t>假设</a:t>
            </a:r>
            <a:r>
              <a:rPr lang="zh-CN" altLang="en-US" sz="1600" i="0">
                <a:solidFill>
                  <a:srgbClr val="111133"/>
                </a:solidFill>
                <a:latin typeface="-apple-system"/>
                <a:ea typeface="-apple-system"/>
              </a:rPr>
              <a:t>我们定义，</a:t>
            </a:r>
            <a:endParaRPr lang="zh-CN" altLang="en-US" sz="1600" i="0">
              <a:solidFill>
                <a:srgbClr val="111133"/>
              </a:solidFill>
              <a:latin typeface="-apple-system"/>
              <a:ea typeface="-apple-system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1805" y="3471545"/>
            <a:ext cx="1878965" cy="33718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rgbClr val="111133"/>
                </a:solidFill>
                <a:latin typeface="-apple-system"/>
                <a:ea typeface="-apple-system"/>
              </a:rPr>
              <a:t>现在我们对它求导：</a:t>
            </a:r>
            <a:endParaRPr lang="zh-CN" altLang="en-US" sz="1600" i="0">
              <a:solidFill>
                <a:srgbClr val="111133"/>
              </a:solidFill>
              <a:latin typeface="-apple-system"/>
              <a:ea typeface="-apple-system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675" y="3471545"/>
            <a:ext cx="3295650" cy="6858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4157345"/>
            <a:ext cx="8229600" cy="1676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56325" y="293243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期望符号</a:t>
            </a:r>
            <a:r>
              <a:rPr lang="en-US" altLang="zh-CN" sz="1000">
                <a:solidFill>
                  <a:srgbClr val="FF0000"/>
                </a:solidFill>
              </a:rPr>
              <a:t> Et </a:t>
            </a:r>
            <a:r>
              <a:rPr lang="zh-CN" altLang="en-US" sz="1000">
                <a:solidFill>
                  <a:srgbClr val="FF0000"/>
                </a:solidFill>
              </a:rPr>
              <a:t>的关键作用：</a:t>
            </a:r>
            <a:endParaRPr lang="en-US" altLang="zh-CN" sz="1000">
              <a:solidFill>
                <a:srgbClr val="FF0000"/>
              </a:solidFill>
            </a:endParaRPr>
          </a:p>
          <a:p>
            <a:r>
              <a:rPr lang="en-US" altLang="zh-CN" sz="1000">
                <a:solidFill>
                  <a:srgbClr val="FF0000"/>
                </a:solidFill>
                <a:sym typeface="+mn-ea"/>
              </a:rPr>
              <a:t> Et</a:t>
            </a:r>
            <a:r>
              <a:rPr lang="zh-CN" altLang="en-US" sz="1000">
                <a:solidFill>
                  <a:srgbClr val="FF0000"/>
                </a:solidFill>
              </a:rPr>
              <a:t>表示对所有时间步</a:t>
            </a:r>
            <a:r>
              <a:rPr lang="en-US" altLang="zh-CN" sz="1000">
                <a:solidFill>
                  <a:srgbClr val="FF0000"/>
                </a:solidFill>
              </a:rPr>
              <a:t> t </a:t>
            </a:r>
            <a:r>
              <a:rPr lang="zh-CN" altLang="en-US" sz="1000">
                <a:solidFill>
                  <a:srgbClr val="FF0000"/>
                </a:solidFill>
              </a:rPr>
              <a:t>取期望（平均）。</a:t>
            </a:r>
            <a:endParaRPr lang="zh-CN" altLang="en-US" sz="1000">
              <a:solidFill>
                <a:srgbClr val="FF0000"/>
              </a:solidFill>
            </a:endParaRPr>
          </a:p>
          <a:p>
            <a:r>
              <a:rPr lang="zh-CN" altLang="en-US" sz="1000">
                <a:solidFill>
                  <a:srgbClr val="FF0000"/>
                </a:solidFill>
              </a:rPr>
              <a:t>实际实现中，这是</a:t>
            </a:r>
            <a:r>
              <a:rPr lang="zh-CN" altLang="en-US" sz="1000" b="1">
                <a:solidFill>
                  <a:srgbClr val="FF0000"/>
                </a:solidFill>
              </a:rPr>
              <a:t>对一个</a:t>
            </a:r>
            <a:r>
              <a:rPr lang="en-US" altLang="zh-CN" sz="1000" b="1">
                <a:solidFill>
                  <a:srgbClr val="FF0000"/>
                </a:solidFill>
              </a:rPr>
              <a:t>batch</a:t>
            </a:r>
            <a:r>
              <a:rPr lang="zh-CN" altLang="en-US" sz="1000" b="1">
                <a:solidFill>
                  <a:srgbClr val="FF0000"/>
                </a:solidFill>
              </a:rPr>
              <a:t>中所有样本的所有时间步的平均</a:t>
            </a:r>
            <a:r>
              <a:rPr lang="zh-CN" altLang="en-US" sz="1000">
                <a:solidFill>
                  <a:srgbClr val="FF0000"/>
                </a:solidFill>
              </a:rPr>
              <a:t>。</a:t>
            </a:r>
            <a:endParaRPr lang="zh-CN" altLang="en-US" sz="1000">
              <a:solidFill>
                <a:srgbClr val="FF0000"/>
              </a:solidFill>
            </a:endParaRPr>
          </a:p>
          <a:p>
            <a:r>
              <a:rPr lang="zh-CN" altLang="en-US" sz="1000" b="1">
                <a:solidFill>
                  <a:srgbClr val="FF0000"/>
                </a:solidFill>
              </a:rPr>
              <a:t>每个时间步独立贡献到总损失，但优化是针对整个策略网络。</a:t>
            </a:r>
            <a:endParaRPr lang="zh-CN" altLang="en-US" sz="1000" b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48915" y="2872740"/>
            <a:ext cx="270510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9595" y="196215"/>
            <a:ext cx="10515600" cy="1325563"/>
          </a:xfrm>
        </p:spPr>
        <p:txBody>
          <a:bodyPr>
            <a:normAutofit/>
          </a:bodyPr>
          <a:p>
            <a:r>
              <a:rPr lang="zh-CN" altLang="en-US">
                <a:solidFill>
                  <a:srgbClr val="C00000"/>
                </a:solidFill>
                <a:sym typeface="+mn-ea"/>
              </a:rPr>
              <a:t>策略损失</a:t>
            </a:r>
            <a:r>
              <a:rPr lang="zh-CN" altLang="en-US">
                <a:solidFill>
                  <a:srgbClr val="C00000"/>
                </a:solidFill>
              </a:rPr>
              <a:t>：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1. </a:t>
            </a:r>
            <a:r>
              <a:rPr lang="en-US" altLang="zh-CN">
                <a:solidFill>
                  <a:srgbClr val="C00000"/>
                </a:solidFill>
              </a:rPr>
              <a:t>clip</a:t>
            </a:r>
            <a:r>
              <a:rPr lang="zh-CN" altLang="en-US">
                <a:solidFill>
                  <a:srgbClr val="C00000"/>
                </a:solidFill>
              </a:rPr>
              <a:t>操作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9595" y="1356360"/>
            <a:ext cx="9390380" cy="255333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i="0">
                <a:solidFill>
                  <a:srgbClr val="111133"/>
                </a:solidFill>
                <a:latin typeface="微软雅黑" panose="020B0503020204020204" charset="-122"/>
                <a:ea typeface="微软雅黑" panose="020B0503020204020204" charset="-122"/>
              </a:rPr>
              <a:t>注意：重要性采样带来的问题</a:t>
            </a:r>
            <a:endParaRPr lang="zh-CN" altLang="en-US" sz="1600" b="1" i="0">
              <a:solidFill>
                <a:srgbClr val="1111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虽然我们可以复用数据，但要注意：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285750" indent="-28575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权重可能很大或很小；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285750" indent="-28575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如果新策略和旧策略差异太大，权重不稳定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 </a:t>
            </a:r>
            <a:r>
              <a:rPr lang="en-US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 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方差大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 </a:t>
            </a:r>
            <a:r>
              <a:rPr lang="en-US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→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 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训练崩溃；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285750" indent="-28575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所以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 PPO 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引入了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 clip 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操作，限制权重变化范围（比如只允许变化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 </a:t>
            </a:r>
            <a:r>
              <a:rPr lang="en-US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±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15%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）。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marL="285750" indent="-28575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PPO 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的核心思想是：</a:t>
            </a:r>
            <a:r>
              <a:rPr lang="zh-CN" altLang="en-US" sz="1600" b="1" i="0">
                <a:solidFill>
                  <a:srgbClr val="C00000"/>
                </a:solidFill>
                <a:latin typeface="-apple-system"/>
                <a:ea typeface="-apple-system"/>
              </a:rPr>
              <a:t>不要让策略更新太快！限制每次更新的幅度，避免剧烈变化</a:t>
            </a: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-apple-system"/>
              </a:rPr>
              <a:t>这就是</a:t>
            </a:r>
            <a:r>
              <a:rPr lang="en-US" altLang="zh-CN" sz="1600" b="1" i="0">
                <a:solidFill>
                  <a:srgbClr val="111133"/>
                </a:solidFill>
                <a:latin typeface="-apple-system"/>
                <a:ea typeface="-apple-system"/>
              </a:rPr>
              <a:t> clip </a:t>
            </a: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-apple-system"/>
              </a:rPr>
              <a:t>操作</a:t>
            </a:r>
            <a:r>
              <a:rPr lang="en-US" altLang="zh-CN" sz="1600" b="1" i="0">
                <a:solidFill>
                  <a:srgbClr val="111133"/>
                </a:solidFill>
                <a:latin typeface="-apple-system"/>
                <a:ea typeface="-apple-system"/>
              </a:rPr>
              <a:t> </a:t>
            </a: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-apple-system"/>
              </a:rPr>
              <a:t>的由来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。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440" y="2066925"/>
            <a:ext cx="323850" cy="393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130" y="4076065"/>
            <a:ext cx="5270500" cy="469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69290" y="4076065"/>
            <a:ext cx="204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得到</a:t>
            </a:r>
            <a:r>
              <a:rPr lang="zh-CN" altLang="en-US"/>
              <a:t>目标函数：</a:t>
            </a:r>
            <a:endParaRPr lang="zh-CN" altLang="en-US"/>
          </a:p>
        </p:txBody>
      </p:sp>
      <p:sp>
        <p:nvSpPr>
          <p:cNvPr id="11" name="内容占位符 2"/>
          <p:cNvSpPr>
            <a:spLocks noGrp="1"/>
          </p:cNvSpPr>
          <p:nvPr/>
        </p:nvSpPr>
        <p:spPr>
          <a:xfrm>
            <a:off x="9044305" y="3280410"/>
            <a:ext cx="2712085" cy="296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buFont typeface="+mj-lt"/>
              <a:buNone/>
            </a:pP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注意不要跟前面的即时奖励符号</a:t>
            </a:r>
            <a:r>
              <a:rPr lang="en-US" altLang="zh-CN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</a:t>
            </a: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混淆。</a:t>
            </a:r>
            <a:endParaRPr lang="zh-CN" altLang="en-US" sz="10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4305" y="3574415"/>
            <a:ext cx="2584450" cy="971550"/>
          </a:xfrm>
          <a:prstGeom prst="rect">
            <a:avLst/>
          </a:prstGeom>
        </p:spPr>
      </p:pic>
      <p:graphicFrame>
        <p:nvGraphicFramePr>
          <p:cNvPr id="13" name="表格 12"/>
          <p:cNvGraphicFramePr/>
          <p:nvPr/>
        </p:nvGraphicFramePr>
        <p:xfrm>
          <a:off x="295910" y="4946015"/>
          <a:ext cx="2533015" cy="1170305"/>
        </p:xfrm>
        <a:graphic>
          <a:graphicData uri="http://schemas.openxmlformats.org/drawingml/2006/table">
            <a:tbl>
              <a:tblPr/>
              <a:tblGrid>
                <a:gridCol w="579120"/>
                <a:gridCol w="1953895"/>
              </a:tblGrid>
              <a:tr h="347345">
                <a:tc>
                  <a:txBody>
                    <a:bodyPr/>
                    <a:p>
                      <a:pPr marL="0" indent="0">
                        <a:spcAft>
                          <a:spcPct val="0"/>
                        </a:spcAft>
                      </a:pPr>
                      <a:r>
                        <a:rPr lang="en-US" altLang="zh-CN" sz="1300" b="0" i="1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r</a:t>
                      </a:r>
                      <a:r>
                        <a:rPr lang="en-US" altLang="zh-CN" sz="700" b="0" i="1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t</a:t>
                      </a:r>
                      <a:r>
                        <a:rPr lang="en-US" altLang="zh-CN" sz="100" b="0" i="0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r>
                        <a:rPr lang="en-US" altLang="zh-CN" sz="1300" b="0" i="0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=</a:t>
                      </a:r>
                      <a:r>
                        <a:rPr lang="en-US" altLang="zh-CN" sz="1300" b="0" i="0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1</a:t>
                      </a:r>
                      <a:endParaRPr lang="en-US" altLang="zh-CN" sz="1300" b="0" i="0">
                        <a:solidFill>
                          <a:srgbClr val="1111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100" b="0" i="0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新旧策略完全一致</a:t>
                      </a:r>
                      <a:endParaRPr lang="zh-CN" altLang="en-US" sz="1100" b="0" i="0">
                        <a:solidFill>
                          <a:srgbClr val="1111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0" indent="0">
                        <a:spcAft>
                          <a:spcPct val="0"/>
                        </a:spcAft>
                      </a:pPr>
                      <a:r>
                        <a:rPr lang="en-US" altLang="zh-CN" sz="1300" b="0" i="1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r</a:t>
                      </a:r>
                      <a:r>
                        <a:rPr lang="en-US" altLang="zh-CN" sz="700" b="0" i="1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t</a:t>
                      </a:r>
                      <a:r>
                        <a:rPr lang="en-US" altLang="zh-CN" sz="100" b="0" i="0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r>
                        <a:rPr lang="en-US" altLang="zh-CN" sz="1300" b="0" i="0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&gt;</a:t>
                      </a:r>
                      <a:r>
                        <a:rPr lang="en-US" altLang="zh-CN" sz="1300" b="0" i="0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1</a:t>
                      </a:r>
                      <a:endParaRPr lang="en-US" altLang="zh-CN" sz="1300" b="0" i="0">
                        <a:solidFill>
                          <a:srgbClr val="1111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100" b="0" i="0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新策略更倾向于这个动作</a:t>
                      </a:r>
                      <a:endParaRPr lang="zh-CN" altLang="en-US" sz="1100" b="0" i="0">
                        <a:solidFill>
                          <a:srgbClr val="1111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0" indent="0">
                        <a:spcAft>
                          <a:spcPct val="0"/>
                        </a:spcAft>
                      </a:pPr>
                      <a:r>
                        <a:rPr lang="en-US" altLang="zh-CN" sz="1300" b="0" i="1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r</a:t>
                      </a:r>
                      <a:r>
                        <a:rPr lang="en-US" altLang="zh-CN" sz="700" b="0" i="1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t</a:t>
                      </a:r>
                      <a:r>
                        <a:rPr lang="en-US" altLang="zh-CN" sz="100" b="0" i="0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​</a:t>
                      </a:r>
                      <a:r>
                        <a:rPr lang="en-US" altLang="zh-CN" sz="1300" b="0" i="0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&lt;</a:t>
                      </a:r>
                      <a:r>
                        <a:rPr lang="en-US" altLang="zh-CN" sz="1300" b="0" i="0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1</a:t>
                      </a:r>
                      <a:endParaRPr lang="en-US" altLang="zh-CN" sz="1300" b="0" i="0">
                        <a:solidFill>
                          <a:srgbClr val="1111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100" b="0" i="0">
                          <a:solidFill>
                            <a:srgbClr val="111133"/>
                          </a:solidFill>
                          <a:latin typeface="-apple-system"/>
                          <a:ea typeface="-apple-system"/>
                        </a:rPr>
                        <a:t>新策略更不倾向于这个动作</a:t>
                      </a:r>
                      <a:endParaRPr lang="zh-CN" altLang="en-US" sz="1100" b="0" i="0">
                        <a:solidFill>
                          <a:srgbClr val="111133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>
                    <a:lnL>
                      <a:noFill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内容占位符 2"/>
          <p:cNvSpPr>
            <a:spLocks noGrp="1"/>
          </p:cNvSpPr>
          <p:nvPr/>
        </p:nvSpPr>
        <p:spPr>
          <a:xfrm>
            <a:off x="10624820" y="3779520"/>
            <a:ext cx="1399540" cy="296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buFont typeface="+mj-lt"/>
              <a:buNone/>
            </a:pP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优势函数值</a:t>
            </a:r>
            <a:r>
              <a:rPr lang="zh-CN" altLang="en-US" sz="10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可正可负</a:t>
            </a:r>
            <a:endParaRPr lang="zh-CN" altLang="en-US" sz="10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720" y="4788535"/>
            <a:ext cx="2927350" cy="14097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8505" y="4788535"/>
            <a:ext cx="3225800" cy="1739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4305" y="4788535"/>
            <a:ext cx="27940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9595" y="196215"/>
            <a:ext cx="10515600" cy="1325563"/>
          </a:xfrm>
        </p:spPr>
        <p:txBody>
          <a:bodyPr>
            <a:normAutofit/>
          </a:bodyPr>
          <a:p>
            <a:r>
              <a:rPr lang="zh-CN" altLang="en-US">
                <a:solidFill>
                  <a:srgbClr val="C00000"/>
                </a:solidFill>
                <a:sym typeface="+mn-ea"/>
              </a:rPr>
              <a:t>策略损失</a:t>
            </a:r>
            <a:r>
              <a:rPr lang="zh-CN" altLang="en-US">
                <a:solidFill>
                  <a:srgbClr val="C00000"/>
                </a:solidFill>
              </a:rPr>
              <a:t>：</a:t>
            </a:r>
            <a:r>
              <a:rPr lang="en-US" altLang="zh-CN">
                <a:solidFill>
                  <a:srgbClr val="C00000"/>
                </a:solidFill>
              </a:rPr>
              <a:t>2. </a:t>
            </a:r>
            <a:r>
              <a:rPr lang="en-US">
                <a:solidFill>
                  <a:srgbClr val="C00000"/>
                </a:solidFill>
              </a:rPr>
              <a:t>KL</a:t>
            </a:r>
            <a:r>
              <a:rPr lang="zh-CN" altLang="en-US">
                <a:solidFill>
                  <a:srgbClr val="C00000"/>
                </a:solidFill>
              </a:rPr>
              <a:t>散度</a:t>
            </a:r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353820"/>
            <a:ext cx="5448300" cy="685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2160905"/>
            <a:ext cx="7391400" cy="11620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042920" y="2811780"/>
            <a:ext cx="398145" cy="3327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30200" y="3205480"/>
            <a:ext cx="1165352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KL</a:t>
            </a:r>
            <a:r>
              <a:rPr lang="zh-CN" altLang="en-US" b="1">
                <a:solidFill>
                  <a:srgbClr val="FF0000"/>
                </a:solidFill>
              </a:rPr>
              <a:t>惩罚和奖励裁剪不是对立的方法，而是互补的技术</a:t>
            </a:r>
            <a:r>
              <a:rPr lang="zh-CN" altLang="en-US"/>
              <a:t>，解决不同的问题：</a:t>
            </a:r>
            <a:endParaRPr lang="zh-CN" altLang="en-US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KL</a:t>
            </a:r>
            <a:r>
              <a:rPr lang="zh-CN" altLang="en-US"/>
              <a:t>惩罚</a:t>
            </a:r>
            <a:r>
              <a:rPr lang="en-US" altLang="zh-CN"/>
              <a:t> (</a:t>
            </a:r>
            <a:r>
              <a:rPr lang="zh-CN" altLang="en-US"/>
              <a:t>通过</a:t>
            </a:r>
            <a:r>
              <a:rPr lang="en-US" altLang="zh-CN"/>
              <a:t> kl_divergence_estimate)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目的：</a:t>
            </a:r>
            <a:r>
              <a:rPr lang="zh-CN" altLang="en-US" b="1">
                <a:solidFill>
                  <a:srgbClr val="FF0000"/>
                </a:solidFill>
              </a:rPr>
              <a:t>防止策略过度偏离参考策略（原始预训练模型）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奖励裁剪</a:t>
            </a:r>
            <a:r>
              <a:rPr lang="en-US" altLang="zh-CN"/>
              <a:t> (</a:t>
            </a:r>
            <a:r>
              <a:rPr lang="zh-CN" altLang="en-US"/>
              <a:t>通过</a:t>
            </a:r>
            <a:r>
              <a:rPr lang="en-US" altLang="zh-CN"/>
              <a:t> clip_reward_value)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目的：</a:t>
            </a:r>
            <a:r>
              <a:rPr lang="zh-CN" altLang="en-US" b="1">
                <a:solidFill>
                  <a:srgbClr val="FF0000"/>
                </a:solidFill>
              </a:rPr>
              <a:t>稳定训练过程，防止极端奖励值导致训练不稳定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  <a:p>
            <a:pPr indent="0">
              <a:buNone/>
            </a:pPr>
            <a:r>
              <a:rPr lang="zh-CN" altLang="en-US"/>
              <a:t>这类似于教育孩子：</a:t>
            </a:r>
            <a:endParaRPr lang="zh-CN" altLang="en-US"/>
          </a:p>
          <a:p>
            <a:pPr indent="0">
              <a:buNone/>
            </a:pPr>
            <a:endParaRPr lang="en-US" altLang="zh-CN"/>
          </a:p>
          <a:p>
            <a:pPr indent="0">
              <a:buNone/>
            </a:pPr>
            <a:r>
              <a:rPr lang="en-US" altLang="zh-CN"/>
              <a:t>KL</a:t>
            </a:r>
            <a:r>
              <a:rPr lang="zh-CN" altLang="en-US"/>
              <a:t>惩罚如同</a:t>
            </a:r>
            <a:r>
              <a:rPr lang="en-US" altLang="zh-CN"/>
              <a:t>"</a:t>
            </a:r>
            <a:r>
              <a:rPr lang="zh-CN" altLang="en-US"/>
              <a:t>保持基本道德和知识</a:t>
            </a:r>
            <a:r>
              <a:rPr lang="en-US" altLang="zh-CN"/>
              <a:t>"</a:t>
            </a:r>
            <a:endParaRPr lang="en-US" altLang="zh-CN"/>
          </a:p>
          <a:p>
            <a:pPr indent="0">
              <a:buNone/>
            </a:pPr>
            <a:r>
              <a:rPr lang="zh-CN" altLang="en-US"/>
              <a:t>奖励裁剪如同</a:t>
            </a:r>
            <a:r>
              <a:rPr lang="en-US" altLang="zh-CN"/>
              <a:t>"</a:t>
            </a:r>
            <a:r>
              <a:rPr lang="zh-CN" altLang="en-US"/>
              <a:t>对行为的适度反馈，不过分赞扬或批评</a:t>
            </a:r>
            <a:r>
              <a:rPr lang="en-US" altLang="zh-CN"/>
              <a:t>"</a:t>
            </a:r>
            <a:endParaRPr lang="en-US" altLang="zh-CN"/>
          </a:p>
          <a:p>
            <a:pPr indent="0">
              <a:buNone/>
            </a:pPr>
            <a:r>
              <a:rPr lang="zh-CN" altLang="en-US"/>
              <a:t>两者共同作用培养出既有原则又能适应环境的人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9595" y="196215"/>
            <a:ext cx="10515600" cy="1325563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C00000"/>
                </a:solidFill>
                <a:sym typeface="+mn-ea"/>
              </a:rPr>
              <a:t>为什么需要优势函数？为什么使用</a:t>
            </a:r>
            <a:r>
              <a:rPr lang="en-US" altLang="zh-CN">
                <a:solidFill>
                  <a:srgbClr val="C00000"/>
                </a:solidFill>
                <a:sym typeface="+mn-ea"/>
              </a:rPr>
              <a:t>GAE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计算？</a:t>
            </a:r>
            <a:endParaRPr lang="zh-CN" altLang="en-US">
              <a:solidFill>
                <a:srgbClr val="C00000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9595" y="1224280"/>
            <a:ext cx="10787380" cy="8299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回到我们最初的目标。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PPO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算法要解决的根本问题很简单</a:t>
            </a: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：</a:t>
            </a:r>
            <a:r>
              <a:rPr lang="zh-CN" altLang="en-US" sz="1600" b="1" i="0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如何更新策略，使智能体获得更高的累积奖励？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2371725"/>
            <a:ext cx="4686300" cy="7048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1510" y="3076575"/>
            <a:ext cx="92703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它的作用是</a:t>
            </a:r>
            <a:r>
              <a:rPr lang="zh-CN" altLang="en-US" sz="1600" b="1">
                <a:solidFill>
                  <a:srgbClr val="FF0000"/>
                </a:solidFill>
                <a:latin typeface="-apple-system"/>
                <a:ea typeface="宋体" panose="02010600030101010101" pitchFamily="2" charset="-122"/>
              </a:rPr>
              <a:t>指导神经网络参数 θ 的更新方向，使得策略能更好地获得奖励</a:t>
            </a:r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。</a:t>
            </a:r>
            <a:endParaRPr lang="zh-CN" altLang="en-US" sz="160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这个目标函数的值是一个期望值，表示在当前策略下，每一步动作对总体性能的</a:t>
            </a:r>
            <a:r>
              <a:rPr lang="en-US" altLang="zh-CN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“</a:t>
            </a:r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贡献</a:t>
            </a:r>
            <a:r>
              <a:rPr lang="en-US" altLang="zh-CN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”</a:t>
            </a:r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。</a:t>
            </a:r>
            <a:endParaRPr lang="zh-CN" altLang="en-US" sz="160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所以，</a:t>
            </a:r>
            <a:r>
              <a:rPr lang="zh-CN" altLang="en-US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目标函数的值越高，说明当前策略越有可能产生更优的动作序列，即策略越好</a:t>
            </a:r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。</a:t>
            </a:r>
            <a:endParaRPr lang="zh-CN" altLang="en-US" sz="160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26150" y="242189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FF0000"/>
                </a:solidFill>
              </a:rPr>
              <a:t>（深度学习框架（如</a:t>
            </a:r>
            <a:r>
              <a:rPr lang="en-US" altLang="zh-CN" sz="1000">
                <a:solidFill>
                  <a:srgbClr val="FF0000"/>
                </a:solidFill>
              </a:rPr>
              <a:t>PyTorch</a:t>
            </a:r>
            <a:r>
              <a:rPr lang="zh-CN" altLang="en-US" sz="1000">
                <a:solidFill>
                  <a:srgbClr val="FF0000"/>
                </a:solidFill>
              </a:rPr>
              <a:t>）默认最小化损失函数，而非最大化目标。因此</a:t>
            </a:r>
            <a:endParaRPr lang="zh-CN" altLang="en-US" sz="1000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80" y="2625725"/>
            <a:ext cx="2610485" cy="3003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4057015"/>
            <a:ext cx="5708650" cy="11176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95" y="5174615"/>
            <a:ext cx="3028950" cy="13716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610" y="5174615"/>
            <a:ext cx="3448050" cy="14224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848600" y="59874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所以要使用</a:t>
            </a:r>
            <a:r>
              <a:rPr lang="en-US" altLang="zh-CN" b="1">
                <a:solidFill>
                  <a:srgbClr val="FF0000"/>
                </a:solidFill>
              </a:rPr>
              <a:t>GAE</a:t>
            </a:r>
            <a:r>
              <a:rPr lang="zh-CN" altLang="en-US" b="1">
                <a:solidFill>
                  <a:srgbClr val="FF0000"/>
                </a:solidFill>
              </a:rPr>
              <a:t>计算出优势函数。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6720205" y="6219190"/>
            <a:ext cx="1016000" cy="1365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9595" y="196215"/>
            <a:ext cx="10515600" cy="1325563"/>
          </a:xfrm>
        </p:spPr>
        <p:txBody>
          <a:bodyPr>
            <a:normAutofit/>
          </a:bodyPr>
          <a:p>
            <a:r>
              <a:rPr lang="zh-CN" altLang="en-US">
                <a:solidFill>
                  <a:srgbClr val="C00000"/>
                </a:solidFill>
                <a:sym typeface="+mn-ea"/>
              </a:rPr>
              <a:t>价值损失</a:t>
            </a:r>
            <a:r>
              <a:rPr lang="zh-CN" altLang="en-US">
                <a:solidFill>
                  <a:srgbClr val="C00000"/>
                </a:solidFill>
              </a:rPr>
              <a:t>：</a:t>
            </a:r>
            <a:r>
              <a:rPr lang="en-US" altLang="zh-CN">
                <a:solidFill>
                  <a:srgbClr val="C00000"/>
                </a:solidFill>
              </a:rPr>
              <a:t>Critic</a:t>
            </a:r>
            <a:r>
              <a:rPr lang="zh-CN" altLang="en-US">
                <a:solidFill>
                  <a:srgbClr val="C00000"/>
                </a:solidFill>
              </a:rPr>
              <a:t>计算</a:t>
            </a:r>
            <a:r>
              <a:rPr lang="en-US" altLang="zh-CN">
                <a:solidFill>
                  <a:srgbClr val="C00000"/>
                </a:solidFill>
              </a:rPr>
              <a:t> V</a:t>
            </a:r>
            <a:r>
              <a:rPr lang="en-US" altLang="zh-CN" baseline="30000">
                <a:solidFill>
                  <a:srgbClr val="C00000"/>
                </a:solidFill>
              </a:rPr>
              <a:t>π</a:t>
            </a:r>
            <a:r>
              <a:rPr lang="en-US" altLang="zh-CN">
                <a:solidFill>
                  <a:srgbClr val="C00000"/>
                </a:solidFill>
              </a:rPr>
              <a:t>(s)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9595" y="1356360"/>
            <a:ext cx="10787380" cy="206121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在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 PPO 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的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 Actor-Critic 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架构中：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Actor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（策略网络）：决定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"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做什么动作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"</a:t>
            </a:r>
            <a:endParaRPr lang="en-US" altLang="zh-CN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Critic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（价值网络）：</a:t>
            </a:r>
            <a:r>
              <a:rPr lang="zh-CN" altLang="en-US" sz="1600" b="1" i="0">
                <a:solidFill>
                  <a:srgbClr val="C00000"/>
                </a:solidFill>
                <a:latin typeface="-apple-system"/>
                <a:ea typeface="-apple-system"/>
              </a:rPr>
              <a:t>评估</a:t>
            </a:r>
            <a:r>
              <a:rPr lang="en-US" altLang="zh-CN" sz="1600" b="1" i="0">
                <a:solidFill>
                  <a:srgbClr val="C00000"/>
                </a:solidFill>
                <a:latin typeface="-apple-system"/>
                <a:ea typeface="-apple-system"/>
              </a:rPr>
              <a:t>"</a:t>
            </a:r>
            <a:r>
              <a:rPr lang="zh-CN" altLang="en-US" sz="1600" b="1" i="0">
                <a:solidFill>
                  <a:srgbClr val="C00000"/>
                </a:solidFill>
                <a:latin typeface="-apple-system"/>
                <a:ea typeface="-apple-system"/>
              </a:rPr>
              <a:t>当前状态有多好</a:t>
            </a:r>
            <a:r>
              <a:rPr lang="en-US" altLang="zh-CN" sz="1600" b="1" i="0">
                <a:solidFill>
                  <a:srgbClr val="C00000"/>
                </a:solidFill>
                <a:latin typeface="-apple-system"/>
                <a:ea typeface="-apple-system"/>
              </a:rPr>
              <a:t>"</a:t>
            </a:r>
            <a:endParaRPr lang="en-US" altLang="zh-CN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 i="0">
              <a:solidFill>
                <a:srgbClr val="111133"/>
              </a:solidFill>
              <a:latin typeface="-apple-system"/>
              <a:ea typeface="-apple-system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价值损失的作用是：</a:t>
            </a:r>
            <a:r>
              <a:rPr lang="zh-CN" altLang="en-US" sz="1600" b="1" i="0">
                <a:solidFill>
                  <a:srgbClr val="C00000"/>
                </a:solidFill>
                <a:latin typeface="-apple-system"/>
                <a:ea typeface="-apple-system"/>
              </a:rPr>
              <a:t>训练</a:t>
            </a:r>
            <a:r>
              <a:rPr lang="en-US" altLang="zh-CN" sz="1600" b="1" i="0">
                <a:solidFill>
                  <a:srgbClr val="C00000"/>
                </a:solidFill>
                <a:latin typeface="-apple-system"/>
                <a:ea typeface="-apple-system"/>
              </a:rPr>
              <a:t> Critic </a:t>
            </a:r>
            <a:r>
              <a:rPr lang="zh-CN" altLang="en-US" sz="1600" b="1" i="0">
                <a:solidFill>
                  <a:srgbClr val="C00000"/>
                </a:solidFill>
                <a:latin typeface="-apple-system"/>
                <a:ea typeface="-apple-system"/>
              </a:rPr>
              <a:t>网络准确预测状态价值</a:t>
            </a:r>
            <a:r>
              <a:rPr lang="en-US" altLang="zh-CN" sz="1600" b="1" i="0">
                <a:solidFill>
                  <a:srgbClr val="C00000"/>
                </a:solidFill>
                <a:latin typeface="-apple-system"/>
                <a:ea typeface="-apple-system"/>
              </a:rPr>
              <a:t> Vπ(s)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，从而为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 Actor 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-apple-system"/>
              </a:rPr>
              <a:t>提供高质量的优势函数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-apple-system"/>
              </a:rPr>
              <a:t> Aπ (s,a)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。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PPO 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中最常用的价值损失是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 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均方误差（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MSE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）：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595" y="3417570"/>
            <a:ext cx="3009900" cy="723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9595" y="421957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计算</a:t>
            </a:r>
            <a:r>
              <a:rPr lang="en-US" altLang="zh-CN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V</a:t>
            </a:r>
            <a:r>
              <a:rPr lang="en-US" altLang="zh-CN" sz="1600" baseline="-250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sz="1600" baseline="300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target</a:t>
            </a:r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ppo</a:t>
            </a:r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的标配方法也是</a:t>
            </a:r>
            <a:r>
              <a:rPr lang="en-US" altLang="zh-CN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GAE</a:t>
            </a:r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：</a:t>
            </a:r>
            <a:endParaRPr lang="zh-CN" altLang="en-US" sz="1600">
              <a:solidFill>
                <a:srgbClr val="111133"/>
              </a:solidFill>
              <a:latin typeface="-apple-system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90" y="5002530"/>
            <a:ext cx="2076450" cy="4381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00" y="4735830"/>
            <a:ext cx="2381250" cy="12382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308350" y="5054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其中，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285115" y="6036945"/>
            <a:ext cx="1080008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buFont typeface="+mj-lt"/>
              <a:buNone/>
            </a:pPr>
            <a:r>
              <a:rPr lang="en-US" altLang="zh-CN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Critic</a:t>
            </a:r>
            <a:r>
              <a:rPr lang="zh-CN" altLang="en-US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模型是教练，对</a:t>
            </a:r>
            <a:r>
              <a:rPr lang="en-US" altLang="zh-CN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Actor</a:t>
            </a:r>
            <a:r>
              <a:rPr lang="zh-CN" altLang="en-US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的操作预估分叫做</a:t>
            </a:r>
            <a:r>
              <a:rPr lang="en-US" altLang="zh-CN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values</a:t>
            </a:r>
            <a:r>
              <a:rPr lang="zh-CN" altLang="en-US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，每轮末需要参与调整、训练预估打分网络；</a:t>
            </a:r>
            <a:endParaRPr lang="zh-CN" altLang="en-US"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00000"/>
              </a:lnSpc>
              <a:buFont typeface="+mj-lt"/>
              <a:buNone/>
            </a:pPr>
            <a:r>
              <a:rPr lang="en-US" altLang="zh-CN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reward</a:t>
            </a:r>
            <a:r>
              <a:rPr lang="zh-CN" altLang="en-US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是评委打分，是标准，针对完整轨迹的奖励</a:t>
            </a:r>
            <a:r>
              <a:rPr lang="zh-CN" altLang="en-US" sz="1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总分。</a:t>
            </a:r>
            <a:endParaRPr lang="zh-CN" altLang="en-US" sz="1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51325" y="34963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也即</a:t>
            </a:r>
            <a:r>
              <a:rPr lang="zh-CN" altLang="en-US" sz="1200">
                <a:solidFill>
                  <a:srgbClr val="FF0000"/>
                </a:solidFill>
              </a:rPr>
              <a:t>对真实回报</a:t>
            </a:r>
            <a:r>
              <a:rPr lang="en-US" altLang="zh-CN" sz="1200">
                <a:solidFill>
                  <a:srgbClr val="FF0000"/>
                </a:solidFill>
              </a:rPr>
              <a:t>Rt</a:t>
            </a:r>
            <a:r>
              <a:rPr lang="zh-CN" altLang="en-US" sz="1200">
                <a:solidFill>
                  <a:srgbClr val="FF0000"/>
                </a:solidFill>
              </a:rPr>
              <a:t>的无偏估计</a:t>
            </a:r>
            <a:r>
              <a:rPr lang="zh-CN" altLang="en-US" sz="1200">
                <a:solidFill>
                  <a:srgbClr val="FF0000"/>
                </a:solidFill>
              </a:rPr>
              <a:t>，由公式</a:t>
            </a:r>
            <a:r>
              <a:rPr lang="en-US" altLang="zh-CN" sz="1200">
                <a:solidFill>
                  <a:srgbClr val="FF0000"/>
                </a:solidFill>
              </a:rPr>
              <a:t>Rt = At + V(st)</a:t>
            </a:r>
            <a:r>
              <a:rPr lang="zh-CN" altLang="en-US" sz="1200">
                <a:solidFill>
                  <a:srgbClr val="FF0000"/>
                </a:solidFill>
              </a:rPr>
              <a:t>得来。</a:t>
            </a:r>
            <a:endParaRPr lang="zh-CN" altLang="en-US" sz="1200">
              <a:solidFill>
                <a:srgbClr val="FF0000"/>
              </a:solidFill>
            </a:endParaRPr>
          </a:p>
          <a:p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注意这里不要混淆两个</a:t>
            </a:r>
            <a:r>
              <a:rPr lang="en-US" altLang="zh-CN" sz="1200">
                <a:solidFill>
                  <a:srgbClr val="FF0000"/>
                </a:solidFill>
              </a:rPr>
              <a:t>V(st)</a:t>
            </a:r>
            <a:r>
              <a:rPr lang="zh-CN" altLang="en-US" sz="1200">
                <a:solidFill>
                  <a:srgbClr val="FF0000"/>
                </a:solidFill>
              </a:rPr>
              <a:t>！！一个新</a:t>
            </a:r>
            <a:r>
              <a:rPr lang="zh-CN" altLang="en-US" sz="1200">
                <a:solidFill>
                  <a:srgbClr val="FF0000"/>
                </a:solidFill>
              </a:rPr>
              <a:t>一个旧。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06750" y="3576955"/>
            <a:ext cx="561975" cy="3327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395" y="3248660"/>
            <a:ext cx="2984500" cy="137795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9451975" y="3498215"/>
            <a:ext cx="843280" cy="3327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178925" y="4219575"/>
            <a:ext cx="843280" cy="3327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9595" y="196215"/>
            <a:ext cx="10515600" cy="1325563"/>
          </a:xfrm>
        </p:spPr>
        <p:txBody>
          <a:bodyPr>
            <a:normAutofit/>
          </a:bodyPr>
          <a:p>
            <a:r>
              <a:rPr lang="zh-CN" altLang="en-US">
                <a:solidFill>
                  <a:srgbClr val="C00000"/>
                </a:solidFill>
                <a:sym typeface="+mn-ea"/>
              </a:rPr>
              <a:t>计算</a:t>
            </a:r>
            <a:r>
              <a:rPr lang="zh-CN" altLang="en-US">
                <a:solidFill>
                  <a:srgbClr val="C00000"/>
                </a:solidFill>
                <a:sym typeface="+mn-ea"/>
              </a:rPr>
              <a:t>回报</a:t>
            </a:r>
            <a:endParaRPr lang="zh-CN" altLang="en-US">
              <a:solidFill>
                <a:srgbClr val="C00000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9595" y="1224280"/>
            <a:ext cx="10787380" cy="304609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为什么代码中关于回报的计算是：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returns = advantages + values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？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理论基础：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在强化学习中，两个关键关系：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优势函数定义：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At = Qt − Vt</a:t>
            </a:r>
            <a:endParaRPr lang="en-US" altLang="zh-CN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回报与价值关系：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Rt = Qt = At + Vt</a:t>
            </a:r>
            <a:endParaRPr lang="en-US" altLang="zh-CN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因此：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Rt = At + V(st)</a:t>
            </a:r>
            <a:endParaRPr lang="en-US" altLang="zh-CN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函数定义：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Vt(</a:t>
            </a: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状态价值函数</a:t>
            </a:r>
            <a:r>
              <a:rPr lang="en-US" altLang="zh-CN" sz="1600" b="1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)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含义：在状态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 st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下，遵循当前策略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 π 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时，</a:t>
            </a:r>
            <a:r>
              <a:rPr lang="zh-CN" altLang="en-US" sz="160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预期获得的累积折扣奖励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。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Qt(</a:t>
            </a:r>
            <a:r>
              <a:rPr lang="zh-CN" altLang="en-US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状态</a:t>
            </a:r>
            <a:r>
              <a:rPr lang="en-US" altLang="zh-CN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-</a:t>
            </a:r>
            <a:r>
              <a:rPr lang="zh-CN" altLang="en-US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动作价值函数</a:t>
            </a:r>
            <a:r>
              <a:rPr lang="en-US" altLang="zh-CN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)</a:t>
            </a:r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含义：在状态</a:t>
            </a:r>
            <a:r>
              <a:rPr lang="en-US" altLang="zh-CN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 st</a:t>
            </a:r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下，</a:t>
            </a: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先执行动作</a:t>
            </a:r>
            <a:r>
              <a:rPr lang="en-US" altLang="zh-CN" sz="1600" b="1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 at</a:t>
            </a:r>
            <a:r>
              <a:rPr lang="zh-CN" altLang="en-US" sz="1600" b="1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，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然后遵循策略</a:t>
            </a:r>
            <a:r>
              <a:rPr lang="en-US" altLang="zh-CN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 π</a:t>
            </a:r>
            <a:r>
              <a:rPr lang="zh-CN" altLang="en-US" sz="1600" b="0" i="0">
                <a:solidFill>
                  <a:srgbClr val="111133"/>
                </a:solidFill>
                <a:latin typeface="-apple-system"/>
                <a:ea typeface="宋体" panose="02010600030101010101" pitchFamily="2" charset="-122"/>
              </a:rPr>
              <a:t>，预期获得的累积折扣奖励。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At(</a:t>
            </a:r>
            <a:r>
              <a:rPr lang="zh-CN" altLang="en-US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优势函数</a:t>
            </a:r>
            <a:r>
              <a:rPr lang="en-US" altLang="zh-CN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)</a:t>
            </a:r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含义：在状态</a:t>
            </a:r>
            <a:r>
              <a:rPr lang="en-US" altLang="zh-CN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st</a:t>
            </a:r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下，</a:t>
            </a:r>
            <a:r>
              <a:rPr lang="zh-CN" altLang="en-US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执行动作</a:t>
            </a:r>
            <a:r>
              <a:rPr lang="en-US" altLang="zh-CN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 at</a:t>
            </a:r>
            <a:r>
              <a:rPr lang="zh-CN" altLang="en-US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相对于</a:t>
            </a:r>
            <a:r>
              <a:rPr lang="en-US" altLang="zh-CN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"</a:t>
            </a:r>
            <a:r>
              <a:rPr lang="zh-CN" altLang="en-US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平均水平</a:t>
            </a:r>
            <a:r>
              <a:rPr lang="en-US" altLang="zh-CN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"</a:t>
            </a:r>
            <a:r>
              <a:rPr lang="zh-CN" altLang="en-US" sz="1600" b="1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的额外价值</a:t>
            </a:r>
            <a:r>
              <a:rPr lang="zh-CN" altLang="en-US" sz="1600">
                <a:solidFill>
                  <a:srgbClr val="111133"/>
                </a:solidFill>
                <a:latin typeface="-apple-system"/>
                <a:ea typeface="宋体" panose="02010600030101010101" pitchFamily="2" charset="-122"/>
                <a:sym typeface="+mn-ea"/>
              </a:rPr>
              <a:t>。</a:t>
            </a:r>
            <a:endParaRPr lang="zh-CN" altLang="en-US" sz="1600" b="0" i="0">
              <a:solidFill>
                <a:srgbClr val="111133"/>
              </a:solidFill>
              <a:latin typeface="-apple-system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25" y="4335145"/>
            <a:ext cx="4288155" cy="23431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065" y="4381500"/>
            <a:ext cx="6057900" cy="19113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890" y="942975"/>
            <a:ext cx="4565650" cy="20256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374890" y="5187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为什么要计算回报？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4757</Words>
  <Application>WPS 演示</Application>
  <PresentationFormat>宽屏</PresentationFormat>
  <Paragraphs>281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宋体</vt:lpstr>
      <vt:lpstr>Wingdings</vt:lpstr>
      <vt:lpstr>KaTeX_Math</vt:lpstr>
      <vt:lpstr>Segoe Print</vt:lpstr>
      <vt:lpstr>KaTeX_Main</vt:lpstr>
      <vt:lpstr>微软雅黑</vt:lpstr>
      <vt:lpstr>Arial</vt:lpstr>
      <vt:lpstr>Google Sans Text</vt:lpstr>
      <vt:lpstr>-apple-system</vt:lpstr>
      <vt:lpstr>Wingdings</vt:lpstr>
      <vt:lpstr>Calibri</vt:lpstr>
      <vt:lpstr>Arial Unicode MS</vt:lpstr>
      <vt:lpstr>WPS</vt:lpstr>
      <vt:lpstr>1 ppo算法的诞生背景</vt:lpstr>
      <vt:lpstr>1.1 ppo算法的诞生背景：REINFORCE算法（蒙特卡洛策略梯度）</vt:lpstr>
      <vt:lpstr>1.2 ppo算法的诞生背景：TRPO(信任域策略优化)</vt:lpstr>
      <vt:lpstr>1.3 ppo算法的诞生背景：ppo</vt:lpstr>
      <vt:lpstr>2 ppo算法</vt:lpstr>
      <vt:lpstr>4+2理解法</vt:lpstr>
      <vt:lpstr>几种概念</vt:lpstr>
      <vt:lpstr>基于策略的强化学习的优化目标</vt:lpstr>
      <vt:lpstr>基于策略的强化学习的优化目标：计算梯度</vt:lpstr>
      <vt:lpstr>基于策略的强化学习的优化目标：GAE</vt:lpstr>
      <vt:lpstr>策略损失：重要性采样</vt:lpstr>
      <vt:lpstr>策略损失：从梯度反推出目标函数</vt:lpstr>
      <vt:lpstr>策略损失：1. clip操作</vt:lpstr>
      <vt:lpstr>策略损失：2. KL散度</vt:lpstr>
      <vt:lpstr>为什么需要优势函数？为什么使用GAE计算？</vt:lpstr>
      <vt:lpstr>价值损失：Critic计算 Vπ(s)</vt:lpstr>
      <vt:lpstr>计算回报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我想要两颗西柚</cp:lastModifiedBy>
  <cp:revision>69</cp:revision>
  <dcterms:created xsi:type="dcterms:W3CDTF">2023-08-09T12:44:00Z</dcterms:created>
  <dcterms:modified xsi:type="dcterms:W3CDTF">2025-12-17T02:31:02Z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922E1A4974DC4981A2A42C2BE739F1B0_12</vt:lpwstr>
  </property>
</Properties>
</file>