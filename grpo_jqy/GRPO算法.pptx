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9"/>
    <p:sldId id="272" r:id="rId20"/>
    <p:sldId id="274" r:id="rId21"/>
    <p:sldId id="273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关于</a:t>
            </a:r>
            <a:r>
              <a:rPr lang="en-US" altLang="zh-CN"/>
              <a:t>deepseek</a:t>
            </a:r>
            <a:r>
              <a:rPr lang="zh-CN" altLang="en-US"/>
              <a:t>的解释与研究现状介绍：</a:t>
            </a:r>
            <a:br>
              <a:rPr lang="zh-CN" altLang="en-US"/>
            </a:br>
            <a:r>
              <a:rPr lang="en-US" altLang="zh-CN"/>
              <a:t>https://chat.deepseek.com/a/chat/s/bd1109cb-1277-4fa7-ae45-796fca31b511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https://chat.deepseek.com/a/chat/s/1efc685d-1e29-4c20-9a2e-661bc596f001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jpe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jpe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8.png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5.png"/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image" Target="../media/image32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7.jpeg"/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1.jpeg"/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jpeg"/><Relationship Id="rId3" Type="http://schemas.openxmlformats.org/officeDocument/2006/relationships/image" Target="../media/image40.png"/><Relationship Id="rId2" Type="http://schemas.openxmlformats.org/officeDocument/2006/relationships/image" Target="../media/image42.jpeg"/><Relationship Id="rId1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6.png"/><Relationship Id="rId1" Type="http://schemas.openxmlformats.org/officeDocument/2006/relationships/image" Target="../media/image45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hyperlink" Target="https://huggingface.co/docs/trl/main/en/grpo_trainer" TargetMode="External"/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1.png"/><Relationship Id="rId1" Type="http://schemas.openxmlformats.org/officeDocument/2006/relationships/image" Target="../media/image50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4.png"/><Relationship Id="rId2" Type="http://schemas.openxmlformats.org/officeDocument/2006/relationships/image" Target="../media/image53.jpeg"/><Relationship Id="rId1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image" Target="../media/image55.jpe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1.jpeg"/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image" Target="../media/image58.jpe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2.png"/><Relationship Id="rId4" Type="http://schemas.openxmlformats.org/officeDocument/2006/relationships/image" Target="../media/image61.jpeg"/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image" Target="../media/image58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1783521" y="1819874"/>
            <a:ext cx="8672194" cy="26250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9000"/>
              </a:lnSpc>
            </a:pPr>
            <a:r>
              <a:rPr sz="6000" b="1" kern="0" spc="-5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Group</a:t>
            </a:r>
            <a:r>
              <a:rPr sz="6000" b="1" kern="0" spc="42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6000" b="1" kern="0" spc="-5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Rela</a:t>
            </a:r>
            <a:r>
              <a:rPr sz="6000" b="1" kern="0" spc="-6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tive</a:t>
            </a:r>
            <a:r>
              <a:rPr sz="6000" b="1" kern="0" spc="47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6000" b="1" kern="0" spc="-6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Policy O</a:t>
            </a:r>
            <a:endParaRPr sz="6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357755" algn="l" rtl="0" eaLnBrk="0">
              <a:lnSpc>
                <a:spcPct val="78000"/>
              </a:lnSpc>
              <a:spcBef>
                <a:spcPts val="840"/>
              </a:spcBef>
            </a:pPr>
            <a:r>
              <a:rPr sz="6000" b="1" kern="0" spc="-4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ptimization</a:t>
            </a:r>
            <a:endParaRPr sz="6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855720" algn="l" rtl="0" eaLnBrk="0">
              <a:lnSpc>
                <a:spcPct val="73000"/>
              </a:lnSpc>
              <a:spcBef>
                <a:spcPts val="720"/>
              </a:spcBef>
            </a:pPr>
            <a:r>
              <a:rPr sz="2400" b="1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Mason</a:t>
            </a:r>
            <a:endParaRPr sz="2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568700" algn="l" rtl="0" eaLnBrk="0">
              <a:lnSpc>
                <a:spcPct val="78000"/>
              </a:lnSpc>
              <a:spcBef>
                <a:spcPts val="0"/>
              </a:spcBef>
            </a:pPr>
            <a:r>
              <a:rPr sz="2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2025/11/15</a:t>
            </a:r>
            <a:endParaRPr sz="2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/>
          <p:nvPr/>
        </p:nvSpPr>
        <p:spPr>
          <a:xfrm>
            <a:off x="4078249" y="127299"/>
            <a:ext cx="5125084" cy="12655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3000" b="1" kern="0" spc="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off-policy </a:t>
            </a:r>
            <a:r>
              <a:rPr sz="3000" b="1" kern="0" spc="-1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vs on-policy</a:t>
            </a:r>
            <a:endParaRPr sz="3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68245" algn="l" rtl="0" eaLnBrk="0">
              <a:lnSpc>
                <a:spcPct val="79000"/>
              </a:lnSpc>
              <a:spcBef>
                <a:spcPts val="5"/>
              </a:spcBef>
            </a:pPr>
            <a:r>
              <a:rPr sz="18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Importance weight:</a:t>
            </a:r>
            <a:r>
              <a:rPr sz="1800" b="1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endParaRPr sz="1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680384" y="904202"/>
            <a:ext cx="502448" cy="474592"/>
          </a:xfrm>
          <a:prstGeom prst="rect">
            <a:avLst/>
          </a:prstGeom>
        </p:spPr>
      </p:pic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409575" y="2724150"/>
          <a:ext cx="4572000" cy="1238250"/>
        </p:xfrm>
        <a:graphic>
          <a:graphicData uri="http://schemas.openxmlformats.org/drawingml/2006/table">
            <a:tbl>
              <a:tblPr/>
              <a:tblGrid>
                <a:gridCol w="4572000"/>
              </a:tblGrid>
              <a:tr h="10102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279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409575" y="4105275"/>
          <a:ext cx="4572000" cy="1238250"/>
        </p:xfrm>
        <a:graphic>
          <a:graphicData uri="http://schemas.openxmlformats.org/drawingml/2006/table">
            <a:tbl>
              <a:tblPr/>
              <a:tblGrid>
                <a:gridCol w="4572000"/>
              </a:tblGrid>
              <a:tr h="1219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path 12"/>
          <p:cNvSpPr/>
          <p:nvPr/>
        </p:nvSpPr>
        <p:spPr>
          <a:xfrm>
            <a:off x="2285110" y="6369240"/>
            <a:ext cx="1272921" cy="211747"/>
          </a:xfrm>
          <a:custGeom>
            <a:avLst/>
            <a:gdLst/>
            <a:ahLst/>
            <a:cxnLst/>
            <a:rect l="0" t="0" r="0" b="0"/>
            <a:pathLst>
              <a:path w="2004" h="333">
                <a:moveTo>
                  <a:pt x="301" y="0"/>
                </a:moveTo>
                <a:cubicBezTo>
                  <a:pt x="336" y="9"/>
                  <a:pt x="362" y="28"/>
                  <a:pt x="380" y="58"/>
                </a:cubicBezTo>
                <a:cubicBezTo>
                  <a:pt x="399" y="88"/>
                  <a:pt x="408" y="124"/>
                  <a:pt x="408" y="166"/>
                </a:cubicBezTo>
                <a:cubicBezTo>
                  <a:pt x="408" y="209"/>
                  <a:pt x="399" y="245"/>
                  <a:pt x="380" y="275"/>
                </a:cubicBezTo>
                <a:cubicBezTo>
                  <a:pt x="362" y="305"/>
                  <a:pt x="336" y="324"/>
                  <a:pt x="301" y="333"/>
                </a:cubicBezTo>
                <a:lnTo>
                  <a:pt x="297" y="319"/>
                </a:lnTo>
                <a:cubicBezTo>
                  <a:pt x="324" y="310"/>
                  <a:pt x="344" y="293"/>
                  <a:pt x="358" y="266"/>
                </a:cubicBezTo>
                <a:cubicBezTo>
                  <a:pt x="371" y="239"/>
                  <a:pt x="377" y="206"/>
                  <a:pt x="377" y="165"/>
                </a:cubicBezTo>
                <a:cubicBezTo>
                  <a:pt x="377" y="125"/>
                  <a:pt x="371" y="92"/>
                  <a:pt x="358" y="66"/>
                </a:cubicBezTo>
                <a:cubicBezTo>
                  <a:pt x="345" y="40"/>
                  <a:pt x="324" y="22"/>
                  <a:pt x="297" y="13"/>
                </a:cubicBezTo>
                <a:lnTo>
                  <a:pt x="301" y="0"/>
                </a:lnTo>
                <a:close/>
                <a:moveTo>
                  <a:pt x="106" y="0"/>
                </a:moveTo>
                <a:lnTo>
                  <a:pt x="111" y="13"/>
                </a:lnTo>
                <a:cubicBezTo>
                  <a:pt x="83" y="22"/>
                  <a:pt x="63" y="40"/>
                  <a:pt x="50" y="66"/>
                </a:cubicBezTo>
                <a:cubicBezTo>
                  <a:pt x="37" y="92"/>
                  <a:pt x="30" y="125"/>
                  <a:pt x="30" y="165"/>
                </a:cubicBezTo>
                <a:cubicBezTo>
                  <a:pt x="30" y="206"/>
                  <a:pt x="37" y="239"/>
                  <a:pt x="50" y="266"/>
                </a:cubicBezTo>
                <a:cubicBezTo>
                  <a:pt x="63" y="293"/>
                  <a:pt x="83" y="310"/>
                  <a:pt x="110" y="319"/>
                </a:cubicBezTo>
                <a:lnTo>
                  <a:pt x="106" y="333"/>
                </a:lnTo>
                <a:cubicBezTo>
                  <a:pt x="72" y="324"/>
                  <a:pt x="45" y="305"/>
                  <a:pt x="27" y="275"/>
                </a:cubicBezTo>
                <a:cubicBezTo>
                  <a:pt x="9" y="245"/>
                  <a:pt x="0" y="209"/>
                  <a:pt x="0" y="166"/>
                </a:cubicBezTo>
                <a:cubicBezTo>
                  <a:pt x="0" y="124"/>
                  <a:pt x="9" y="88"/>
                  <a:pt x="27" y="58"/>
                </a:cubicBezTo>
                <a:cubicBezTo>
                  <a:pt x="45" y="28"/>
                  <a:pt x="72" y="9"/>
                  <a:pt x="106" y="0"/>
                </a:cubicBezTo>
              </a:path>
              <a:path w="2004" h="333">
                <a:moveTo>
                  <a:pt x="1898" y="0"/>
                </a:moveTo>
                <a:cubicBezTo>
                  <a:pt x="1932" y="9"/>
                  <a:pt x="1958" y="28"/>
                  <a:pt x="1977" y="58"/>
                </a:cubicBezTo>
                <a:cubicBezTo>
                  <a:pt x="1995" y="88"/>
                  <a:pt x="2004" y="124"/>
                  <a:pt x="2004" y="166"/>
                </a:cubicBezTo>
                <a:cubicBezTo>
                  <a:pt x="2004" y="209"/>
                  <a:pt x="1995" y="245"/>
                  <a:pt x="1977" y="275"/>
                </a:cubicBezTo>
                <a:cubicBezTo>
                  <a:pt x="1958" y="305"/>
                  <a:pt x="1932" y="324"/>
                  <a:pt x="1898" y="333"/>
                </a:cubicBezTo>
                <a:lnTo>
                  <a:pt x="1894" y="319"/>
                </a:lnTo>
                <a:cubicBezTo>
                  <a:pt x="1920" y="310"/>
                  <a:pt x="1941" y="293"/>
                  <a:pt x="1954" y="266"/>
                </a:cubicBezTo>
                <a:cubicBezTo>
                  <a:pt x="1967" y="239"/>
                  <a:pt x="1974" y="206"/>
                  <a:pt x="1974" y="165"/>
                </a:cubicBezTo>
                <a:cubicBezTo>
                  <a:pt x="1974" y="125"/>
                  <a:pt x="1967" y="92"/>
                  <a:pt x="1954" y="66"/>
                </a:cubicBezTo>
                <a:cubicBezTo>
                  <a:pt x="1941" y="40"/>
                  <a:pt x="1920" y="22"/>
                  <a:pt x="1893" y="13"/>
                </a:cubicBezTo>
                <a:lnTo>
                  <a:pt x="1898" y="0"/>
                </a:lnTo>
                <a:close/>
                <a:moveTo>
                  <a:pt x="1702" y="0"/>
                </a:moveTo>
                <a:lnTo>
                  <a:pt x="1707" y="13"/>
                </a:lnTo>
                <a:cubicBezTo>
                  <a:pt x="1680" y="22"/>
                  <a:pt x="1659" y="40"/>
                  <a:pt x="1646" y="66"/>
                </a:cubicBezTo>
                <a:cubicBezTo>
                  <a:pt x="1633" y="92"/>
                  <a:pt x="1626" y="125"/>
                  <a:pt x="1626" y="165"/>
                </a:cubicBezTo>
                <a:cubicBezTo>
                  <a:pt x="1626" y="206"/>
                  <a:pt x="1633" y="239"/>
                  <a:pt x="1646" y="266"/>
                </a:cubicBezTo>
                <a:cubicBezTo>
                  <a:pt x="1659" y="293"/>
                  <a:pt x="1679" y="310"/>
                  <a:pt x="1706" y="319"/>
                </a:cubicBezTo>
                <a:lnTo>
                  <a:pt x="1702" y="333"/>
                </a:lnTo>
                <a:cubicBezTo>
                  <a:pt x="1668" y="324"/>
                  <a:pt x="1642" y="305"/>
                  <a:pt x="1623" y="275"/>
                </a:cubicBezTo>
                <a:cubicBezTo>
                  <a:pt x="1605" y="245"/>
                  <a:pt x="1596" y="209"/>
                  <a:pt x="1596" y="166"/>
                </a:cubicBezTo>
                <a:cubicBezTo>
                  <a:pt x="1596" y="124"/>
                  <a:pt x="1605" y="88"/>
                  <a:pt x="1623" y="58"/>
                </a:cubicBezTo>
                <a:cubicBezTo>
                  <a:pt x="1642" y="28"/>
                  <a:pt x="1668" y="9"/>
                  <a:pt x="1702" y="0"/>
                </a:cubicBezTo>
              </a:path>
            </a:pathLst>
          </a:cu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" name="textbox 14"/>
          <p:cNvSpPr/>
          <p:nvPr/>
        </p:nvSpPr>
        <p:spPr>
          <a:xfrm>
            <a:off x="503555" y="5473417"/>
            <a:ext cx="3173729" cy="12973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9000"/>
              </a:lnSpc>
            </a:pPr>
            <a:r>
              <a:rPr sz="18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Off-policy:</a:t>
            </a:r>
            <a:endParaRPr sz="1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" algn="l" rtl="0" eaLnBrk="0">
              <a:lnSpc>
                <a:spcPct val="78000"/>
              </a:lnSpc>
              <a:spcBef>
                <a:spcPts val="470"/>
              </a:spcBef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8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different </a:t>
            </a:r>
            <a:r>
              <a:rPr sz="18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env</a:t>
            </a:r>
            <a:endParaRPr sz="1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" algn="l" rtl="0" eaLnBrk="0">
              <a:lnSpc>
                <a:spcPct val="92000"/>
              </a:lnSpc>
              <a:spcBef>
                <a:spcPts val="195"/>
              </a:spcBef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8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观察别人学习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</a:t>
            </a:r>
            <a:r>
              <a:rPr sz="1800" kern="0" spc="-10" dirty="0">
                <a:solidFill>
                  <a:srgbClr val="FF0000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数据利</a:t>
            </a:r>
            <a:r>
              <a:rPr sz="1800" kern="0" spc="-20" dirty="0">
                <a:solidFill>
                  <a:srgbClr val="FF0000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用率高</a:t>
            </a:r>
            <a:endParaRPr sz="1800" dirty="0">
              <a:latin typeface="MS Gothic" panose="020B0609070205080204" charset="-128"/>
              <a:ea typeface="MS Gothic" panose="020B0609070205080204" charset="-128"/>
              <a:cs typeface="MS Gothic" panose="020B0609070205080204" charset="-128"/>
            </a:endParaRPr>
          </a:p>
          <a:p>
            <a:pPr algn="l" rtl="0" eaLnBrk="0">
              <a:lnSpc>
                <a:spcPct val="108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" algn="l" rtl="0" eaLnBrk="0">
              <a:lnSpc>
                <a:spcPct val="99000"/>
              </a:lnSpc>
              <a:spcBef>
                <a:spcPts val="5"/>
              </a:spcBef>
            </a:pPr>
            <a:r>
              <a:rPr sz="2700" kern="0" spc="20" baseline="6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2700" kern="0" spc="20" baseline="-4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Ε</a:t>
            </a:r>
            <a:r>
              <a:rPr sz="2000" kern="0" spc="20" baseline="-5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τ~p(θ)</a:t>
            </a:r>
            <a:r>
              <a:rPr sz="2700" kern="0" spc="20" baseline="-4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[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          </a:t>
            </a:r>
            <a:r>
              <a:rPr sz="2700" kern="0" spc="20" baseline="6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R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2700" kern="0" spc="10" baseline="6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τ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 </a:t>
            </a:r>
            <a:r>
              <a:rPr sz="2700" kern="0" spc="10" baseline="4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▽</a:t>
            </a:r>
            <a:r>
              <a:rPr sz="2700" kern="0" spc="0" baseline="4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logp</a:t>
            </a:r>
            <a:r>
              <a:rPr sz="2000" kern="0" spc="10" baseline="5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θ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  </a:t>
            </a:r>
            <a:r>
              <a:rPr sz="2700" kern="0" spc="10" baseline="6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τ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 </a:t>
            </a:r>
            <a:r>
              <a:rPr sz="2700" kern="0" spc="10" baseline="6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]</a:t>
            </a:r>
            <a:endParaRPr sz="2700" baseline="6000" dirty="0"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556023" y="6282016"/>
            <a:ext cx="504353" cy="474529"/>
          </a:xfrm>
          <a:prstGeom prst="rect">
            <a:avLst/>
          </a:prstGeom>
        </p:spPr>
      </p:pic>
      <p:graphicFrame>
        <p:nvGraphicFramePr>
          <p:cNvPr id="18" name="table 18"/>
          <p:cNvGraphicFramePr>
            <a:graphicFrameLocks noGrp="1"/>
          </p:cNvGraphicFramePr>
          <p:nvPr/>
        </p:nvGraphicFramePr>
        <p:xfrm>
          <a:off x="714375" y="428625"/>
          <a:ext cx="1514475" cy="533400"/>
        </p:xfrm>
        <a:graphic>
          <a:graphicData uri="http://schemas.openxmlformats.org/drawingml/2006/table">
            <a:tbl>
              <a:tblPr>
                <a:solidFill>
                  <a:srgbClr val="156082"/>
                </a:solidFill>
              </a:tblPr>
              <a:tblGrid>
                <a:gridCol w="1514475"/>
              </a:tblGrid>
              <a:tr h="5143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4165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1800" b="1" kern="0" spc="-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S Gothic" panose="020B0609070205080204" charset="-128"/>
                          <a:ea typeface="MS Gothic" panose="020B0609070205080204" charset="-128"/>
                          <a:cs typeface="MS Gothic" panose="020B0609070205080204" charset="-128"/>
                        </a:rPr>
                        <a:t>采</a:t>
                      </a:r>
                      <a:r>
                        <a:rPr sz="1800" b="1" kern="0" spc="-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JhengHei" panose="020B0604030504040204" charset="-120"/>
                          <a:ea typeface="Microsoft JhengHei" panose="020B0604030504040204" charset="-120"/>
                          <a:cs typeface="Microsoft JhengHei" panose="020B0604030504040204" charset="-120"/>
                        </a:rPr>
                        <a:t>样</a:t>
                      </a:r>
                      <a:endParaRPr sz="1800" dirty="0">
                        <a:latin typeface="Microsoft JhengHei" panose="020B0604030504040204" charset="-120"/>
                        <a:ea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</a:tbl>
          </a:graphicData>
        </a:graphic>
      </p:graphicFrame>
      <p:sp>
        <p:nvSpPr>
          <p:cNvPr id="20" name="rect 20"/>
          <p:cNvSpPr/>
          <p:nvPr/>
        </p:nvSpPr>
        <p:spPr>
          <a:xfrm>
            <a:off x="2943225" y="419100"/>
            <a:ext cx="1514475" cy="523875"/>
          </a:xfrm>
          <a:prstGeom prst="rect">
            <a:avLst/>
          </a:prstGeom>
          <a:solidFill>
            <a:srgbClr val="15608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" name="textbox 22"/>
          <p:cNvSpPr/>
          <p:nvPr/>
        </p:nvSpPr>
        <p:spPr>
          <a:xfrm>
            <a:off x="2206497" y="549373"/>
            <a:ext cx="7969250" cy="349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46760" algn="l" rtl="0" eaLnBrk="0">
              <a:lnSpc>
                <a:spcPts val="2550"/>
              </a:lnSpc>
              <a:tabLst>
                <a:tab pos="1284605" algn="l"/>
              </a:tabLst>
            </a:pPr>
            <a:r>
              <a:rPr sz="1700" b="1" kern="0" spc="0" dirty="0">
                <a:solidFill>
                  <a:srgbClr val="FFFFFF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	</a:t>
            </a:r>
            <a:r>
              <a:rPr sz="2700" b="1" kern="0" spc="0" baseline="18000" dirty="0">
                <a:solidFill>
                  <a:srgbClr val="FFFFFF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训练</a:t>
            </a:r>
            <a:r>
              <a:rPr sz="1700" b="1" kern="0" spc="0" dirty="0">
                <a:solidFill>
                  <a:srgbClr val="FFFFFF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                                                </a:t>
            </a:r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重要性采</a:t>
            </a:r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样</a:t>
            </a:r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:IS Important sampling</a:t>
            </a:r>
            <a:endParaRPr sz="1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219197" y="648970"/>
            <a:ext cx="734441" cy="76200"/>
          </a:xfrm>
          <a:prstGeom prst="rect">
            <a:avLst/>
          </a:prstGeom>
        </p:spPr>
      </p:pic>
      <p:sp>
        <p:nvSpPr>
          <p:cNvPr id="26" name="path 26"/>
          <p:cNvSpPr/>
          <p:nvPr/>
        </p:nvSpPr>
        <p:spPr>
          <a:xfrm>
            <a:off x="1750695" y="2252979"/>
            <a:ext cx="1273047" cy="211709"/>
          </a:xfrm>
          <a:custGeom>
            <a:avLst/>
            <a:gdLst/>
            <a:ahLst/>
            <a:cxnLst/>
            <a:rect l="0" t="0" r="0" b="0"/>
            <a:pathLst>
              <a:path w="2004" h="333">
                <a:moveTo>
                  <a:pt x="301" y="0"/>
                </a:moveTo>
                <a:cubicBezTo>
                  <a:pt x="336" y="9"/>
                  <a:pt x="362" y="28"/>
                  <a:pt x="380" y="58"/>
                </a:cubicBezTo>
                <a:cubicBezTo>
                  <a:pt x="399" y="88"/>
                  <a:pt x="408" y="124"/>
                  <a:pt x="408" y="166"/>
                </a:cubicBezTo>
                <a:cubicBezTo>
                  <a:pt x="408" y="209"/>
                  <a:pt x="399" y="245"/>
                  <a:pt x="380" y="275"/>
                </a:cubicBezTo>
                <a:cubicBezTo>
                  <a:pt x="362" y="305"/>
                  <a:pt x="336" y="324"/>
                  <a:pt x="301" y="333"/>
                </a:cubicBezTo>
                <a:lnTo>
                  <a:pt x="297" y="319"/>
                </a:lnTo>
                <a:cubicBezTo>
                  <a:pt x="324" y="310"/>
                  <a:pt x="345" y="293"/>
                  <a:pt x="358" y="266"/>
                </a:cubicBezTo>
                <a:cubicBezTo>
                  <a:pt x="371" y="239"/>
                  <a:pt x="377" y="206"/>
                  <a:pt x="377" y="165"/>
                </a:cubicBezTo>
                <a:cubicBezTo>
                  <a:pt x="377" y="125"/>
                  <a:pt x="371" y="92"/>
                  <a:pt x="358" y="66"/>
                </a:cubicBezTo>
                <a:cubicBezTo>
                  <a:pt x="345" y="40"/>
                  <a:pt x="324" y="22"/>
                  <a:pt x="297" y="13"/>
                </a:cubicBezTo>
                <a:lnTo>
                  <a:pt x="301" y="0"/>
                </a:lnTo>
                <a:close/>
                <a:moveTo>
                  <a:pt x="106" y="0"/>
                </a:moveTo>
                <a:lnTo>
                  <a:pt x="111" y="13"/>
                </a:lnTo>
                <a:cubicBezTo>
                  <a:pt x="83" y="22"/>
                  <a:pt x="63" y="40"/>
                  <a:pt x="50" y="66"/>
                </a:cubicBezTo>
                <a:cubicBezTo>
                  <a:pt x="36" y="92"/>
                  <a:pt x="30" y="125"/>
                  <a:pt x="30" y="165"/>
                </a:cubicBezTo>
                <a:cubicBezTo>
                  <a:pt x="30" y="206"/>
                  <a:pt x="36" y="239"/>
                  <a:pt x="50" y="266"/>
                </a:cubicBezTo>
                <a:cubicBezTo>
                  <a:pt x="63" y="293"/>
                  <a:pt x="83" y="310"/>
                  <a:pt x="110" y="319"/>
                </a:cubicBezTo>
                <a:lnTo>
                  <a:pt x="106" y="333"/>
                </a:lnTo>
                <a:cubicBezTo>
                  <a:pt x="71" y="324"/>
                  <a:pt x="45" y="305"/>
                  <a:pt x="27" y="275"/>
                </a:cubicBezTo>
                <a:cubicBezTo>
                  <a:pt x="9" y="245"/>
                  <a:pt x="0" y="209"/>
                  <a:pt x="0" y="166"/>
                </a:cubicBezTo>
                <a:cubicBezTo>
                  <a:pt x="0" y="124"/>
                  <a:pt x="9" y="88"/>
                  <a:pt x="27" y="58"/>
                </a:cubicBezTo>
                <a:cubicBezTo>
                  <a:pt x="46" y="28"/>
                  <a:pt x="72" y="9"/>
                  <a:pt x="106" y="0"/>
                </a:cubicBezTo>
              </a:path>
              <a:path w="2004" h="333">
                <a:moveTo>
                  <a:pt x="1898" y="0"/>
                </a:moveTo>
                <a:cubicBezTo>
                  <a:pt x="1932" y="9"/>
                  <a:pt x="1958" y="28"/>
                  <a:pt x="1977" y="58"/>
                </a:cubicBezTo>
                <a:cubicBezTo>
                  <a:pt x="1995" y="88"/>
                  <a:pt x="2004" y="124"/>
                  <a:pt x="2004" y="166"/>
                </a:cubicBezTo>
                <a:cubicBezTo>
                  <a:pt x="2004" y="209"/>
                  <a:pt x="1995" y="245"/>
                  <a:pt x="1977" y="275"/>
                </a:cubicBezTo>
                <a:cubicBezTo>
                  <a:pt x="1958" y="305"/>
                  <a:pt x="1932" y="324"/>
                  <a:pt x="1898" y="333"/>
                </a:cubicBezTo>
                <a:lnTo>
                  <a:pt x="1894" y="319"/>
                </a:lnTo>
                <a:cubicBezTo>
                  <a:pt x="1921" y="310"/>
                  <a:pt x="1941" y="293"/>
                  <a:pt x="1954" y="266"/>
                </a:cubicBezTo>
                <a:cubicBezTo>
                  <a:pt x="1967" y="239"/>
                  <a:pt x="1974" y="206"/>
                  <a:pt x="1974" y="165"/>
                </a:cubicBezTo>
                <a:cubicBezTo>
                  <a:pt x="1974" y="125"/>
                  <a:pt x="1967" y="92"/>
                  <a:pt x="1954" y="66"/>
                </a:cubicBezTo>
                <a:cubicBezTo>
                  <a:pt x="1941" y="40"/>
                  <a:pt x="1921" y="22"/>
                  <a:pt x="1893" y="13"/>
                </a:cubicBezTo>
                <a:lnTo>
                  <a:pt x="1898" y="0"/>
                </a:lnTo>
                <a:close/>
                <a:moveTo>
                  <a:pt x="1702" y="0"/>
                </a:moveTo>
                <a:lnTo>
                  <a:pt x="1707" y="13"/>
                </a:lnTo>
                <a:cubicBezTo>
                  <a:pt x="1680" y="22"/>
                  <a:pt x="1659" y="40"/>
                  <a:pt x="1646" y="66"/>
                </a:cubicBezTo>
                <a:cubicBezTo>
                  <a:pt x="1633" y="92"/>
                  <a:pt x="1626" y="125"/>
                  <a:pt x="1626" y="165"/>
                </a:cubicBezTo>
                <a:cubicBezTo>
                  <a:pt x="1626" y="206"/>
                  <a:pt x="1633" y="239"/>
                  <a:pt x="1646" y="266"/>
                </a:cubicBezTo>
                <a:cubicBezTo>
                  <a:pt x="1659" y="293"/>
                  <a:pt x="1680" y="310"/>
                  <a:pt x="1706" y="319"/>
                </a:cubicBezTo>
                <a:lnTo>
                  <a:pt x="1702" y="333"/>
                </a:lnTo>
                <a:cubicBezTo>
                  <a:pt x="1668" y="324"/>
                  <a:pt x="1642" y="305"/>
                  <a:pt x="1623" y="275"/>
                </a:cubicBezTo>
                <a:cubicBezTo>
                  <a:pt x="1605" y="245"/>
                  <a:pt x="1596" y="209"/>
                  <a:pt x="1596" y="166"/>
                </a:cubicBezTo>
                <a:cubicBezTo>
                  <a:pt x="1596" y="124"/>
                  <a:pt x="1605" y="88"/>
                  <a:pt x="1623" y="58"/>
                </a:cubicBezTo>
                <a:cubicBezTo>
                  <a:pt x="1642" y="28"/>
                  <a:pt x="1668" y="9"/>
                  <a:pt x="1702" y="0"/>
                </a:cubicBezTo>
              </a:path>
            </a:pathLst>
          </a:cu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" name="textbox 28"/>
          <p:cNvSpPr/>
          <p:nvPr/>
        </p:nvSpPr>
        <p:spPr>
          <a:xfrm>
            <a:off x="506797" y="1704438"/>
            <a:ext cx="3171189" cy="822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8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same env</a:t>
            </a:r>
            <a:endParaRPr sz="1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190"/>
              </a:spcBef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8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边实践边学习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</a:t>
            </a:r>
            <a:r>
              <a:rPr sz="1800" kern="0" spc="-10" dirty="0">
                <a:solidFill>
                  <a:srgbClr val="FF0000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数据</a:t>
            </a:r>
            <a:r>
              <a:rPr sz="1800" kern="0" spc="-20" dirty="0">
                <a:solidFill>
                  <a:srgbClr val="FF0000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利用率低</a:t>
            </a:r>
            <a:endParaRPr sz="1800" dirty="0">
              <a:latin typeface="MS Gothic" panose="020B0609070205080204" charset="-128"/>
              <a:ea typeface="MS Gothic" panose="020B0609070205080204" charset="-128"/>
              <a:cs typeface="MS Gothic" panose="020B0609070205080204" charset="-128"/>
            </a:endParaRPr>
          </a:p>
          <a:p>
            <a:pPr marL="12700" algn="l" rtl="0" eaLnBrk="0">
              <a:lnSpc>
                <a:spcPct val="97000"/>
              </a:lnSpc>
              <a:spcBef>
                <a:spcPts val="315"/>
              </a:spcBef>
            </a:pPr>
            <a:r>
              <a:rPr sz="2700" kern="0" spc="20" baseline="2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2700" kern="0" spc="20" baseline="-4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Ε</a:t>
            </a:r>
            <a:r>
              <a:rPr sz="2000" kern="0" spc="20" baseline="-5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τ~p(θ)</a:t>
            </a:r>
            <a:r>
              <a:rPr sz="2700" kern="0" spc="20" baseline="-4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[R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 </a:t>
            </a:r>
            <a:r>
              <a:rPr sz="2700" kern="0" spc="10" baseline="2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τ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▽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logp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θ   </a:t>
            </a:r>
            <a:r>
              <a:rPr sz="2700" kern="0" spc="10" baseline="2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τ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 </a:t>
            </a:r>
            <a:r>
              <a:rPr sz="2700" kern="0" spc="10" baseline="2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]</a:t>
            </a:r>
            <a:endParaRPr sz="2700" baseline="2000" dirty="0"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graphicFrame>
        <p:nvGraphicFramePr>
          <p:cNvPr id="30" name="table 30"/>
          <p:cNvGraphicFramePr>
            <a:graphicFrameLocks noGrp="1"/>
          </p:cNvGraphicFramePr>
          <p:nvPr/>
        </p:nvGraphicFramePr>
        <p:xfrm>
          <a:off x="819150" y="2971800"/>
          <a:ext cx="1514475" cy="533400"/>
        </p:xfrm>
        <a:graphic>
          <a:graphicData uri="http://schemas.openxmlformats.org/drawingml/2006/table">
            <a:tbl>
              <a:tblPr>
                <a:solidFill>
                  <a:srgbClr val="156082"/>
                </a:solidFill>
              </a:tblPr>
              <a:tblGrid>
                <a:gridCol w="1514475"/>
              </a:tblGrid>
              <a:tr h="5143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4419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1800" b="1" kern="0" spc="-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S Gothic" panose="020B0609070205080204" charset="-128"/>
                          <a:ea typeface="MS Gothic" panose="020B0609070205080204" charset="-128"/>
                          <a:cs typeface="MS Gothic" panose="020B0609070205080204" charset="-128"/>
                        </a:rPr>
                        <a:t>采</a:t>
                      </a:r>
                      <a:r>
                        <a:rPr sz="1800" b="1" kern="0" spc="-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JhengHei" panose="020B0604030504040204" charset="-120"/>
                          <a:ea typeface="Microsoft JhengHei" panose="020B0604030504040204" charset="-120"/>
                          <a:cs typeface="Microsoft JhengHei" panose="020B0604030504040204" charset="-120"/>
                        </a:rPr>
                        <a:t>样</a:t>
                      </a:r>
                      <a:endParaRPr sz="1800" dirty="0">
                        <a:latin typeface="Microsoft JhengHei" panose="020B0604030504040204" charset="-120"/>
                        <a:ea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2"/>
          <p:cNvGraphicFramePr>
            <a:graphicFrameLocks noGrp="1"/>
          </p:cNvGraphicFramePr>
          <p:nvPr/>
        </p:nvGraphicFramePr>
        <p:xfrm>
          <a:off x="3048000" y="2962275"/>
          <a:ext cx="1524000" cy="523875"/>
        </p:xfrm>
        <a:graphic>
          <a:graphicData uri="http://schemas.openxmlformats.org/drawingml/2006/table">
            <a:tbl>
              <a:tblPr>
                <a:solidFill>
                  <a:srgbClr val="156082"/>
                </a:solidFill>
              </a:tblPr>
              <a:tblGrid>
                <a:gridCol w="1524000"/>
              </a:tblGrid>
              <a:tr h="5048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49910" algn="l" rtl="0" eaLnBrk="0">
                        <a:lnSpc>
                          <a:spcPct val="87000"/>
                        </a:lnSpc>
                      </a:pPr>
                      <a:r>
                        <a:rPr sz="18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JhengHei" panose="020B0604030504040204" charset="-120"/>
                          <a:ea typeface="Microsoft JhengHei" panose="020B0604030504040204" charset="-120"/>
                          <a:cs typeface="Microsoft JhengHei" panose="020B0604030504040204" charset="-120"/>
                        </a:rPr>
                        <a:t>训练</a:t>
                      </a:r>
                      <a:endParaRPr sz="1800" dirty="0">
                        <a:latin typeface="Microsoft JhengHei" panose="020B0604030504040204" charset="-120"/>
                        <a:ea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</a:tbl>
          </a:graphicData>
        </a:graphic>
      </p:graphicFrame>
      <p:pic>
        <p:nvPicPr>
          <p:cNvPr id="34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23972" y="3192145"/>
            <a:ext cx="734441" cy="762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90550" y="3202686"/>
            <a:ext cx="4203191" cy="531621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85775" y="659638"/>
            <a:ext cx="4203192" cy="531494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5166225" y="3152743"/>
            <a:ext cx="662940" cy="1609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θ</a:t>
            </a:r>
            <a:r>
              <a:rPr sz="1800" kern="0" spc="-22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2000" kern="0" spc="-10" baseline="29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I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: old</a:t>
            </a:r>
            <a:endParaRPr sz="1800" dirty="0"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  <a:spcBef>
                <a:spcPts val="5"/>
              </a:spcBef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θ:</a:t>
            </a:r>
            <a:r>
              <a:rPr sz="1800" kern="0" spc="-7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new</a:t>
            </a:r>
            <a:endParaRPr sz="1800" dirty="0"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graphicFrame>
        <p:nvGraphicFramePr>
          <p:cNvPr id="42" name="table 42"/>
          <p:cNvGraphicFramePr>
            <a:graphicFrameLocks noGrp="1"/>
          </p:cNvGraphicFramePr>
          <p:nvPr/>
        </p:nvGraphicFramePr>
        <p:xfrm>
          <a:off x="2038350" y="4495800"/>
          <a:ext cx="1514475" cy="533400"/>
        </p:xfrm>
        <a:graphic>
          <a:graphicData uri="http://schemas.openxmlformats.org/drawingml/2006/table">
            <a:tbl>
              <a:tblPr>
                <a:solidFill>
                  <a:srgbClr val="156082"/>
                </a:solidFill>
              </a:tblPr>
              <a:tblGrid>
                <a:gridCol w="1514475"/>
              </a:tblGrid>
              <a:tr h="5143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48640" algn="l" rtl="0" eaLnBrk="0">
                        <a:lnSpc>
                          <a:spcPct val="87000"/>
                        </a:lnSpc>
                      </a:pPr>
                      <a:r>
                        <a:rPr sz="18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JhengHei" panose="020B0604030504040204" charset="-120"/>
                          <a:ea typeface="Microsoft JhengHei" panose="020B0604030504040204" charset="-120"/>
                          <a:cs typeface="Microsoft JhengHei" panose="020B0604030504040204" charset="-120"/>
                        </a:rPr>
                        <a:t>训练</a:t>
                      </a:r>
                      <a:endParaRPr sz="1800" dirty="0">
                        <a:latin typeface="Microsoft JhengHei" panose="020B0604030504040204" charset="-120"/>
                        <a:ea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</a:tbl>
          </a:graphicData>
        </a:graphic>
      </p:graphicFrame>
      <p:pic>
        <p:nvPicPr>
          <p:cNvPr id="44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565783" y="3514597"/>
            <a:ext cx="684529" cy="871601"/>
          </a:xfrm>
          <a:prstGeom prst="rect">
            <a:avLst/>
          </a:prstGeom>
        </p:spPr>
      </p:pic>
      <p:sp>
        <p:nvSpPr>
          <p:cNvPr id="46" name="textbox 46"/>
          <p:cNvSpPr/>
          <p:nvPr/>
        </p:nvSpPr>
        <p:spPr>
          <a:xfrm>
            <a:off x="504508" y="1427833"/>
            <a:ext cx="1143635" cy="243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9000"/>
              </a:lnSpc>
            </a:pPr>
            <a:r>
              <a:rPr sz="18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On-policy:</a:t>
            </a:r>
            <a:endParaRPr sz="1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105525" y="1647825"/>
            <a:ext cx="5810250" cy="2324100"/>
          </a:xfrm>
          <a:prstGeom prst="rect">
            <a:avLst/>
          </a:prstGeom>
        </p:spPr>
      </p:pic>
      <p:sp>
        <p:nvSpPr>
          <p:cNvPr id="50" name="textbox 50"/>
          <p:cNvSpPr/>
          <p:nvPr/>
        </p:nvSpPr>
        <p:spPr>
          <a:xfrm>
            <a:off x="315039" y="1053112"/>
            <a:ext cx="5149850" cy="1470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" algn="l" rtl="0" eaLnBrk="0">
              <a:lnSpc>
                <a:spcPct val="91000"/>
              </a:lnSpc>
            </a:pPr>
            <a:r>
              <a:rPr sz="1500" kern="0" spc="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GAE</a:t>
            </a:r>
            <a:r>
              <a:rPr sz="1500" kern="0" spc="220" dirty="0">
                <a:solidFill>
                  <a:srgbClr val="FF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优势函数 </a:t>
            </a:r>
            <a:r>
              <a:rPr sz="1500" kern="0" spc="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Advantage</a:t>
            </a:r>
            <a:r>
              <a:rPr sz="1500" kern="0" spc="21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500" kern="0" spc="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Function</a:t>
            </a:r>
            <a:endParaRPr sz="1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8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212590" algn="l" rtl="0" eaLnBrk="0">
              <a:lnSpc>
                <a:spcPct val="88000"/>
              </a:lnSpc>
              <a:spcBef>
                <a:spcPts val="305"/>
              </a:spcBef>
            </a:pP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∞</a:t>
            </a:r>
            <a:endParaRPr sz="1000" dirty="0"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  <a:p>
            <a:pPr marL="3065145" algn="l" rtl="0" eaLnBrk="0">
              <a:lnSpc>
                <a:spcPts val="2750"/>
              </a:lnSpc>
              <a:spcBef>
                <a:spcPts val="50"/>
              </a:spcBef>
              <a:tabLst>
                <a:tab pos="5136515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144645" algn="l" rtl="0" eaLnBrk="0">
              <a:lnSpc>
                <a:spcPct val="88000"/>
              </a:lnSpc>
              <a:spcBef>
                <a:spcPts val="10"/>
              </a:spcBef>
            </a:pP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b</a:t>
            </a:r>
            <a:r>
              <a:rPr sz="1000" kern="0" spc="-1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=0</a:t>
            </a:r>
            <a:endParaRPr sz="1000" dirty="0"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  <a:p>
            <a:pPr algn="l" rtl="0" eaLnBrk="0">
              <a:lnSpc>
                <a:spcPct val="115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  <a:spcBef>
                <a:spcPts val="0"/>
              </a:spcBef>
            </a:pPr>
            <a:r>
              <a:rPr sz="1500" b="1" kern="0" spc="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TD</a:t>
            </a:r>
            <a:r>
              <a:rPr sz="1500" b="1" kern="0" spc="22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</a:t>
            </a:r>
            <a:r>
              <a:rPr sz="1500" b="1" kern="0" spc="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Error</a:t>
            </a:r>
            <a:r>
              <a:rPr sz="1500" b="1" kern="0" spc="22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500" b="1" kern="0" spc="22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时间差分误差</a:t>
            </a:r>
            <a:r>
              <a:rPr sz="1500" b="1" kern="0" spc="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Temporal</a:t>
            </a:r>
            <a:r>
              <a:rPr sz="1500" b="1" kern="0" spc="22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500" b="1" kern="0" spc="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Difference</a:t>
            </a:r>
            <a:r>
              <a:rPr sz="1500" b="1" kern="0" spc="14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500" b="1" kern="0" spc="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Error</a:t>
            </a:r>
            <a:endParaRPr sz="1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52" name="pictur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80214" y="1734283"/>
            <a:ext cx="2071952" cy="349350"/>
          </a:xfrm>
          <a:prstGeom prst="rect">
            <a:avLst/>
          </a:prstGeom>
        </p:spPr>
      </p:pic>
      <p:sp>
        <p:nvSpPr>
          <p:cNvPr id="54" name="textbox 54"/>
          <p:cNvSpPr/>
          <p:nvPr/>
        </p:nvSpPr>
        <p:spPr>
          <a:xfrm>
            <a:off x="312835" y="2979956"/>
            <a:ext cx="5602604" cy="1349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1500" b="1" kern="0" spc="140" dirty="0">
                <a:solidFill>
                  <a:srgbClr val="FF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梯度策略</a:t>
            </a:r>
            <a:r>
              <a:rPr sz="1500" b="1" kern="0" spc="14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1500" b="1" kern="0" spc="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Policy</a:t>
            </a:r>
            <a:r>
              <a:rPr sz="1500" b="1" kern="0" spc="14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500" b="1" kern="0" spc="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Gradient</a:t>
            </a:r>
            <a:r>
              <a:rPr sz="1500" b="1" kern="0" spc="14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r>
              <a:rPr sz="1500" b="1" kern="0" spc="140" dirty="0">
                <a:solidFill>
                  <a:srgbClr val="FF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算法更新规则</a:t>
            </a:r>
            <a:endParaRPr sz="15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 rtl="0" eaLnBrk="0">
              <a:lnSpc>
                <a:spcPct val="12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0960" algn="l" rtl="0" eaLnBrk="0">
              <a:lnSpc>
                <a:spcPts val="5460"/>
              </a:lnSpc>
              <a:spcBef>
                <a:spcPts val="0"/>
              </a:spcBef>
              <a:tabLst>
                <a:tab pos="5589270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56" name="picture 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914141" y="3622674"/>
            <a:ext cx="2988310" cy="693414"/>
          </a:xfrm>
          <a:prstGeom prst="rect">
            <a:avLst/>
          </a:prstGeom>
        </p:spPr>
      </p:pic>
      <p:sp>
        <p:nvSpPr>
          <p:cNvPr id="58" name="textbox 58"/>
          <p:cNvSpPr/>
          <p:nvPr/>
        </p:nvSpPr>
        <p:spPr>
          <a:xfrm>
            <a:off x="323234" y="5617749"/>
            <a:ext cx="8582659" cy="8293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1500" b="1" kern="0" spc="90" dirty="0">
                <a:solidFill>
                  <a:srgbClr val="FF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关键点</a:t>
            </a: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：这个</a:t>
            </a:r>
            <a:r>
              <a:rPr sz="1500" b="1" kern="0" spc="16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Label</a:t>
            </a: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必须在一局游戏结束后才能</a:t>
            </a: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计算出来，</a:t>
            </a:r>
            <a:r>
              <a:rPr sz="1500" b="1" kern="0" spc="15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因为它需要用到未来的所有奖励信息</a:t>
            </a:r>
            <a:endParaRPr sz="15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" algn="l" rtl="0" eaLnBrk="0">
              <a:lnSpc>
                <a:spcPct val="83000"/>
              </a:lnSpc>
              <a:spcBef>
                <a:spcPts val="0"/>
              </a:spcBef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Road</a:t>
            </a:r>
            <a:r>
              <a:rPr sz="1500" b="1" kern="0" spc="2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Map</a:t>
            </a:r>
            <a:r>
              <a:rPr sz="1500" b="1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GRPO</a:t>
            </a:r>
            <a:r>
              <a:rPr sz="1500" b="1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&lt;= 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PPO</a:t>
            </a:r>
            <a:r>
              <a:rPr sz="1500" b="1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CLIP</a:t>
            </a:r>
            <a:r>
              <a:rPr sz="1500" b="1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 &lt;= 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TRPO</a:t>
            </a:r>
            <a:r>
              <a:rPr sz="1500" b="1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&lt;=</a:t>
            </a:r>
            <a:r>
              <a:rPr sz="1500" b="1" kern="0" spc="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PG</a:t>
            </a:r>
            <a:r>
              <a:rPr sz="1500" b="1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Policy</a:t>
            </a:r>
            <a:r>
              <a:rPr sz="1500" b="1" kern="0" spc="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Gradient</a:t>
            </a:r>
            <a:r>
              <a:rPr sz="1500" b="1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1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552700" y="4514850"/>
            <a:ext cx="3952875" cy="609600"/>
          </a:xfrm>
          <a:prstGeom prst="rect">
            <a:avLst/>
          </a:prstGeom>
        </p:spPr>
      </p:pic>
      <p:sp>
        <p:nvSpPr>
          <p:cNvPr id="62" name="textbox 62"/>
          <p:cNvSpPr/>
          <p:nvPr/>
        </p:nvSpPr>
        <p:spPr>
          <a:xfrm>
            <a:off x="4675805" y="131879"/>
            <a:ext cx="2880995" cy="3594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3000" b="1" kern="0" spc="-4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Preview</a:t>
            </a:r>
            <a:r>
              <a:rPr sz="3000" b="1" kern="0" spc="27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b="1" kern="0" spc="-4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Lesson</a:t>
            </a:r>
            <a:endParaRPr sz="3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4" name="path 64"/>
          <p:cNvSpPr/>
          <p:nvPr/>
        </p:nvSpPr>
        <p:spPr>
          <a:xfrm>
            <a:off x="4485640" y="2662682"/>
            <a:ext cx="431545" cy="167639"/>
          </a:xfrm>
          <a:custGeom>
            <a:avLst/>
            <a:gdLst/>
            <a:ahLst/>
            <a:cxnLst/>
            <a:rect l="0" t="0" r="0" b="0"/>
            <a:pathLst>
              <a:path w="679" h="263">
                <a:moveTo>
                  <a:pt x="595" y="0"/>
                </a:moveTo>
                <a:cubicBezTo>
                  <a:pt x="622" y="7"/>
                  <a:pt x="643" y="22"/>
                  <a:pt x="657" y="46"/>
                </a:cubicBezTo>
                <a:cubicBezTo>
                  <a:pt x="672" y="70"/>
                  <a:pt x="679" y="98"/>
                  <a:pt x="679" y="132"/>
                </a:cubicBezTo>
                <a:cubicBezTo>
                  <a:pt x="679" y="165"/>
                  <a:pt x="672" y="194"/>
                  <a:pt x="657" y="217"/>
                </a:cubicBezTo>
                <a:cubicBezTo>
                  <a:pt x="643" y="241"/>
                  <a:pt x="622" y="257"/>
                  <a:pt x="595" y="263"/>
                </a:cubicBezTo>
                <a:lnTo>
                  <a:pt x="592" y="253"/>
                </a:lnTo>
                <a:cubicBezTo>
                  <a:pt x="613" y="246"/>
                  <a:pt x="629" y="231"/>
                  <a:pt x="640" y="210"/>
                </a:cubicBezTo>
                <a:cubicBezTo>
                  <a:pt x="650" y="190"/>
                  <a:pt x="655" y="163"/>
                  <a:pt x="655" y="130"/>
                </a:cubicBezTo>
                <a:cubicBezTo>
                  <a:pt x="655" y="99"/>
                  <a:pt x="650" y="73"/>
                  <a:pt x="640" y="52"/>
                </a:cubicBezTo>
                <a:cubicBezTo>
                  <a:pt x="629" y="31"/>
                  <a:pt x="613" y="17"/>
                  <a:pt x="591" y="10"/>
                </a:cubicBezTo>
                <a:lnTo>
                  <a:pt x="595" y="0"/>
                </a:lnTo>
                <a:close/>
                <a:moveTo>
                  <a:pt x="84" y="0"/>
                </a:moveTo>
                <a:lnTo>
                  <a:pt x="87" y="10"/>
                </a:lnTo>
                <a:cubicBezTo>
                  <a:pt x="66" y="17"/>
                  <a:pt x="50" y="31"/>
                  <a:pt x="39" y="52"/>
                </a:cubicBezTo>
                <a:cubicBezTo>
                  <a:pt x="29" y="73"/>
                  <a:pt x="23" y="99"/>
                  <a:pt x="23" y="130"/>
                </a:cubicBezTo>
                <a:cubicBezTo>
                  <a:pt x="23" y="163"/>
                  <a:pt x="29" y="190"/>
                  <a:pt x="39" y="210"/>
                </a:cubicBezTo>
                <a:cubicBezTo>
                  <a:pt x="50" y="231"/>
                  <a:pt x="66" y="246"/>
                  <a:pt x="87" y="253"/>
                </a:cubicBezTo>
                <a:lnTo>
                  <a:pt x="84" y="263"/>
                </a:lnTo>
                <a:cubicBezTo>
                  <a:pt x="56" y="257"/>
                  <a:pt x="36" y="241"/>
                  <a:pt x="21" y="217"/>
                </a:cubicBezTo>
                <a:cubicBezTo>
                  <a:pt x="7" y="194"/>
                  <a:pt x="0" y="165"/>
                  <a:pt x="0" y="132"/>
                </a:cubicBezTo>
                <a:cubicBezTo>
                  <a:pt x="0" y="98"/>
                  <a:pt x="7" y="70"/>
                  <a:pt x="21" y="46"/>
                </a:cubicBezTo>
                <a:cubicBezTo>
                  <a:pt x="36" y="22"/>
                  <a:pt x="57" y="7"/>
                  <a:pt x="84" y="0"/>
                </a:cubicBezTo>
              </a:path>
            </a:pathLst>
          </a:cu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6" name="textbox 66"/>
          <p:cNvSpPr/>
          <p:nvPr/>
        </p:nvSpPr>
        <p:spPr>
          <a:xfrm>
            <a:off x="3176263" y="2635541"/>
            <a:ext cx="1986914" cy="2482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7000"/>
              </a:lnSpc>
              <a:spcBef>
                <a:spcPts val="0"/>
              </a:spcBef>
            </a:pPr>
            <a:r>
              <a:rPr sz="2100" kern="0" spc="-30" baseline="2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δ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   </a:t>
            </a:r>
            <a:r>
              <a:rPr sz="2100" kern="0" spc="-30" baseline="2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=</a:t>
            </a:r>
            <a:r>
              <a:rPr sz="1300" kern="0" spc="6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r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t  </a:t>
            </a:r>
            <a:r>
              <a:rPr sz="2100" kern="0" spc="-30" baseline="2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+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2100" kern="0" spc="-30" baseline="2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Y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 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* V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θ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  </a:t>
            </a:r>
            <a:r>
              <a:rPr sz="2100" kern="0" spc="-30" baseline="-2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s</a:t>
            </a:r>
            <a:r>
              <a:rPr sz="1600" kern="0" spc="-30" baseline="-3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t+</a:t>
            </a:r>
            <a:r>
              <a:rPr sz="1600" kern="0" spc="-40" baseline="-3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1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    </a:t>
            </a:r>
            <a:r>
              <a:rPr sz="2100" kern="0" spc="-40" baseline="2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—</a:t>
            </a:r>
            <a:endParaRPr sz="2100" baseline="2000" dirty="0"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3266773" y="2724296"/>
            <a:ext cx="75564" cy="1593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t</a:t>
            </a:r>
            <a:endParaRPr sz="1000" dirty="0"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70" name="textbox 70"/>
          <p:cNvSpPr/>
          <p:nvPr/>
        </p:nvSpPr>
        <p:spPr>
          <a:xfrm>
            <a:off x="3277815" y="2635541"/>
            <a:ext cx="107314" cy="1123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685"/>
              </a:lnSpc>
            </a:pPr>
            <a:r>
              <a:rPr sz="1000" kern="0" spc="12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v</a:t>
            </a:r>
            <a:endParaRPr sz="1000" dirty="0"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10385930" y="1369599"/>
            <a:ext cx="1239519" cy="234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1500" kern="0" spc="90" dirty="0">
                <a:solidFill>
                  <a:srgbClr val="FF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状态价值函数</a:t>
            </a:r>
            <a:endParaRPr sz="15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graphicFrame>
        <p:nvGraphicFramePr>
          <p:cNvPr id="74" name="table 74"/>
          <p:cNvGraphicFramePr>
            <a:graphicFrameLocks noGrp="1"/>
          </p:cNvGraphicFramePr>
          <p:nvPr/>
        </p:nvGraphicFramePr>
        <p:xfrm>
          <a:off x="5133975" y="2571750"/>
          <a:ext cx="619125" cy="361950"/>
        </p:xfrm>
        <a:graphic>
          <a:graphicData uri="http://schemas.openxmlformats.org/drawingml/2006/table">
            <a:tbl>
              <a:tblPr/>
              <a:tblGrid>
                <a:gridCol w="619125"/>
              </a:tblGrid>
              <a:tr h="342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223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1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V</a:t>
                      </a: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θ</a:t>
                      </a:r>
                      <a:r>
                        <a:rPr sz="1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s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t</a:t>
                      </a:r>
                      <a:r>
                        <a:rPr sz="1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)</a:t>
                      </a:r>
                      <a:endParaRPr sz="1400" dirty="0"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80975" y="590550"/>
            <a:ext cx="11982450" cy="5276850"/>
          </a:xfrm>
          <a:prstGeom prst="rect">
            <a:avLst/>
          </a:prstGeom>
        </p:spPr>
      </p:pic>
      <p:graphicFrame>
        <p:nvGraphicFramePr>
          <p:cNvPr id="78" name="table 78"/>
          <p:cNvGraphicFramePr>
            <a:graphicFrameLocks noGrp="1"/>
          </p:cNvGraphicFramePr>
          <p:nvPr/>
        </p:nvGraphicFramePr>
        <p:xfrm>
          <a:off x="171450" y="581025"/>
          <a:ext cx="12001500" cy="5295900"/>
        </p:xfrm>
        <a:graphic>
          <a:graphicData uri="http://schemas.openxmlformats.org/drawingml/2006/table">
            <a:tbl>
              <a:tblPr/>
              <a:tblGrid>
                <a:gridCol w="12001500"/>
              </a:tblGrid>
              <a:tr h="52863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01010" algn="l" rtl="0" eaLnBrk="0">
                        <a:lnSpc>
                          <a:spcPct val="72000"/>
                        </a:lnSpc>
                        <a:spcBef>
                          <a:spcPts val="5"/>
                        </a:spcBef>
                      </a:pP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动作</a:t>
                      </a:r>
                      <a:endParaRPr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6003290" algn="l" rtl="0" eaLnBrk="0">
                        <a:lnSpc>
                          <a:spcPct val="84000"/>
                        </a:lnSpc>
                        <a:spcBef>
                          <a:spcPts val="15"/>
                        </a:spcBef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对应动作o1的奖励值r1</a:t>
                      </a:r>
                      <a:endParaRPr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0" name="path 80"/>
          <p:cNvSpPr/>
          <p:nvPr/>
        </p:nvSpPr>
        <p:spPr>
          <a:xfrm>
            <a:off x="3694048" y="6222707"/>
            <a:ext cx="492125" cy="185280"/>
          </a:xfrm>
          <a:custGeom>
            <a:avLst/>
            <a:gdLst/>
            <a:ahLst/>
            <a:cxnLst/>
            <a:rect l="0" t="0" r="0" b="0"/>
            <a:pathLst>
              <a:path w="775" h="291">
                <a:moveTo>
                  <a:pt x="682" y="0"/>
                </a:moveTo>
                <a:cubicBezTo>
                  <a:pt x="711" y="7"/>
                  <a:pt x="734" y="24"/>
                  <a:pt x="750" y="51"/>
                </a:cubicBezTo>
                <a:cubicBezTo>
                  <a:pt x="767" y="77"/>
                  <a:pt x="775" y="108"/>
                  <a:pt x="775" y="145"/>
                </a:cubicBezTo>
                <a:cubicBezTo>
                  <a:pt x="775" y="183"/>
                  <a:pt x="767" y="214"/>
                  <a:pt x="750" y="240"/>
                </a:cubicBezTo>
                <a:cubicBezTo>
                  <a:pt x="735" y="266"/>
                  <a:pt x="712" y="283"/>
                  <a:pt x="682" y="291"/>
                </a:cubicBezTo>
                <a:lnTo>
                  <a:pt x="678" y="279"/>
                </a:lnTo>
                <a:cubicBezTo>
                  <a:pt x="702" y="272"/>
                  <a:pt x="719" y="256"/>
                  <a:pt x="730" y="233"/>
                </a:cubicBezTo>
                <a:cubicBezTo>
                  <a:pt x="742" y="209"/>
                  <a:pt x="748" y="180"/>
                  <a:pt x="748" y="144"/>
                </a:cubicBezTo>
                <a:cubicBezTo>
                  <a:pt x="748" y="109"/>
                  <a:pt x="742" y="80"/>
                  <a:pt x="731" y="58"/>
                </a:cubicBezTo>
                <a:cubicBezTo>
                  <a:pt x="719" y="35"/>
                  <a:pt x="701" y="19"/>
                  <a:pt x="677" y="11"/>
                </a:cubicBezTo>
                <a:lnTo>
                  <a:pt x="682" y="0"/>
                </a:lnTo>
                <a:close/>
                <a:moveTo>
                  <a:pt x="92" y="0"/>
                </a:moveTo>
                <a:lnTo>
                  <a:pt x="97" y="11"/>
                </a:lnTo>
                <a:cubicBezTo>
                  <a:pt x="73" y="19"/>
                  <a:pt x="55" y="35"/>
                  <a:pt x="44" y="58"/>
                </a:cubicBezTo>
                <a:cubicBezTo>
                  <a:pt x="32" y="80"/>
                  <a:pt x="26" y="109"/>
                  <a:pt x="26" y="144"/>
                </a:cubicBezTo>
                <a:cubicBezTo>
                  <a:pt x="26" y="180"/>
                  <a:pt x="32" y="209"/>
                  <a:pt x="44" y="233"/>
                </a:cubicBezTo>
                <a:cubicBezTo>
                  <a:pt x="55" y="256"/>
                  <a:pt x="73" y="272"/>
                  <a:pt x="96" y="279"/>
                </a:cubicBezTo>
                <a:lnTo>
                  <a:pt x="92" y="291"/>
                </a:lnTo>
                <a:cubicBezTo>
                  <a:pt x="62" y="283"/>
                  <a:pt x="40" y="266"/>
                  <a:pt x="24" y="240"/>
                </a:cubicBezTo>
                <a:cubicBezTo>
                  <a:pt x="8" y="214"/>
                  <a:pt x="0" y="183"/>
                  <a:pt x="0" y="145"/>
                </a:cubicBezTo>
                <a:cubicBezTo>
                  <a:pt x="0" y="108"/>
                  <a:pt x="8" y="77"/>
                  <a:pt x="24" y="51"/>
                </a:cubicBezTo>
                <a:cubicBezTo>
                  <a:pt x="40" y="24"/>
                  <a:pt x="63" y="7"/>
                  <a:pt x="92" y="0"/>
                </a:cubicBezTo>
              </a:path>
            </a:pathLst>
          </a:cu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2" name="textbox 82"/>
          <p:cNvSpPr/>
          <p:nvPr/>
        </p:nvSpPr>
        <p:spPr>
          <a:xfrm>
            <a:off x="310832" y="6193421"/>
            <a:ext cx="6624955" cy="285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915"/>
              </a:lnSpc>
              <a:spcBef>
                <a:spcPts val="0"/>
              </a:spcBef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Value</a:t>
            </a:r>
            <a:r>
              <a:rPr sz="1500" b="1" kern="0" spc="1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Model</a:t>
            </a:r>
            <a:r>
              <a:rPr sz="1500" b="1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GAE</a:t>
            </a:r>
            <a:r>
              <a:rPr sz="1500" b="1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): 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δ    =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 </a:t>
            </a:r>
            <a:r>
              <a:rPr sz="2400" kern="0" spc="0" baseline="4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r</a:t>
            </a:r>
            <a:r>
              <a:rPr sz="1800" kern="0" spc="0" baseline="6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 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+ Y   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*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1500" kern="0" spc="40" dirty="0">
                <a:solidFill>
                  <a:srgbClr val="FF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V</a:t>
            </a:r>
            <a:r>
              <a:rPr sz="1200" kern="0" spc="40" dirty="0">
                <a:solidFill>
                  <a:srgbClr val="FF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θ   </a:t>
            </a:r>
            <a:r>
              <a:rPr sz="2400" kern="0" spc="0" baseline="1000" dirty="0">
                <a:solidFill>
                  <a:srgbClr val="FF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s</a:t>
            </a:r>
            <a:r>
              <a:rPr sz="1800" kern="0" spc="0" baseline="1000" dirty="0">
                <a:solidFill>
                  <a:srgbClr val="FF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t</a:t>
            </a:r>
            <a:r>
              <a:rPr sz="1800" kern="0" spc="40" baseline="1000" dirty="0">
                <a:solidFill>
                  <a:srgbClr val="FF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+1</a:t>
            </a:r>
            <a:r>
              <a:rPr sz="1100" kern="0" spc="30" dirty="0">
                <a:solidFill>
                  <a:srgbClr val="FF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     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—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1500" kern="0" spc="30" dirty="0">
                <a:solidFill>
                  <a:srgbClr val="FF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V</a:t>
            </a:r>
            <a:r>
              <a:rPr sz="1200" kern="0" spc="30" dirty="0">
                <a:solidFill>
                  <a:srgbClr val="FF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θ</a:t>
            </a:r>
            <a:r>
              <a:rPr sz="1500" kern="0" spc="30" dirty="0">
                <a:solidFill>
                  <a:srgbClr val="FF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(</a:t>
            </a:r>
            <a:r>
              <a:rPr sz="1500" kern="0" spc="0" dirty="0">
                <a:solidFill>
                  <a:srgbClr val="FF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s</a:t>
            </a:r>
            <a:r>
              <a:rPr sz="1200" kern="0" spc="0" dirty="0">
                <a:solidFill>
                  <a:srgbClr val="FF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t</a:t>
            </a:r>
            <a:r>
              <a:rPr sz="1500" kern="0" spc="30" dirty="0">
                <a:solidFill>
                  <a:srgbClr val="FF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)</a:t>
            </a:r>
            <a:r>
              <a:rPr sz="1500" kern="0" spc="210" dirty="0">
                <a:solidFill>
                  <a:srgbClr val="FF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1500" kern="0" spc="30" dirty="0">
                <a:solidFill>
                  <a:srgbClr val="FF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这部分是需要训练的</a:t>
            </a:r>
            <a:endParaRPr sz="15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2302887" y="6294368"/>
            <a:ext cx="82550" cy="178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4000"/>
              </a:lnSpc>
            </a:pP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t</a:t>
            </a:r>
            <a:endParaRPr sz="1200" dirty="0"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2244887" y="6193421"/>
            <a:ext cx="118745" cy="124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780"/>
              </a:lnSpc>
            </a:pP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v</a:t>
            </a:r>
            <a:endParaRPr sz="1200" dirty="0"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4831483" y="127299"/>
            <a:ext cx="2548254" cy="365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3000" b="1" kern="0" spc="-2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Structure</a:t>
            </a:r>
            <a:r>
              <a:rPr sz="3000" b="1" kern="0" spc="18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b="1" kern="0" spc="-2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</a:t>
            </a:r>
            <a:r>
              <a:rPr sz="3000" b="1" kern="0" spc="-3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</a:t>
            </a:r>
            <a:endParaRPr sz="3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9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1543050"/>
            <a:ext cx="6438900" cy="3105150"/>
          </a:xfrm>
          <a:prstGeom prst="rect">
            <a:avLst/>
          </a:prstGeom>
        </p:spPr>
      </p:pic>
      <p:pic>
        <p:nvPicPr>
          <p:cNvPr id="92" name="picture 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8100" y="4933950"/>
            <a:ext cx="6429375" cy="1714500"/>
          </a:xfrm>
          <a:prstGeom prst="rect">
            <a:avLst/>
          </a:prstGeom>
        </p:spPr>
      </p:pic>
      <p:sp>
        <p:nvSpPr>
          <p:cNvPr id="94" name="path 94"/>
          <p:cNvSpPr/>
          <p:nvPr/>
        </p:nvSpPr>
        <p:spPr>
          <a:xfrm>
            <a:off x="9574911" y="901572"/>
            <a:ext cx="260603" cy="211709"/>
          </a:xfrm>
          <a:custGeom>
            <a:avLst/>
            <a:gdLst/>
            <a:ahLst/>
            <a:cxnLst/>
            <a:rect l="0" t="0" r="0" b="0"/>
            <a:pathLst>
              <a:path w="410" h="333">
                <a:moveTo>
                  <a:pt x="303" y="0"/>
                </a:moveTo>
                <a:cubicBezTo>
                  <a:pt x="338" y="9"/>
                  <a:pt x="364" y="28"/>
                  <a:pt x="382" y="58"/>
                </a:cubicBezTo>
                <a:cubicBezTo>
                  <a:pt x="401" y="88"/>
                  <a:pt x="410" y="124"/>
                  <a:pt x="410" y="166"/>
                </a:cubicBezTo>
                <a:cubicBezTo>
                  <a:pt x="410" y="209"/>
                  <a:pt x="401" y="245"/>
                  <a:pt x="382" y="275"/>
                </a:cubicBezTo>
                <a:cubicBezTo>
                  <a:pt x="364" y="305"/>
                  <a:pt x="338" y="324"/>
                  <a:pt x="303" y="333"/>
                </a:cubicBezTo>
                <a:lnTo>
                  <a:pt x="299" y="319"/>
                </a:lnTo>
                <a:cubicBezTo>
                  <a:pt x="326" y="310"/>
                  <a:pt x="346" y="293"/>
                  <a:pt x="360" y="266"/>
                </a:cubicBezTo>
                <a:cubicBezTo>
                  <a:pt x="373" y="239"/>
                  <a:pt x="380" y="205"/>
                  <a:pt x="380" y="165"/>
                </a:cubicBezTo>
                <a:cubicBezTo>
                  <a:pt x="380" y="125"/>
                  <a:pt x="373" y="92"/>
                  <a:pt x="360" y="66"/>
                </a:cubicBezTo>
                <a:cubicBezTo>
                  <a:pt x="347" y="40"/>
                  <a:pt x="326" y="22"/>
                  <a:pt x="299" y="13"/>
                </a:cubicBezTo>
                <a:lnTo>
                  <a:pt x="303" y="0"/>
                </a:lnTo>
                <a:close/>
                <a:moveTo>
                  <a:pt x="106" y="0"/>
                </a:moveTo>
                <a:lnTo>
                  <a:pt x="110" y="13"/>
                </a:lnTo>
                <a:cubicBezTo>
                  <a:pt x="83" y="22"/>
                  <a:pt x="63" y="40"/>
                  <a:pt x="50" y="66"/>
                </a:cubicBezTo>
                <a:cubicBezTo>
                  <a:pt x="36" y="92"/>
                  <a:pt x="30" y="125"/>
                  <a:pt x="30" y="165"/>
                </a:cubicBezTo>
                <a:cubicBezTo>
                  <a:pt x="30" y="205"/>
                  <a:pt x="36" y="239"/>
                  <a:pt x="50" y="266"/>
                </a:cubicBezTo>
                <a:cubicBezTo>
                  <a:pt x="63" y="293"/>
                  <a:pt x="83" y="310"/>
                  <a:pt x="110" y="319"/>
                </a:cubicBezTo>
                <a:lnTo>
                  <a:pt x="106" y="333"/>
                </a:lnTo>
                <a:cubicBezTo>
                  <a:pt x="71" y="324"/>
                  <a:pt x="45" y="305"/>
                  <a:pt x="27" y="275"/>
                </a:cubicBezTo>
                <a:cubicBezTo>
                  <a:pt x="8" y="245"/>
                  <a:pt x="0" y="209"/>
                  <a:pt x="0" y="166"/>
                </a:cubicBezTo>
                <a:cubicBezTo>
                  <a:pt x="0" y="124"/>
                  <a:pt x="8" y="88"/>
                  <a:pt x="27" y="58"/>
                </a:cubicBezTo>
                <a:cubicBezTo>
                  <a:pt x="45" y="28"/>
                  <a:pt x="71" y="9"/>
                  <a:pt x="106" y="0"/>
                </a:cubicBezTo>
              </a:path>
            </a:pathLst>
          </a:cu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" name="group 2"/>
          <p:cNvGrpSpPr/>
          <p:nvPr/>
        </p:nvGrpSpPr>
        <p:grpSpPr>
          <a:xfrm rot="21600000">
            <a:off x="6932041" y="1266825"/>
            <a:ext cx="3402583" cy="352425"/>
            <a:chOff x="0" y="0"/>
            <a:chExt cx="3402583" cy="352425"/>
          </a:xfrm>
        </p:grpSpPr>
        <p:sp>
          <p:nvSpPr>
            <p:cNvPr id="96" name="path 96"/>
            <p:cNvSpPr/>
            <p:nvPr/>
          </p:nvSpPr>
          <p:spPr>
            <a:xfrm>
              <a:off x="0" y="53847"/>
              <a:ext cx="2515234" cy="211709"/>
            </a:xfrm>
            <a:custGeom>
              <a:avLst/>
              <a:gdLst/>
              <a:ahLst/>
              <a:cxnLst/>
              <a:rect l="0" t="0" r="0" b="0"/>
              <a:pathLst>
                <a:path w="3960" h="333">
                  <a:moveTo>
                    <a:pt x="768" y="0"/>
                  </a:moveTo>
                  <a:cubicBezTo>
                    <a:pt x="802" y="9"/>
                    <a:pt x="829" y="28"/>
                    <a:pt x="847" y="58"/>
                  </a:cubicBezTo>
                  <a:cubicBezTo>
                    <a:pt x="865" y="88"/>
                    <a:pt x="874" y="124"/>
                    <a:pt x="874" y="166"/>
                  </a:cubicBezTo>
                  <a:cubicBezTo>
                    <a:pt x="874" y="209"/>
                    <a:pt x="865" y="245"/>
                    <a:pt x="847" y="275"/>
                  </a:cubicBezTo>
                  <a:cubicBezTo>
                    <a:pt x="829" y="305"/>
                    <a:pt x="802" y="324"/>
                    <a:pt x="768" y="333"/>
                  </a:cubicBezTo>
                  <a:lnTo>
                    <a:pt x="764" y="319"/>
                  </a:lnTo>
                  <a:cubicBezTo>
                    <a:pt x="791" y="310"/>
                    <a:pt x="811" y="293"/>
                    <a:pt x="824" y="266"/>
                  </a:cubicBezTo>
                  <a:cubicBezTo>
                    <a:pt x="837" y="239"/>
                    <a:pt x="844" y="205"/>
                    <a:pt x="844" y="165"/>
                  </a:cubicBezTo>
                  <a:cubicBezTo>
                    <a:pt x="844" y="125"/>
                    <a:pt x="837" y="92"/>
                    <a:pt x="824" y="66"/>
                  </a:cubicBezTo>
                  <a:cubicBezTo>
                    <a:pt x="811" y="40"/>
                    <a:pt x="791" y="22"/>
                    <a:pt x="763" y="13"/>
                  </a:cubicBezTo>
                  <a:lnTo>
                    <a:pt x="768" y="0"/>
                  </a:lnTo>
                  <a:close/>
                  <a:moveTo>
                    <a:pt x="106" y="0"/>
                  </a:moveTo>
                  <a:lnTo>
                    <a:pt x="110" y="13"/>
                  </a:lnTo>
                  <a:cubicBezTo>
                    <a:pt x="83" y="22"/>
                    <a:pt x="63" y="40"/>
                    <a:pt x="50" y="66"/>
                  </a:cubicBezTo>
                  <a:cubicBezTo>
                    <a:pt x="36" y="92"/>
                    <a:pt x="30" y="125"/>
                    <a:pt x="30" y="165"/>
                  </a:cubicBezTo>
                  <a:cubicBezTo>
                    <a:pt x="30" y="205"/>
                    <a:pt x="36" y="239"/>
                    <a:pt x="50" y="266"/>
                  </a:cubicBezTo>
                  <a:cubicBezTo>
                    <a:pt x="63" y="293"/>
                    <a:pt x="83" y="310"/>
                    <a:pt x="110" y="319"/>
                  </a:cubicBezTo>
                  <a:lnTo>
                    <a:pt x="106" y="333"/>
                  </a:lnTo>
                  <a:cubicBezTo>
                    <a:pt x="72" y="324"/>
                    <a:pt x="45" y="305"/>
                    <a:pt x="27" y="275"/>
                  </a:cubicBezTo>
                  <a:cubicBezTo>
                    <a:pt x="9" y="245"/>
                    <a:pt x="0" y="209"/>
                    <a:pt x="0" y="166"/>
                  </a:cubicBezTo>
                  <a:cubicBezTo>
                    <a:pt x="0" y="124"/>
                    <a:pt x="9" y="88"/>
                    <a:pt x="27" y="58"/>
                  </a:cubicBezTo>
                  <a:cubicBezTo>
                    <a:pt x="45" y="28"/>
                    <a:pt x="72" y="9"/>
                    <a:pt x="106" y="0"/>
                  </a:cubicBezTo>
                </a:path>
                <a:path w="3960" h="333">
                  <a:moveTo>
                    <a:pt x="3854" y="0"/>
                  </a:moveTo>
                  <a:cubicBezTo>
                    <a:pt x="3889" y="9"/>
                    <a:pt x="3915" y="28"/>
                    <a:pt x="3933" y="58"/>
                  </a:cubicBezTo>
                  <a:cubicBezTo>
                    <a:pt x="3951" y="88"/>
                    <a:pt x="3960" y="124"/>
                    <a:pt x="3960" y="166"/>
                  </a:cubicBezTo>
                  <a:cubicBezTo>
                    <a:pt x="3960" y="209"/>
                    <a:pt x="3951" y="245"/>
                    <a:pt x="3933" y="275"/>
                  </a:cubicBezTo>
                  <a:cubicBezTo>
                    <a:pt x="3915" y="305"/>
                    <a:pt x="3889" y="324"/>
                    <a:pt x="3854" y="333"/>
                  </a:cubicBezTo>
                  <a:lnTo>
                    <a:pt x="3850" y="319"/>
                  </a:lnTo>
                  <a:cubicBezTo>
                    <a:pt x="3877" y="310"/>
                    <a:pt x="3897" y="293"/>
                    <a:pt x="3910" y="266"/>
                  </a:cubicBezTo>
                  <a:cubicBezTo>
                    <a:pt x="3924" y="239"/>
                    <a:pt x="3930" y="205"/>
                    <a:pt x="3930" y="165"/>
                  </a:cubicBezTo>
                  <a:cubicBezTo>
                    <a:pt x="3930" y="125"/>
                    <a:pt x="3924" y="92"/>
                    <a:pt x="3910" y="66"/>
                  </a:cubicBezTo>
                  <a:cubicBezTo>
                    <a:pt x="3897" y="40"/>
                    <a:pt x="3877" y="22"/>
                    <a:pt x="3850" y="13"/>
                  </a:cubicBezTo>
                  <a:lnTo>
                    <a:pt x="3854" y="0"/>
                  </a:lnTo>
                  <a:close/>
                  <a:moveTo>
                    <a:pt x="3193" y="0"/>
                  </a:moveTo>
                  <a:lnTo>
                    <a:pt x="3198" y="13"/>
                  </a:lnTo>
                  <a:cubicBezTo>
                    <a:pt x="3170" y="22"/>
                    <a:pt x="3150" y="40"/>
                    <a:pt x="3137" y="66"/>
                  </a:cubicBezTo>
                  <a:cubicBezTo>
                    <a:pt x="3124" y="92"/>
                    <a:pt x="3117" y="125"/>
                    <a:pt x="3117" y="165"/>
                  </a:cubicBezTo>
                  <a:cubicBezTo>
                    <a:pt x="3117" y="205"/>
                    <a:pt x="3124" y="239"/>
                    <a:pt x="3137" y="266"/>
                  </a:cubicBezTo>
                  <a:cubicBezTo>
                    <a:pt x="3150" y="293"/>
                    <a:pt x="3170" y="310"/>
                    <a:pt x="3198" y="319"/>
                  </a:cubicBezTo>
                  <a:lnTo>
                    <a:pt x="3193" y="333"/>
                  </a:lnTo>
                  <a:cubicBezTo>
                    <a:pt x="3159" y="324"/>
                    <a:pt x="3133" y="305"/>
                    <a:pt x="3114" y="275"/>
                  </a:cubicBezTo>
                  <a:cubicBezTo>
                    <a:pt x="3096" y="245"/>
                    <a:pt x="3087" y="209"/>
                    <a:pt x="3087" y="166"/>
                  </a:cubicBezTo>
                  <a:cubicBezTo>
                    <a:pt x="3087" y="124"/>
                    <a:pt x="3096" y="88"/>
                    <a:pt x="3115" y="58"/>
                  </a:cubicBezTo>
                  <a:cubicBezTo>
                    <a:pt x="3133" y="28"/>
                    <a:pt x="3159" y="9"/>
                    <a:pt x="3193" y="0"/>
                  </a:cubicBezTo>
                </a:path>
              </a:pathLst>
            </a:custGeom>
            <a:solidFill>
              <a:srgbClr val="000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8" name="path 98"/>
            <p:cNvSpPr/>
            <p:nvPr/>
          </p:nvSpPr>
          <p:spPr>
            <a:xfrm>
              <a:off x="754633" y="0"/>
              <a:ext cx="2647950" cy="352425"/>
            </a:xfrm>
            <a:custGeom>
              <a:avLst/>
              <a:gdLst/>
              <a:ahLst/>
              <a:cxnLst/>
              <a:rect l="0" t="0" r="0" b="0"/>
              <a:pathLst>
                <a:path w="4170" h="555">
                  <a:moveTo>
                    <a:pt x="15" y="540"/>
                  </a:moveTo>
                  <a:lnTo>
                    <a:pt x="4155" y="540"/>
                  </a:lnTo>
                  <a:lnTo>
                    <a:pt x="4155" y="15"/>
                  </a:lnTo>
                  <a:lnTo>
                    <a:pt x="15" y="15"/>
                  </a:lnTo>
                  <a:lnTo>
                    <a:pt x="15" y="540"/>
                  </a:lnTo>
                  <a:close/>
                </a:path>
              </a:pathLst>
            </a:custGeom>
            <a:noFill/>
            <a:ln w="19050" cap="flat">
              <a:solidFill>
                <a:srgbClr val="00B05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00" name="textbox 100"/>
          <p:cNvSpPr/>
          <p:nvPr/>
        </p:nvSpPr>
        <p:spPr>
          <a:xfrm>
            <a:off x="6638161" y="883368"/>
            <a:ext cx="3770629" cy="1082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44830" algn="l" rtl="0" eaLnBrk="0">
              <a:lnSpc>
                <a:spcPts val="2070"/>
              </a:lnSpc>
            </a:pPr>
            <a:r>
              <a:rPr sz="2000" kern="0" spc="320" baseline="13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A</a:t>
            </a:r>
            <a:r>
              <a:rPr sz="1500" kern="0" spc="320" baseline="18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θ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              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1300" kern="0" spc="-17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sa</a:t>
            </a:r>
            <a:r>
              <a:rPr sz="1300" kern="0" spc="13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 </a:t>
            </a:r>
            <a:r>
              <a:rPr sz="1300" kern="0" spc="-17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=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 </a:t>
            </a:r>
            <a:r>
              <a:rPr sz="1300" kern="0" spc="-17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Q</a:t>
            </a:r>
            <a:r>
              <a:rPr sz="900" kern="0" spc="27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θ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                  </a:t>
            </a:r>
            <a:r>
              <a:rPr sz="1300" kern="0" spc="-2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sa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 </a:t>
            </a:r>
            <a:r>
              <a:rPr sz="2000" kern="0" spc="-200" baseline="13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—</a:t>
            </a:r>
            <a:r>
              <a:rPr sz="1200" kern="0" spc="23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2000" kern="0" spc="-200" baseline="13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V</a:t>
            </a:r>
            <a:r>
              <a:rPr sz="1500" kern="0" spc="-200" baseline="18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θ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   </a:t>
            </a:r>
            <a:r>
              <a:rPr sz="1300" kern="0" spc="27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s</a:t>
            </a:r>
            <a:endParaRPr sz="1300" dirty="0"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  <a:p>
            <a:pPr marL="12700" algn="l" rtl="0" eaLnBrk="0">
              <a:lnSpc>
                <a:spcPct val="96000"/>
              </a:lnSpc>
              <a:spcBef>
                <a:spcPts val="1230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A</a:t>
            </a:r>
            <a:r>
              <a:rPr sz="2000" kern="0" spc="0" baseline="-3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θ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 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s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t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, </a:t>
            </a:r>
            <a:r>
              <a:rPr sz="2700" kern="0" spc="0" baseline="4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a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  </a:t>
            </a:r>
            <a:r>
              <a:rPr sz="2700" kern="0" spc="0" baseline="4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=</a:t>
            </a:r>
            <a:r>
              <a:rPr sz="1700" kern="0" spc="17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r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t  </a:t>
            </a:r>
            <a:r>
              <a:rPr sz="2700" kern="0" spc="0" baseline="4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+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2700" kern="0" spc="0" baseline="4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Y</a:t>
            </a:r>
            <a:r>
              <a:rPr sz="1700" kern="0" spc="1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*</a:t>
            </a: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V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θ   </a:t>
            </a:r>
            <a:r>
              <a:rPr sz="2700" kern="0" spc="0" baseline="-4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s</a:t>
            </a:r>
            <a:r>
              <a:rPr sz="2000" kern="0" spc="0" baseline="-5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t+1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 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  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—</a:t>
            </a: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V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θ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(s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t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)</a:t>
            </a:r>
            <a:endParaRPr sz="1800" dirty="0"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  <a:p>
            <a:pPr algn="l" rtl="0" eaLnBrk="0">
              <a:lnSpc>
                <a:spcPct val="103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39875" algn="l" rtl="0" eaLnBrk="0">
              <a:lnSpc>
                <a:spcPct val="73000"/>
              </a:lnSpc>
            </a:pPr>
            <a:r>
              <a:rPr sz="1800" kern="0" spc="-70" dirty="0">
                <a:solidFill>
                  <a:srgbClr val="00B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TD-Error</a:t>
            </a:r>
            <a:endParaRPr sz="1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02" name="picture 1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545932" y="901572"/>
            <a:ext cx="478917" cy="211709"/>
          </a:xfrm>
          <a:prstGeom prst="rect">
            <a:avLst/>
          </a:prstGeom>
        </p:spPr>
      </p:pic>
      <p:pic>
        <p:nvPicPr>
          <p:cNvPr id="104" name="picture 1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462756" y="901572"/>
            <a:ext cx="478917" cy="211709"/>
          </a:xfrm>
          <a:prstGeom prst="rect">
            <a:avLst/>
          </a:prstGeom>
        </p:spPr>
      </p:pic>
      <p:pic>
        <p:nvPicPr>
          <p:cNvPr id="106" name="picture 10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162800" y="2476500"/>
            <a:ext cx="3914775" cy="809625"/>
          </a:xfrm>
          <a:prstGeom prst="rect">
            <a:avLst/>
          </a:prstGeom>
        </p:spPr>
      </p:pic>
      <p:sp>
        <p:nvSpPr>
          <p:cNvPr id="108" name="textbox 108"/>
          <p:cNvSpPr/>
          <p:nvPr/>
        </p:nvSpPr>
        <p:spPr>
          <a:xfrm>
            <a:off x="8359078" y="3353813"/>
            <a:ext cx="1316355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800" b="1" kern="0" spc="-80" dirty="0">
                <a:solidFill>
                  <a:srgbClr val="00B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GRPO</a:t>
            </a:r>
            <a:r>
              <a:rPr sz="1800" b="1" kern="0" spc="-80" dirty="0">
                <a:solidFill>
                  <a:srgbClr val="00B05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创新点</a:t>
            </a:r>
            <a:endParaRPr sz="18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10" name="textbox 110"/>
          <p:cNvSpPr/>
          <p:nvPr/>
        </p:nvSpPr>
        <p:spPr>
          <a:xfrm>
            <a:off x="5670340" y="131879"/>
            <a:ext cx="888364" cy="3594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3000" b="1" kern="0" spc="-5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Math</a:t>
            </a:r>
            <a:endParaRPr sz="3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38900" y="1965960"/>
            <a:ext cx="1818640" cy="685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第</a:t>
            </a:r>
            <a:r>
              <a:rPr lang="en-US" altLang="zh-CN">
                <a:solidFill>
                  <a:srgbClr val="FF0000"/>
                </a:solidFill>
              </a:rPr>
              <a:t> i </a:t>
            </a:r>
            <a:r>
              <a:rPr lang="zh-CN" altLang="en-US">
                <a:solidFill>
                  <a:srgbClr val="FF0000"/>
                </a:solidFill>
              </a:rPr>
              <a:t>个动作在时间步</a:t>
            </a:r>
            <a:r>
              <a:rPr lang="en-US" altLang="zh-CN">
                <a:solidFill>
                  <a:srgbClr val="FF0000"/>
                </a:solidFill>
              </a:rPr>
              <a:t> t </a:t>
            </a:r>
            <a:r>
              <a:rPr lang="zh-CN" altLang="en-US">
                <a:solidFill>
                  <a:srgbClr val="FF0000"/>
                </a:solidFill>
              </a:rPr>
              <a:t>的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相对优势估计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675495" y="3286125"/>
            <a:ext cx="2218690" cy="685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对</a:t>
            </a:r>
            <a:r>
              <a:rPr lang="en-US" altLang="zh-CN">
                <a:solidFill>
                  <a:srgbClr val="FF0000"/>
                </a:solidFill>
              </a:rPr>
              <a:t> ri </a:t>
            </a:r>
            <a:r>
              <a:rPr lang="zh-CN" altLang="en-US">
                <a:solidFill>
                  <a:srgbClr val="FF0000"/>
                </a:solidFill>
              </a:rPr>
              <a:t>进行标准化后的值（即</a:t>
            </a:r>
            <a:r>
              <a:rPr lang="en-US" altLang="zh-CN">
                <a:solidFill>
                  <a:srgbClr val="FF0000"/>
                </a:solidFill>
              </a:rPr>
              <a:t> z-score</a:t>
            </a:r>
            <a:r>
              <a:rPr lang="zh-CN" altLang="en-US">
                <a:solidFill>
                  <a:srgbClr val="FF0000"/>
                </a:solidFill>
              </a:rPr>
              <a:t>）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rcRect r="4745" b="448"/>
          <a:stretch>
            <a:fillRect/>
          </a:stretch>
        </p:blipFill>
        <p:spPr>
          <a:xfrm>
            <a:off x="6438900" y="3917315"/>
            <a:ext cx="5697855" cy="26206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1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123950" y="552450"/>
            <a:ext cx="9944100" cy="1219200"/>
          </a:xfrm>
          <a:prstGeom prst="rect">
            <a:avLst/>
          </a:prstGeom>
        </p:spPr>
      </p:pic>
      <p:pic>
        <p:nvPicPr>
          <p:cNvPr id="112" name="picture 1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81000" y="4638675"/>
            <a:ext cx="6162675" cy="2009775"/>
          </a:xfrm>
          <a:prstGeom prst="rect">
            <a:avLst/>
          </a:prstGeom>
        </p:spPr>
      </p:pic>
      <p:sp>
        <p:nvSpPr>
          <p:cNvPr id="116" name="textbox 116"/>
          <p:cNvSpPr/>
          <p:nvPr/>
        </p:nvSpPr>
        <p:spPr>
          <a:xfrm>
            <a:off x="4583719" y="2093474"/>
            <a:ext cx="1333500" cy="9169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7820" algn="l" rtl="0" eaLnBrk="0">
              <a:lnSpc>
                <a:spcPct val="89000"/>
              </a:lnSpc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替代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GAE: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065" algn="l" rtl="0" eaLnBrk="0">
              <a:lnSpc>
                <a:spcPct val="87000"/>
              </a:lnSpc>
              <a:spcBef>
                <a:spcPts val="110"/>
              </a:spcBef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整个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组内的均值</a:t>
            </a:r>
            <a:endParaRPr sz="1200" dirty="0">
              <a:latin typeface="Microsoft JhengHei" panose="020B0604030504040204" charset="-120"/>
              <a:ea typeface="Microsoft JhengHei" panose="020B0604030504040204" charset="-120"/>
              <a:cs typeface="Microsoft JhengHei" panose="020B0604030504040204" charset="-120"/>
            </a:endParaRPr>
          </a:p>
          <a:p>
            <a:pPr marL="292100" algn="l" rtl="0" eaLnBrk="0">
              <a:lnSpc>
                <a:spcPct val="87000"/>
              </a:lnSpc>
              <a:spcBef>
                <a:spcPts val="175"/>
              </a:spcBef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这里是一个</a:t>
            </a:r>
            <a:endParaRPr sz="1200" dirty="0">
              <a:latin typeface="Microsoft JhengHei" panose="020B0604030504040204" charset="-120"/>
              <a:ea typeface="Microsoft JhengHei" panose="020B0604030504040204" charset="-120"/>
              <a:cs typeface="Microsoft JhengHei" panose="020B0604030504040204" charset="-120"/>
            </a:endParaRPr>
          </a:p>
          <a:p>
            <a:pPr marL="12700" algn="l" rtl="0" eaLnBrk="0">
              <a:lnSpc>
                <a:spcPct val="87000"/>
              </a:lnSpc>
              <a:spcBef>
                <a:spcPts val="265"/>
              </a:spcBef>
            </a:pPr>
            <a:r>
              <a:rPr sz="1200" kern="0" spc="0" dirty="0">
                <a:solidFill>
                  <a:srgbClr val="00B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sentence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级别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对应</a:t>
            </a:r>
            <a:endParaRPr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282575" algn="l" rtl="0" eaLnBrk="0">
              <a:lnSpc>
                <a:spcPct val="87000"/>
              </a:lnSpc>
              <a:spcBef>
                <a:spcPts val="175"/>
              </a:spcBef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是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tokens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8" name="textbox 118"/>
          <p:cNvSpPr/>
          <p:nvPr/>
        </p:nvSpPr>
        <p:spPr>
          <a:xfrm>
            <a:off x="4664629" y="127299"/>
            <a:ext cx="2894329" cy="389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9000"/>
              </a:lnSpc>
            </a:pPr>
            <a:r>
              <a:rPr sz="3000" b="1" kern="0" spc="-2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Parsing formula</a:t>
            </a:r>
            <a:endParaRPr sz="3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20" name="picture 1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476750" y="3057525"/>
            <a:ext cx="1771650" cy="371475"/>
          </a:xfrm>
          <a:prstGeom prst="rect">
            <a:avLst/>
          </a:prstGeom>
        </p:spPr>
      </p:pic>
      <p:sp>
        <p:nvSpPr>
          <p:cNvPr id="122" name="textbox 122"/>
          <p:cNvSpPr/>
          <p:nvPr/>
        </p:nvSpPr>
        <p:spPr>
          <a:xfrm>
            <a:off x="697623" y="3897093"/>
            <a:ext cx="1562735" cy="31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270"/>
              </a:lnSpc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一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组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output:</a:t>
            </a:r>
            <a:r>
              <a:rPr sz="1800" kern="0" spc="2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|o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i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|</a:t>
            </a:r>
            <a:endParaRPr sz="1800" dirty="0"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3561588" y="2022729"/>
            <a:ext cx="777240" cy="184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重要性采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样</a:t>
            </a:r>
            <a:endParaRPr sz="1200" dirty="0">
              <a:latin typeface="Microsoft JhengHei" panose="020B0604030504040204" charset="-120"/>
              <a:ea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1797904" y="2802378"/>
            <a:ext cx="745490" cy="184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Group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级别</a:t>
            </a:r>
            <a:endParaRPr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2487801" y="2431005"/>
            <a:ext cx="320040" cy="184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均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值</a:t>
            </a:r>
            <a:endParaRPr sz="1200" dirty="0">
              <a:latin typeface="Microsoft JhengHei" panose="020B0604030504040204" charset="-120"/>
              <a:ea typeface="Microsoft JhengHei" panose="020B0604030504040204" charset="-120"/>
              <a:cs typeface="Microsoft JhengHei" panose="020B0604030504040204" charset="-120"/>
            </a:endParaRPr>
          </a:p>
        </p:txBody>
      </p:sp>
      <p:pic>
        <p:nvPicPr>
          <p:cNvPr id="130" name="picture 1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772029" y="1704975"/>
            <a:ext cx="76200" cy="1345311"/>
          </a:xfrm>
          <a:prstGeom prst="rect">
            <a:avLst/>
          </a:prstGeom>
        </p:spPr>
      </p:pic>
      <p:sp>
        <p:nvSpPr>
          <p:cNvPr id="132" name="textbox 132"/>
          <p:cNvSpPr/>
          <p:nvPr/>
        </p:nvSpPr>
        <p:spPr>
          <a:xfrm>
            <a:off x="2487295" y="3140710"/>
            <a:ext cx="819785" cy="146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lang="en-US" sz="1200" kern="0" spc="-20" dirty="0">
                <a:solidFill>
                  <a:srgbClr val="000000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Token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级别</a:t>
            </a:r>
            <a:endParaRPr sz="1200" dirty="0">
              <a:latin typeface="Microsoft JhengHei" panose="020B0604030504040204" charset="-120"/>
              <a:ea typeface="Microsoft JhengHei" panose="020B0604030504040204" charset="-120"/>
              <a:cs typeface="Microsoft JhengHei" panose="020B0604030504040204" charset="-120"/>
            </a:endParaRPr>
          </a:p>
        </p:txBody>
      </p:sp>
      <p:pic>
        <p:nvPicPr>
          <p:cNvPr id="134" name="picture 1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121789" y="1666747"/>
            <a:ext cx="76200" cy="1077214"/>
          </a:xfrm>
          <a:prstGeom prst="rect">
            <a:avLst/>
          </a:prstGeom>
        </p:spPr>
      </p:pic>
      <p:pic>
        <p:nvPicPr>
          <p:cNvPr id="136" name="picture 1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600325" y="1666875"/>
            <a:ext cx="76200" cy="671449"/>
          </a:xfrm>
          <a:prstGeom prst="rect">
            <a:avLst/>
          </a:prstGeom>
        </p:spPr>
      </p:pic>
      <p:sp>
        <p:nvSpPr>
          <p:cNvPr id="138" name="textbox 138"/>
          <p:cNvSpPr/>
          <p:nvPr/>
        </p:nvSpPr>
        <p:spPr>
          <a:xfrm>
            <a:off x="2894807" y="2011305"/>
            <a:ext cx="321309" cy="178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4000"/>
              </a:lnSpc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求和</a:t>
            </a:r>
            <a:endParaRPr sz="1200" dirty="0">
              <a:latin typeface="MS Gothic" panose="020B0609070205080204" charset="-128"/>
              <a:ea typeface="MS Gothic" panose="020B0609070205080204" charset="-128"/>
              <a:cs typeface="MS Gothic" panose="020B0609070205080204" charset="-128"/>
            </a:endParaRPr>
          </a:p>
        </p:txBody>
      </p:sp>
      <p:pic>
        <p:nvPicPr>
          <p:cNvPr id="140" name="picture 1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210175" y="1562100"/>
            <a:ext cx="76200" cy="476377"/>
          </a:xfrm>
          <a:prstGeom prst="rect">
            <a:avLst/>
          </a:prstGeom>
        </p:spPr>
      </p:pic>
      <p:pic>
        <p:nvPicPr>
          <p:cNvPr id="142" name="picture 1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905250" y="1638300"/>
            <a:ext cx="76200" cy="303148"/>
          </a:xfrm>
          <a:prstGeom prst="rect">
            <a:avLst/>
          </a:prstGeom>
        </p:spPr>
      </p:pic>
      <p:pic>
        <p:nvPicPr>
          <p:cNvPr id="144" name="picture 1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962275" y="1666875"/>
            <a:ext cx="76200" cy="26822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563620" y="375539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表示新策略与旧策略在生成第</a:t>
            </a:r>
            <a:r>
              <a:rPr lang="en-US" altLang="zh-CN">
                <a:solidFill>
                  <a:srgbClr val="FF0000"/>
                </a:solidFill>
              </a:rPr>
              <a:t> t </a:t>
            </a:r>
            <a:r>
              <a:rPr lang="zh-CN" altLang="en-US">
                <a:solidFill>
                  <a:srgbClr val="FF0000"/>
                </a:solidFill>
              </a:rPr>
              <a:t>个</a:t>
            </a:r>
            <a:r>
              <a:rPr lang="en-US" altLang="zh-CN">
                <a:solidFill>
                  <a:srgbClr val="FF0000"/>
                </a:solidFill>
              </a:rPr>
              <a:t> token </a:t>
            </a:r>
            <a:r>
              <a:rPr lang="zh-CN" altLang="en-US">
                <a:solidFill>
                  <a:srgbClr val="FF0000"/>
                </a:solidFill>
              </a:rPr>
              <a:t>时的概率比</a:t>
            </a:r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>
            <a:off x="3917950" y="2291715"/>
            <a:ext cx="54610" cy="134556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7559040" y="127000"/>
            <a:ext cx="45275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含义：第</a:t>
            </a:r>
            <a:r>
              <a:rPr lang="en-US" altLang="zh-CN">
                <a:solidFill>
                  <a:srgbClr val="FF0000"/>
                </a:solidFill>
              </a:rPr>
              <a:t>i</a:t>
            </a:r>
            <a:r>
              <a:rPr lang="zh-CN" altLang="en-US">
                <a:solidFill>
                  <a:srgbClr val="FF0000"/>
                </a:solidFill>
              </a:rPr>
              <a:t>个输出序列中的第</a:t>
            </a:r>
            <a:r>
              <a:rPr lang="en-US" altLang="zh-CN">
                <a:solidFill>
                  <a:srgbClr val="FF0000"/>
                </a:solidFill>
              </a:rPr>
              <a:t>t</a:t>
            </a:r>
            <a:r>
              <a:rPr lang="zh-CN" altLang="en-US">
                <a:solidFill>
                  <a:srgbClr val="FF0000"/>
                </a:solidFill>
              </a:rPr>
              <a:t>个</a:t>
            </a:r>
            <a:r>
              <a:rPr lang="en-US" altLang="zh-CN">
                <a:solidFill>
                  <a:srgbClr val="FF0000"/>
                </a:solidFill>
              </a:rPr>
              <a:t>token/</a:t>
            </a:r>
            <a:r>
              <a:rPr lang="zh-CN" altLang="en-US">
                <a:solidFill>
                  <a:srgbClr val="FF0000"/>
                </a:solidFill>
              </a:rPr>
              <a:t>动作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在序列生成中的意义：表示在序列生成过程中的当前决策点。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72860" y="1028065"/>
            <a:ext cx="263525" cy="3683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6710680" y="673735"/>
            <a:ext cx="662305" cy="31877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6910070" y="1336675"/>
            <a:ext cx="391160" cy="3683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445250" y="2189480"/>
            <a:ext cx="2554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含义：在第</a:t>
            </a:r>
            <a:r>
              <a:rPr lang="en-US" altLang="zh-CN">
                <a:solidFill>
                  <a:srgbClr val="FF0000"/>
                </a:solidFill>
              </a:rPr>
              <a:t>i</a:t>
            </a:r>
            <a:r>
              <a:rPr lang="zh-CN" altLang="en-US">
                <a:solidFill>
                  <a:srgbClr val="FF0000"/>
                </a:solidFill>
              </a:rPr>
              <a:t>个序列中，</a:t>
            </a:r>
            <a:r>
              <a:rPr lang="en-US" altLang="zh-CN">
                <a:solidFill>
                  <a:srgbClr val="FF0000"/>
                </a:solidFill>
              </a:rPr>
              <a:t>t</a:t>
            </a:r>
            <a:r>
              <a:rPr lang="zh-CN" altLang="en-US">
                <a:solidFill>
                  <a:srgbClr val="FF0000"/>
                </a:solidFill>
              </a:rPr>
              <a:t>时刻之前的所有</a:t>
            </a:r>
            <a:r>
              <a:rPr lang="en-US" altLang="zh-CN">
                <a:solidFill>
                  <a:srgbClr val="FF0000"/>
                </a:solidFill>
              </a:rPr>
              <a:t>token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7055485" y="1813560"/>
            <a:ext cx="326390" cy="36893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65735" y="1328420"/>
            <a:ext cx="1666240" cy="1102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  <a:sym typeface="+mn-ea"/>
              </a:rPr>
              <a:t>确保每个输出序列对目标函数的贡献均等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835910" y="864235"/>
            <a:ext cx="354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847975" y="864235"/>
            <a:ext cx="343535" cy="3683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endParaRPr lang="zh-CN" altLang="en-US"/>
          </a:p>
        </p:txBody>
      </p:sp>
      <p:cxnSp>
        <p:nvCxnSpPr>
          <p:cNvPr id="15" name="直接箭头连接符 14"/>
          <p:cNvCxnSpPr/>
          <p:nvPr/>
        </p:nvCxnSpPr>
        <p:spPr>
          <a:xfrm flipH="1" flipV="1">
            <a:off x="2736215" y="464185"/>
            <a:ext cx="163195" cy="40005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292735" y="0"/>
            <a:ext cx="4045585" cy="673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第</a:t>
            </a:r>
            <a:r>
              <a:rPr lang="en-US" altLang="zh-CN">
                <a:solidFill>
                  <a:srgbClr val="FF0000"/>
                </a:solidFill>
              </a:rPr>
              <a:t> i </a:t>
            </a:r>
            <a:r>
              <a:rPr lang="zh-CN" altLang="en-US">
                <a:solidFill>
                  <a:srgbClr val="FF0000"/>
                </a:solidFill>
              </a:rPr>
              <a:t>个输出序列的长度（</a:t>
            </a:r>
            <a:r>
              <a:rPr lang="en-US" altLang="zh-CN">
                <a:solidFill>
                  <a:srgbClr val="FF0000"/>
                </a:solidFill>
              </a:rPr>
              <a:t>token</a:t>
            </a:r>
            <a:r>
              <a:rPr lang="zh-CN" altLang="en-US">
                <a:solidFill>
                  <a:srgbClr val="FF0000"/>
                </a:solidFill>
              </a:rPr>
              <a:t>数量）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65735" y="3331845"/>
            <a:ext cx="3739515" cy="1102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确保序列中的早期和晚期</a:t>
            </a:r>
            <a:r>
              <a:rPr lang="en-US" altLang="zh-CN">
                <a:solidFill>
                  <a:srgbClr val="FF0000"/>
                </a:solidFill>
              </a:rPr>
              <a:t>token</a:t>
            </a:r>
            <a:r>
              <a:rPr lang="zh-CN" altLang="en-US">
                <a:solidFill>
                  <a:srgbClr val="FF0000"/>
                </a:solidFill>
              </a:rPr>
              <a:t>对参数更新有相似影响，贡献</a:t>
            </a:r>
            <a:r>
              <a:rPr lang="zh-CN" altLang="en-US">
                <a:solidFill>
                  <a:srgbClr val="FF0000"/>
                </a:solidFill>
              </a:rPr>
              <a:t>均等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110345" y="1788160"/>
            <a:ext cx="3227705" cy="6451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衡量用分布</a:t>
            </a:r>
            <a:r>
              <a:rPr lang="en-US" altLang="zh-CN">
                <a:solidFill>
                  <a:srgbClr val="FF0000"/>
                </a:solidFill>
              </a:rPr>
              <a:t>ref</a:t>
            </a:r>
            <a:r>
              <a:rPr lang="zh-CN" altLang="en-US">
                <a:solidFill>
                  <a:srgbClr val="FF0000"/>
                </a:solidFill>
              </a:rPr>
              <a:t>近似分布</a:t>
            </a:r>
            <a:r>
              <a:rPr lang="en-US" altLang="zh-CN">
                <a:solidFill>
                  <a:srgbClr val="FF0000"/>
                </a:solidFill>
              </a:rPr>
              <a:t>theta</a:t>
            </a:r>
            <a:r>
              <a:rPr lang="zh-CN" altLang="en-US">
                <a:solidFill>
                  <a:srgbClr val="FF0000"/>
                </a:solidFill>
              </a:rPr>
              <a:t>时损失的信息量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091930" y="1130300"/>
            <a:ext cx="1308735" cy="3683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endParaRPr lang="zh-CN" altLang="en-US"/>
          </a:p>
        </p:txBody>
      </p:sp>
      <p:cxnSp>
        <p:nvCxnSpPr>
          <p:cNvPr id="20" name="直接箭头连接符 19"/>
          <p:cNvCxnSpPr/>
          <p:nvPr/>
        </p:nvCxnSpPr>
        <p:spPr>
          <a:xfrm>
            <a:off x="9582785" y="1498600"/>
            <a:ext cx="326390" cy="36893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1" name="图片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1185" y="3345815"/>
            <a:ext cx="3731895" cy="1543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1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04825" y="2847973"/>
            <a:ext cx="4029075" cy="3895723"/>
          </a:xfrm>
          <a:prstGeom prst="rect">
            <a:avLst/>
          </a:prstGeom>
        </p:spPr>
      </p:pic>
      <p:pic>
        <p:nvPicPr>
          <p:cNvPr id="148" name="picture 1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019675" y="552450"/>
            <a:ext cx="3400425" cy="2152650"/>
          </a:xfrm>
          <a:prstGeom prst="rect">
            <a:avLst/>
          </a:prstGeom>
        </p:spPr>
      </p:pic>
      <p:pic>
        <p:nvPicPr>
          <p:cNvPr id="150" name="picture 1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58200" y="447675"/>
            <a:ext cx="3181350" cy="2257425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801749" y="1459484"/>
            <a:ext cx="2231262" cy="185292"/>
          </a:xfrm>
          <a:custGeom>
            <a:avLst/>
            <a:gdLst/>
            <a:ahLst/>
            <a:cxnLst/>
            <a:rect l="0" t="0" r="0" b="0"/>
            <a:pathLst>
              <a:path w="3513" h="291">
                <a:moveTo>
                  <a:pt x="680" y="0"/>
                </a:moveTo>
                <a:cubicBezTo>
                  <a:pt x="710" y="7"/>
                  <a:pt x="733" y="25"/>
                  <a:pt x="749" y="51"/>
                </a:cubicBezTo>
                <a:cubicBezTo>
                  <a:pt x="765" y="77"/>
                  <a:pt x="773" y="108"/>
                  <a:pt x="773" y="145"/>
                </a:cubicBezTo>
                <a:cubicBezTo>
                  <a:pt x="773" y="182"/>
                  <a:pt x="765" y="214"/>
                  <a:pt x="749" y="240"/>
                </a:cubicBezTo>
                <a:cubicBezTo>
                  <a:pt x="733" y="266"/>
                  <a:pt x="710" y="283"/>
                  <a:pt x="680" y="291"/>
                </a:cubicBezTo>
                <a:lnTo>
                  <a:pt x="676" y="280"/>
                </a:lnTo>
                <a:cubicBezTo>
                  <a:pt x="700" y="272"/>
                  <a:pt x="718" y="256"/>
                  <a:pt x="729" y="233"/>
                </a:cubicBezTo>
                <a:cubicBezTo>
                  <a:pt x="741" y="209"/>
                  <a:pt x="746" y="180"/>
                  <a:pt x="746" y="144"/>
                </a:cubicBezTo>
                <a:cubicBezTo>
                  <a:pt x="746" y="109"/>
                  <a:pt x="741" y="80"/>
                  <a:pt x="729" y="57"/>
                </a:cubicBezTo>
                <a:cubicBezTo>
                  <a:pt x="718" y="35"/>
                  <a:pt x="700" y="19"/>
                  <a:pt x="676" y="11"/>
                </a:cubicBezTo>
                <a:lnTo>
                  <a:pt x="680" y="0"/>
                </a:lnTo>
                <a:close/>
                <a:moveTo>
                  <a:pt x="92" y="0"/>
                </a:moveTo>
                <a:lnTo>
                  <a:pt x="97" y="11"/>
                </a:lnTo>
                <a:cubicBezTo>
                  <a:pt x="73" y="19"/>
                  <a:pt x="55" y="35"/>
                  <a:pt x="43" y="57"/>
                </a:cubicBezTo>
                <a:cubicBezTo>
                  <a:pt x="32" y="80"/>
                  <a:pt x="26" y="109"/>
                  <a:pt x="26" y="144"/>
                </a:cubicBezTo>
                <a:cubicBezTo>
                  <a:pt x="26" y="180"/>
                  <a:pt x="32" y="209"/>
                  <a:pt x="43" y="233"/>
                </a:cubicBezTo>
                <a:cubicBezTo>
                  <a:pt x="55" y="256"/>
                  <a:pt x="72" y="272"/>
                  <a:pt x="96" y="280"/>
                </a:cubicBezTo>
                <a:lnTo>
                  <a:pt x="92" y="291"/>
                </a:lnTo>
                <a:cubicBezTo>
                  <a:pt x="62" y="283"/>
                  <a:pt x="40" y="266"/>
                  <a:pt x="23" y="240"/>
                </a:cubicBezTo>
                <a:cubicBezTo>
                  <a:pt x="7" y="214"/>
                  <a:pt x="0" y="182"/>
                  <a:pt x="0" y="145"/>
                </a:cubicBezTo>
                <a:cubicBezTo>
                  <a:pt x="0" y="108"/>
                  <a:pt x="7" y="77"/>
                  <a:pt x="23" y="51"/>
                </a:cubicBezTo>
                <a:cubicBezTo>
                  <a:pt x="40" y="25"/>
                  <a:pt x="63" y="7"/>
                  <a:pt x="92" y="0"/>
                </a:cubicBezTo>
              </a:path>
              <a:path w="3513" h="291">
                <a:moveTo>
                  <a:pt x="3420" y="0"/>
                </a:moveTo>
                <a:cubicBezTo>
                  <a:pt x="3450" y="7"/>
                  <a:pt x="3473" y="25"/>
                  <a:pt x="3489" y="51"/>
                </a:cubicBezTo>
                <a:cubicBezTo>
                  <a:pt x="3505" y="77"/>
                  <a:pt x="3513" y="108"/>
                  <a:pt x="3513" y="145"/>
                </a:cubicBezTo>
                <a:cubicBezTo>
                  <a:pt x="3513" y="182"/>
                  <a:pt x="3505" y="214"/>
                  <a:pt x="3489" y="240"/>
                </a:cubicBezTo>
                <a:cubicBezTo>
                  <a:pt x="3473" y="266"/>
                  <a:pt x="3450" y="283"/>
                  <a:pt x="3420" y="291"/>
                </a:cubicBezTo>
                <a:lnTo>
                  <a:pt x="3416" y="280"/>
                </a:lnTo>
                <a:cubicBezTo>
                  <a:pt x="3440" y="272"/>
                  <a:pt x="3458" y="256"/>
                  <a:pt x="3469" y="233"/>
                </a:cubicBezTo>
                <a:cubicBezTo>
                  <a:pt x="3481" y="209"/>
                  <a:pt x="3487" y="180"/>
                  <a:pt x="3487" y="144"/>
                </a:cubicBezTo>
                <a:cubicBezTo>
                  <a:pt x="3487" y="109"/>
                  <a:pt x="3481" y="80"/>
                  <a:pt x="3469" y="57"/>
                </a:cubicBezTo>
                <a:cubicBezTo>
                  <a:pt x="3458" y="35"/>
                  <a:pt x="3440" y="19"/>
                  <a:pt x="3416" y="11"/>
                </a:cubicBezTo>
                <a:lnTo>
                  <a:pt x="3420" y="0"/>
                </a:lnTo>
                <a:close/>
                <a:moveTo>
                  <a:pt x="2831" y="0"/>
                </a:moveTo>
                <a:lnTo>
                  <a:pt x="2836" y="11"/>
                </a:lnTo>
                <a:cubicBezTo>
                  <a:pt x="2811" y="19"/>
                  <a:pt x="2794" y="35"/>
                  <a:pt x="2782" y="57"/>
                </a:cubicBezTo>
                <a:cubicBezTo>
                  <a:pt x="2771" y="80"/>
                  <a:pt x="2765" y="109"/>
                  <a:pt x="2765" y="144"/>
                </a:cubicBezTo>
                <a:cubicBezTo>
                  <a:pt x="2765" y="180"/>
                  <a:pt x="2771" y="209"/>
                  <a:pt x="2782" y="233"/>
                </a:cubicBezTo>
                <a:cubicBezTo>
                  <a:pt x="2794" y="256"/>
                  <a:pt x="2811" y="272"/>
                  <a:pt x="2835" y="280"/>
                </a:cubicBezTo>
                <a:lnTo>
                  <a:pt x="2831" y="291"/>
                </a:lnTo>
                <a:cubicBezTo>
                  <a:pt x="2801" y="283"/>
                  <a:pt x="2778" y="266"/>
                  <a:pt x="2762" y="240"/>
                </a:cubicBezTo>
                <a:cubicBezTo>
                  <a:pt x="2746" y="214"/>
                  <a:pt x="2738" y="182"/>
                  <a:pt x="2738" y="145"/>
                </a:cubicBezTo>
                <a:cubicBezTo>
                  <a:pt x="2738" y="108"/>
                  <a:pt x="2746" y="77"/>
                  <a:pt x="2762" y="51"/>
                </a:cubicBezTo>
                <a:cubicBezTo>
                  <a:pt x="2778" y="25"/>
                  <a:pt x="2801" y="7"/>
                  <a:pt x="2831" y="0"/>
                </a:cubicBezTo>
              </a:path>
            </a:pathLst>
          </a:cu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4" name="textbox 154"/>
          <p:cNvSpPr/>
          <p:nvPr/>
        </p:nvSpPr>
        <p:spPr>
          <a:xfrm>
            <a:off x="248761" y="702338"/>
            <a:ext cx="4635500" cy="9975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1500" kern="0" spc="110" dirty="0">
                <a:solidFill>
                  <a:srgbClr val="FF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传统</a:t>
            </a:r>
            <a:r>
              <a:rPr sz="1500" kern="0" spc="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PPO</a:t>
            </a:r>
            <a:r>
              <a:rPr sz="1500" kern="0" spc="110" dirty="0">
                <a:solidFill>
                  <a:srgbClr val="FF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的问题</a:t>
            </a:r>
            <a:r>
              <a:rPr sz="1500" kern="0" spc="11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</a:t>
            </a:r>
            <a:endParaRPr sz="1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" algn="l" rtl="0" eaLnBrk="0">
              <a:lnSpc>
                <a:spcPct val="91000"/>
              </a:lnSpc>
              <a:spcBef>
                <a:spcPts val="1215"/>
              </a:spcBef>
            </a:pPr>
            <a:r>
              <a:rPr sz="1500" kern="0" spc="8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1.   </a:t>
            </a:r>
            <a:r>
              <a:rPr sz="1500" kern="0" spc="80" dirty="0">
                <a:solidFill>
                  <a:srgbClr val="FF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价值函数的作用</a:t>
            </a:r>
            <a:r>
              <a:rPr sz="1500" kern="0" spc="80" dirty="0">
                <a:solidFill>
                  <a:srgbClr val="FF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V(s)</a:t>
            </a:r>
            <a:r>
              <a:rPr sz="1500" kern="0" spc="8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</a:t>
            </a:r>
            <a:r>
              <a:rPr sz="1500" kern="0" spc="16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500" kern="0" spc="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Baseline</a:t>
            </a:r>
            <a:r>
              <a:rPr sz="1500" kern="0" spc="8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1500" kern="0" spc="80" dirty="0">
                <a:solidFill>
                  <a:srgbClr val="FF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基线</a:t>
            </a:r>
            <a:r>
              <a:rPr sz="1500" kern="0" spc="7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 </a:t>
            </a:r>
            <a:r>
              <a:rPr sz="1500" kern="0" spc="70" dirty="0">
                <a:solidFill>
                  <a:srgbClr val="FF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减少方差</a:t>
            </a:r>
            <a:endParaRPr sz="15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 rtl="0" eaLnBrk="0">
              <a:lnSpc>
                <a:spcPct val="101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7000"/>
              </a:lnSpc>
            </a:pPr>
            <a:r>
              <a:rPr sz="2400" kern="0" spc="10" baseline="-2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A</a:t>
            </a:r>
            <a:r>
              <a:rPr sz="1500" kern="0" spc="-23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1800" kern="0" spc="10" baseline="-3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θ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 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s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t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, </a:t>
            </a:r>
            <a:r>
              <a:rPr sz="2400" kern="0" spc="10" baseline="4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a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   </a:t>
            </a:r>
            <a:r>
              <a:rPr sz="2400" kern="0" spc="10" baseline="4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=</a:t>
            </a:r>
            <a:r>
              <a:rPr sz="1500" kern="0" spc="16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r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t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 </a:t>
            </a:r>
            <a:r>
              <a:rPr sz="2400" kern="0" spc="0" baseline="4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+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2400" kern="0" spc="0" baseline="4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Y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*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V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θ   </a:t>
            </a:r>
            <a:r>
              <a:rPr sz="2400" kern="0" spc="0" baseline="-4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s</a:t>
            </a:r>
            <a:r>
              <a:rPr sz="1800" kern="0" spc="0" baseline="-6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t+1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    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—</a:t>
            </a: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V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θ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(s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t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)</a:t>
            </a:r>
            <a:endParaRPr sz="1500" dirty="0"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156" name="textbox 156"/>
          <p:cNvSpPr/>
          <p:nvPr/>
        </p:nvSpPr>
        <p:spPr>
          <a:xfrm>
            <a:off x="4329189" y="127299"/>
            <a:ext cx="3550920" cy="383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3000" b="1" kern="0" spc="-5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Token-Level</a:t>
            </a:r>
            <a:r>
              <a:rPr sz="3000" b="1" kern="0" spc="26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b="1" kern="0" spc="-5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</a:t>
            </a:r>
            <a:r>
              <a:rPr sz="3000" b="1" kern="0" spc="25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b="1" kern="0" spc="-5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LLM</a:t>
            </a:r>
            <a:endParaRPr sz="3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picture 1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619625" y="1504950"/>
            <a:ext cx="5372100" cy="2076450"/>
          </a:xfrm>
          <a:prstGeom prst="rect">
            <a:avLst/>
          </a:prstGeom>
        </p:spPr>
      </p:pic>
      <p:pic>
        <p:nvPicPr>
          <p:cNvPr id="160" name="picture 1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619625" y="4848225"/>
            <a:ext cx="6296025" cy="1457325"/>
          </a:xfrm>
          <a:prstGeom prst="rect">
            <a:avLst/>
          </a:prstGeom>
        </p:spPr>
      </p:pic>
      <p:sp>
        <p:nvSpPr>
          <p:cNvPr id="162" name="textbox 162"/>
          <p:cNvSpPr/>
          <p:nvPr/>
        </p:nvSpPr>
        <p:spPr>
          <a:xfrm>
            <a:off x="4696653" y="612612"/>
            <a:ext cx="3769995" cy="859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G(Group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级别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algn="l" rtl="0" eaLnBrk="0">
              <a:lnSpc>
                <a:spcPct val="89000"/>
              </a:lnSpc>
              <a:spcBef>
                <a:spcPts val="160"/>
              </a:spcBef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 =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组大小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r>
              <a:rPr sz="1400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即对</a:t>
            </a:r>
            <a:r>
              <a:rPr sz="1400" b="1" kern="0" spc="-10" dirty="0">
                <a:solidFill>
                  <a:srgbClr val="00B05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同一个问题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采样的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输出数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量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13335" algn="l" rtl="0" eaLnBrk="0">
              <a:lnSpc>
                <a:spcPct val="93000"/>
              </a:lnSpc>
              <a:spcBef>
                <a:spcPts val="135"/>
              </a:spcBef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4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论文设置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 =</a:t>
            </a:r>
            <a:r>
              <a:rPr sz="1400" b="1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64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algn="l" rtl="0" eaLnBrk="0">
              <a:lnSpc>
                <a:spcPct val="93000"/>
              </a:lnSpc>
              <a:spcBef>
                <a:spcPts val="165"/>
              </a:spcBef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4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最外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层的循环</a:t>
            </a:r>
            <a:endParaRPr sz="1400" dirty="0">
              <a:latin typeface="Microsoft JhengHei" panose="020B0604030504040204" charset="-120"/>
              <a:ea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64" name="textbox 164"/>
          <p:cNvSpPr/>
          <p:nvPr/>
        </p:nvSpPr>
        <p:spPr>
          <a:xfrm>
            <a:off x="4697197" y="3695157"/>
            <a:ext cx="3516629" cy="8909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o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i</a:t>
            </a: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Sentence</a:t>
            </a: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Output</a:t>
            </a: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级别</a:t>
            </a: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3000"/>
              </a:lnSpc>
              <a:spcBef>
                <a:spcPts val="5"/>
              </a:spcBef>
            </a:pP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2100" kern="0" spc="0" baseline="-5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o</a:t>
            </a:r>
            <a:r>
              <a:rPr sz="1600" kern="0" spc="0" baseline="-7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i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= 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第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i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个完全输出序列</a:t>
            </a:r>
            <a:r>
              <a:rPr sz="1400" kern="0" spc="25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一个完整答案</a:t>
            </a:r>
            <a:r>
              <a:rPr sz="1400" kern="0" spc="2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600" kern="0" spc="10" baseline="33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I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这是</a:t>
            </a:r>
            <a:r>
              <a:rPr sz="2100" kern="0" spc="0" baseline="200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一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个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token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序列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o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i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=</a:t>
            </a:r>
            <a:r>
              <a:rPr sz="1400" kern="0" spc="23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[o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i</a:t>
            </a:r>
            <a:r>
              <a:rPr sz="1600" kern="0" spc="0" baseline="-13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,</a:t>
            </a:r>
            <a:r>
              <a:rPr sz="1000" kern="0" spc="-14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1600" kern="0" spc="0" baseline="-13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1</a:t>
            </a:r>
            <a:r>
              <a:rPr sz="2100" kern="0" spc="0" baseline="-10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,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o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i</a:t>
            </a:r>
            <a:r>
              <a:rPr sz="1600" kern="0" spc="0" baseline="-13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,2</a:t>
            </a:r>
            <a:r>
              <a:rPr sz="2100" kern="0" spc="-10" baseline="-10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,</a:t>
            </a:r>
            <a:r>
              <a:rPr sz="1300" kern="0" spc="1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…</a:t>
            </a:r>
            <a:r>
              <a:rPr sz="1400" kern="0" spc="-8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,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o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i</a:t>
            </a:r>
            <a:r>
              <a:rPr sz="1600" kern="0" spc="-10" baseline="-1300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,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t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]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4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Io</a:t>
            </a:r>
            <a:r>
              <a:rPr sz="1400" kern="0" spc="-28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i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I</a:t>
            </a:r>
            <a:r>
              <a:rPr sz="1400" kern="0" spc="17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= 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第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i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个输出的长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度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(token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数量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)</a:t>
            </a:r>
            <a:endParaRPr sz="1400" dirty="0"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pic>
        <p:nvPicPr>
          <p:cNvPr id="166" name="picture 1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3825" y="5553075"/>
            <a:ext cx="4181475" cy="628650"/>
          </a:xfrm>
          <a:prstGeom prst="rect">
            <a:avLst/>
          </a:prstGeom>
        </p:spPr>
      </p:pic>
      <p:sp>
        <p:nvSpPr>
          <p:cNvPr id="168" name="path 168"/>
          <p:cNvSpPr/>
          <p:nvPr/>
        </p:nvSpPr>
        <p:spPr>
          <a:xfrm>
            <a:off x="4495800" y="428625"/>
            <a:ext cx="19050" cy="6417732"/>
          </a:xfrm>
          <a:custGeom>
            <a:avLst/>
            <a:gdLst/>
            <a:ahLst/>
            <a:cxnLst/>
            <a:rect l="0" t="0" r="0" b="0"/>
            <a:pathLst>
              <a:path w="30" h="10106">
                <a:moveTo>
                  <a:pt x="15" y="0"/>
                </a:moveTo>
                <a:lnTo>
                  <a:pt x="15" y="10106"/>
                </a:lnTo>
              </a:path>
            </a:pathLst>
          </a:custGeom>
          <a:noFill/>
          <a:ln w="19050" cap="flat">
            <a:solidFill>
              <a:srgbClr val="156082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70" name="picture 1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525" y="5124450"/>
            <a:ext cx="4495799" cy="276225"/>
          </a:xfrm>
          <a:prstGeom prst="rect">
            <a:avLst/>
          </a:prstGeom>
        </p:spPr>
      </p:pic>
      <p:sp>
        <p:nvSpPr>
          <p:cNvPr id="172" name="textbox 172"/>
          <p:cNvSpPr/>
          <p:nvPr/>
        </p:nvSpPr>
        <p:spPr>
          <a:xfrm>
            <a:off x="4522619" y="127299"/>
            <a:ext cx="3171189" cy="365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3000" b="1" kern="0" spc="-3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SPLIT</a:t>
            </a:r>
            <a:r>
              <a:rPr sz="3000" b="1" kern="0" spc="29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b="1" kern="0" spc="-3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FUNCTION</a:t>
            </a:r>
            <a:endParaRPr sz="3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aphicFrame>
        <p:nvGraphicFramePr>
          <p:cNvPr id="174" name="table 174"/>
          <p:cNvGraphicFramePr>
            <a:graphicFrameLocks noGrp="1"/>
          </p:cNvGraphicFramePr>
          <p:nvPr/>
        </p:nvGraphicFramePr>
        <p:xfrm>
          <a:off x="114300" y="647700"/>
          <a:ext cx="1895475" cy="438150"/>
        </p:xfrm>
        <a:graphic>
          <a:graphicData uri="http://schemas.openxmlformats.org/drawingml/2006/table">
            <a:tbl>
              <a:tblPr>
                <a:solidFill>
                  <a:srgbClr val="156082"/>
                </a:solidFill>
              </a:tblPr>
              <a:tblGrid>
                <a:gridCol w="1895475"/>
              </a:tblGrid>
              <a:tr h="4191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3555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Question</a:t>
                      </a:r>
                      <a:endParaRPr sz="1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6" name="table 176"/>
          <p:cNvGraphicFramePr>
            <a:graphicFrameLocks noGrp="1"/>
          </p:cNvGraphicFramePr>
          <p:nvPr/>
        </p:nvGraphicFramePr>
        <p:xfrm>
          <a:off x="571500" y="1181100"/>
          <a:ext cx="1895475" cy="438150"/>
        </p:xfrm>
        <a:graphic>
          <a:graphicData uri="http://schemas.openxmlformats.org/drawingml/2006/table">
            <a:tbl>
              <a:tblPr>
                <a:solidFill>
                  <a:srgbClr val="13501B"/>
                </a:solidFill>
              </a:tblPr>
              <a:tblGrid>
                <a:gridCol w="1895475"/>
              </a:tblGrid>
              <a:tr h="4191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7500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18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Ouput</a:t>
                      </a:r>
                      <a:r>
                        <a:rPr sz="1800" kern="0" spc="1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8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</a:t>
                      </a:r>
                      <a:r>
                        <a:rPr sz="1800" kern="0" spc="1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8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(o</a:t>
                      </a:r>
                      <a:r>
                        <a:rPr sz="13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1</a:t>
                      </a:r>
                      <a:r>
                        <a:rPr sz="1800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)</a:t>
                      </a:r>
                      <a:endParaRPr sz="1800" dirty="0"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01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8" name="table 178"/>
          <p:cNvGraphicFramePr>
            <a:graphicFrameLocks noGrp="1"/>
          </p:cNvGraphicFramePr>
          <p:nvPr/>
        </p:nvGraphicFramePr>
        <p:xfrm>
          <a:off x="914400" y="1666875"/>
          <a:ext cx="1895475" cy="438150"/>
        </p:xfrm>
        <a:graphic>
          <a:graphicData uri="http://schemas.openxmlformats.org/drawingml/2006/table">
            <a:tbl>
              <a:tblPr>
                <a:solidFill>
                  <a:srgbClr val="F6C6AD"/>
                </a:solidFill>
              </a:tblPr>
              <a:tblGrid>
                <a:gridCol w="1895475"/>
              </a:tblGrid>
              <a:tr h="4191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0030" algn="l" rtl="0" eaLnBrk="0">
                        <a:lnSpc>
                          <a:spcPct val="97000"/>
                        </a:lnSpc>
                      </a:pPr>
                      <a:r>
                        <a:rPr sz="18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token</a:t>
                      </a:r>
                      <a:r>
                        <a:rPr sz="1800" kern="0" spc="2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8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</a:t>
                      </a:r>
                      <a:r>
                        <a:rPr sz="1800" kern="0" spc="1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8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(o</a:t>
                      </a:r>
                      <a:r>
                        <a:rPr sz="13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1</a:t>
                      </a:r>
                      <a:r>
                        <a:rPr sz="18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, </a:t>
                      </a:r>
                      <a:r>
                        <a:rPr sz="18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1)</a:t>
                      </a:r>
                      <a:endParaRPr sz="1800" dirty="0"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6A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0" name="table 180"/>
          <p:cNvGraphicFramePr>
            <a:graphicFrameLocks noGrp="1"/>
          </p:cNvGraphicFramePr>
          <p:nvPr/>
        </p:nvGraphicFramePr>
        <p:xfrm>
          <a:off x="914400" y="2190750"/>
          <a:ext cx="1895475" cy="438150"/>
        </p:xfrm>
        <a:graphic>
          <a:graphicData uri="http://schemas.openxmlformats.org/drawingml/2006/table">
            <a:tbl>
              <a:tblPr>
                <a:solidFill>
                  <a:srgbClr val="F6C6AD"/>
                </a:solidFill>
              </a:tblPr>
              <a:tblGrid>
                <a:gridCol w="1895475"/>
              </a:tblGrid>
              <a:tr h="4191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7490" algn="l" rtl="0" eaLnBrk="0">
                        <a:lnSpc>
                          <a:spcPct val="96000"/>
                        </a:lnSpc>
                        <a:spcBef>
                          <a:spcPts val="0"/>
                        </a:spcBef>
                      </a:pPr>
                      <a:r>
                        <a:rPr sz="1800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token</a:t>
                      </a:r>
                      <a:r>
                        <a:rPr sz="1800" kern="0" spc="1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800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</a:t>
                      </a:r>
                      <a:r>
                        <a:rPr sz="1800" kern="0" spc="1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800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(o</a:t>
                      </a:r>
                      <a:r>
                        <a:rPr sz="1300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2</a:t>
                      </a:r>
                      <a:r>
                        <a:rPr sz="1800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, </a:t>
                      </a:r>
                      <a:r>
                        <a:rPr sz="1800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1)</a:t>
                      </a:r>
                      <a:endParaRPr sz="1800" dirty="0"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6A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2" name="table 182"/>
          <p:cNvGraphicFramePr>
            <a:graphicFrameLocks noGrp="1"/>
          </p:cNvGraphicFramePr>
          <p:nvPr/>
        </p:nvGraphicFramePr>
        <p:xfrm>
          <a:off x="914400" y="2705100"/>
          <a:ext cx="1895475" cy="438150"/>
        </p:xfrm>
        <a:graphic>
          <a:graphicData uri="http://schemas.openxmlformats.org/drawingml/2006/table">
            <a:tbl>
              <a:tblPr>
                <a:solidFill>
                  <a:srgbClr val="F6C6AD"/>
                </a:solidFill>
              </a:tblPr>
              <a:tblGrid>
                <a:gridCol w="1895475"/>
              </a:tblGrid>
              <a:tr h="4191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4640" algn="l" rtl="0" eaLnBrk="0">
                        <a:lnSpc>
                          <a:spcPct val="96000"/>
                        </a:lnSpc>
                        <a:spcBef>
                          <a:spcPts val="0"/>
                        </a:spcBef>
                      </a:pP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token t</a:t>
                      </a:r>
                      <a:r>
                        <a:rPr sz="1800" kern="0" spc="1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(o</a:t>
                      </a:r>
                      <a:r>
                        <a:rPr sz="13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t</a:t>
                      </a: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, </a:t>
                      </a: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t)</a:t>
                      </a:r>
                      <a:endParaRPr sz="1800" dirty="0"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6A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4" name="table 184"/>
          <p:cNvGraphicFramePr>
            <a:graphicFrameLocks noGrp="1"/>
          </p:cNvGraphicFramePr>
          <p:nvPr/>
        </p:nvGraphicFramePr>
        <p:xfrm>
          <a:off x="571500" y="3209925"/>
          <a:ext cx="1895475" cy="438150"/>
        </p:xfrm>
        <a:graphic>
          <a:graphicData uri="http://schemas.openxmlformats.org/drawingml/2006/table">
            <a:tbl>
              <a:tblPr>
                <a:solidFill>
                  <a:srgbClr val="13501B"/>
                </a:solidFill>
              </a:tblPr>
              <a:tblGrid>
                <a:gridCol w="1895475"/>
              </a:tblGrid>
              <a:tr h="4191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4960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18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Ouput 2</a:t>
                      </a:r>
                      <a:r>
                        <a:rPr sz="1800" kern="0" spc="1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(o</a:t>
                      </a:r>
                      <a:r>
                        <a:rPr sz="13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2</a:t>
                      </a:r>
                      <a:r>
                        <a:rPr sz="18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)</a:t>
                      </a:r>
                      <a:endParaRPr sz="1800" dirty="0"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01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6" name="table 186"/>
          <p:cNvGraphicFramePr>
            <a:graphicFrameLocks noGrp="1"/>
          </p:cNvGraphicFramePr>
          <p:nvPr/>
        </p:nvGraphicFramePr>
        <p:xfrm>
          <a:off x="571500" y="4333875"/>
          <a:ext cx="1895475" cy="438150"/>
        </p:xfrm>
        <a:graphic>
          <a:graphicData uri="http://schemas.openxmlformats.org/drawingml/2006/table">
            <a:tbl>
              <a:tblPr>
                <a:solidFill>
                  <a:srgbClr val="13501B"/>
                </a:solidFill>
              </a:tblPr>
              <a:tblGrid>
                <a:gridCol w="1895475"/>
              </a:tblGrid>
              <a:tr h="4191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9400" algn="l" rtl="0" eaLnBrk="0">
                        <a:lnSpc>
                          <a:spcPct val="85000"/>
                        </a:lnSpc>
                      </a:pPr>
                      <a:r>
                        <a:rPr sz="18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Ouput G</a:t>
                      </a:r>
                      <a:r>
                        <a:rPr sz="1800" kern="0" spc="1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(o</a:t>
                      </a:r>
                      <a:r>
                        <a:rPr sz="2000" kern="0" spc="-20" baseline="-180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G</a:t>
                      </a:r>
                      <a:r>
                        <a:rPr sz="1300" kern="0" spc="-1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)</a:t>
                      </a:r>
                      <a:endParaRPr sz="1800" dirty="0"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01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8" name="table 188"/>
          <p:cNvGraphicFramePr>
            <a:graphicFrameLocks noGrp="1"/>
          </p:cNvGraphicFramePr>
          <p:nvPr/>
        </p:nvGraphicFramePr>
        <p:xfrm>
          <a:off x="914400" y="3686175"/>
          <a:ext cx="1895475" cy="428625"/>
        </p:xfrm>
        <a:graphic>
          <a:graphicData uri="http://schemas.openxmlformats.org/drawingml/2006/table">
            <a:tbl>
              <a:tblPr>
                <a:solidFill>
                  <a:srgbClr val="F6C6AD"/>
                </a:solidFill>
              </a:tblPr>
              <a:tblGrid>
                <a:gridCol w="1895475"/>
              </a:tblGrid>
              <a:tr h="4095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7490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18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token</a:t>
                      </a:r>
                      <a:r>
                        <a:rPr sz="1800" kern="0" spc="2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8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</a:t>
                      </a:r>
                      <a:r>
                        <a:rPr sz="1800" kern="0" spc="1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8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(o</a:t>
                      </a:r>
                      <a:r>
                        <a:rPr sz="13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2</a:t>
                      </a:r>
                      <a:r>
                        <a:rPr sz="18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, </a:t>
                      </a:r>
                      <a:r>
                        <a:rPr sz="18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1)</a:t>
                      </a:r>
                      <a:endParaRPr sz="1800" dirty="0"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4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6AD"/>
                    </a:solidFill>
                  </a:tcPr>
                </a:tc>
              </a:tr>
            </a:tbl>
          </a:graphicData>
        </a:graphic>
      </p:graphicFrame>
      <p:sp>
        <p:nvSpPr>
          <p:cNvPr id="190" name="textbox 190"/>
          <p:cNvSpPr/>
          <p:nvPr/>
        </p:nvSpPr>
        <p:spPr>
          <a:xfrm>
            <a:off x="3306603" y="1357468"/>
            <a:ext cx="1102360" cy="2146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sentence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级别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92" name="textbox 192"/>
          <p:cNvSpPr/>
          <p:nvPr/>
        </p:nvSpPr>
        <p:spPr>
          <a:xfrm>
            <a:off x="3306603" y="4465158"/>
            <a:ext cx="1102360" cy="2146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sentence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级别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94" name="textbox 194"/>
          <p:cNvSpPr/>
          <p:nvPr/>
        </p:nvSpPr>
        <p:spPr>
          <a:xfrm>
            <a:off x="3306593" y="3337909"/>
            <a:ext cx="1101725" cy="2139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sentence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级别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96" name="textbox 196"/>
          <p:cNvSpPr/>
          <p:nvPr/>
        </p:nvSpPr>
        <p:spPr>
          <a:xfrm>
            <a:off x="1426362" y="4163504"/>
            <a:ext cx="194945" cy="55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40"/>
              </a:lnSpc>
            </a:pPr>
            <a:r>
              <a:rPr sz="1400" kern="0" spc="-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…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21600000">
            <a:off x="114300" y="647700"/>
            <a:ext cx="2695575" cy="3467100"/>
            <a:chOff x="0" y="0"/>
            <a:chExt cx="2695575" cy="3467100"/>
          </a:xfrm>
        </p:grpSpPr>
        <p:sp>
          <p:nvSpPr>
            <p:cNvPr id="198" name="path 198"/>
            <p:cNvSpPr/>
            <p:nvPr/>
          </p:nvSpPr>
          <p:spPr>
            <a:xfrm>
              <a:off x="9525" y="9525"/>
              <a:ext cx="1876425" cy="419100"/>
            </a:xfrm>
            <a:custGeom>
              <a:avLst/>
              <a:gdLst/>
              <a:ahLst/>
              <a:cxnLst/>
              <a:rect l="0" t="0" r="0" b="0"/>
              <a:pathLst>
                <a:path w="2955" h="660">
                  <a:moveTo>
                    <a:pt x="0" y="660"/>
                  </a:moveTo>
                  <a:lnTo>
                    <a:pt x="2955" y="660"/>
                  </a:lnTo>
                  <a:lnTo>
                    <a:pt x="2955" y="0"/>
                  </a:lnTo>
                  <a:lnTo>
                    <a:pt x="0" y="0"/>
                  </a:lnTo>
                  <a:lnTo>
                    <a:pt x="0" y="660"/>
                  </a:lnTo>
                  <a:close/>
                </a:path>
              </a:pathLst>
            </a:custGeom>
            <a:solidFill>
              <a:srgbClr val="15608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0" name="path 200"/>
            <p:cNvSpPr/>
            <p:nvPr/>
          </p:nvSpPr>
          <p:spPr>
            <a:xfrm>
              <a:off x="0" y="0"/>
              <a:ext cx="1895475" cy="438150"/>
            </a:xfrm>
            <a:custGeom>
              <a:avLst/>
              <a:gdLst/>
              <a:ahLst/>
              <a:cxnLst/>
              <a:rect l="0" t="0" r="0" b="0"/>
              <a:pathLst>
                <a:path w="2985" h="690">
                  <a:moveTo>
                    <a:pt x="15" y="675"/>
                  </a:moveTo>
                  <a:lnTo>
                    <a:pt x="2970" y="675"/>
                  </a:lnTo>
                  <a:lnTo>
                    <a:pt x="2970" y="15"/>
                  </a:lnTo>
                  <a:lnTo>
                    <a:pt x="15" y="15"/>
                  </a:lnTo>
                  <a:lnTo>
                    <a:pt x="15" y="675"/>
                  </a:lnTo>
                  <a:close/>
                </a:path>
              </a:pathLst>
            </a:custGeom>
            <a:noFill/>
            <a:ln w="19050" cap="flat">
              <a:solidFill>
                <a:srgbClr val="042433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2" name="path 202"/>
            <p:cNvSpPr/>
            <p:nvPr/>
          </p:nvSpPr>
          <p:spPr>
            <a:xfrm>
              <a:off x="466725" y="542925"/>
              <a:ext cx="1876425" cy="419100"/>
            </a:xfrm>
            <a:custGeom>
              <a:avLst/>
              <a:gdLst/>
              <a:ahLst/>
              <a:cxnLst/>
              <a:rect l="0" t="0" r="0" b="0"/>
              <a:pathLst>
                <a:path w="2955" h="660">
                  <a:moveTo>
                    <a:pt x="0" y="660"/>
                  </a:moveTo>
                  <a:lnTo>
                    <a:pt x="2955" y="660"/>
                  </a:lnTo>
                  <a:lnTo>
                    <a:pt x="2955" y="0"/>
                  </a:lnTo>
                  <a:lnTo>
                    <a:pt x="0" y="0"/>
                  </a:lnTo>
                  <a:lnTo>
                    <a:pt x="0" y="660"/>
                  </a:lnTo>
                  <a:close/>
                </a:path>
              </a:pathLst>
            </a:custGeom>
            <a:solidFill>
              <a:srgbClr val="13501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4" name="path 204"/>
            <p:cNvSpPr/>
            <p:nvPr/>
          </p:nvSpPr>
          <p:spPr>
            <a:xfrm>
              <a:off x="457200" y="533400"/>
              <a:ext cx="1895475" cy="438150"/>
            </a:xfrm>
            <a:custGeom>
              <a:avLst/>
              <a:gdLst/>
              <a:ahLst/>
              <a:cxnLst/>
              <a:rect l="0" t="0" r="0" b="0"/>
              <a:pathLst>
                <a:path w="2985" h="690">
                  <a:moveTo>
                    <a:pt x="15" y="675"/>
                  </a:moveTo>
                  <a:lnTo>
                    <a:pt x="2970" y="675"/>
                  </a:lnTo>
                  <a:lnTo>
                    <a:pt x="2970" y="15"/>
                  </a:lnTo>
                  <a:lnTo>
                    <a:pt x="15" y="15"/>
                  </a:lnTo>
                  <a:lnTo>
                    <a:pt x="15" y="675"/>
                  </a:lnTo>
                  <a:close/>
                </a:path>
              </a:pathLst>
            </a:custGeom>
            <a:noFill/>
            <a:ln w="19050" cap="flat">
              <a:solidFill>
                <a:srgbClr val="042433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6" name="path 206"/>
            <p:cNvSpPr/>
            <p:nvPr/>
          </p:nvSpPr>
          <p:spPr>
            <a:xfrm>
              <a:off x="466725" y="2571750"/>
              <a:ext cx="1876425" cy="419100"/>
            </a:xfrm>
            <a:custGeom>
              <a:avLst/>
              <a:gdLst/>
              <a:ahLst/>
              <a:cxnLst/>
              <a:rect l="0" t="0" r="0" b="0"/>
              <a:pathLst>
                <a:path w="2955" h="660">
                  <a:moveTo>
                    <a:pt x="0" y="660"/>
                  </a:moveTo>
                  <a:lnTo>
                    <a:pt x="2955" y="660"/>
                  </a:lnTo>
                  <a:lnTo>
                    <a:pt x="2955" y="0"/>
                  </a:lnTo>
                  <a:lnTo>
                    <a:pt x="0" y="0"/>
                  </a:lnTo>
                  <a:lnTo>
                    <a:pt x="0" y="660"/>
                  </a:lnTo>
                  <a:close/>
                </a:path>
              </a:pathLst>
            </a:custGeom>
            <a:solidFill>
              <a:srgbClr val="13501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8" name="path 208"/>
            <p:cNvSpPr/>
            <p:nvPr/>
          </p:nvSpPr>
          <p:spPr>
            <a:xfrm>
              <a:off x="457200" y="2562225"/>
              <a:ext cx="1895475" cy="438150"/>
            </a:xfrm>
            <a:custGeom>
              <a:avLst/>
              <a:gdLst/>
              <a:ahLst/>
              <a:cxnLst/>
              <a:rect l="0" t="0" r="0" b="0"/>
              <a:pathLst>
                <a:path w="2985" h="690">
                  <a:moveTo>
                    <a:pt x="15" y="675"/>
                  </a:moveTo>
                  <a:lnTo>
                    <a:pt x="2970" y="675"/>
                  </a:lnTo>
                  <a:lnTo>
                    <a:pt x="2970" y="15"/>
                  </a:lnTo>
                  <a:lnTo>
                    <a:pt x="15" y="15"/>
                  </a:lnTo>
                  <a:lnTo>
                    <a:pt x="15" y="675"/>
                  </a:lnTo>
                  <a:close/>
                </a:path>
              </a:pathLst>
            </a:custGeom>
            <a:noFill/>
            <a:ln w="19050" cap="flat">
              <a:solidFill>
                <a:srgbClr val="042433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0" name="path 210"/>
            <p:cNvSpPr/>
            <p:nvPr/>
          </p:nvSpPr>
          <p:spPr>
            <a:xfrm>
              <a:off x="809625" y="1028700"/>
              <a:ext cx="1876425" cy="419100"/>
            </a:xfrm>
            <a:custGeom>
              <a:avLst/>
              <a:gdLst/>
              <a:ahLst/>
              <a:cxnLst/>
              <a:rect l="0" t="0" r="0" b="0"/>
              <a:pathLst>
                <a:path w="2955" h="660">
                  <a:moveTo>
                    <a:pt x="0" y="660"/>
                  </a:moveTo>
                  <a:lnTo>
                    <a:pt x="2955" y="660"/>
                  </a:lnTo>
                  <a:lnTo>
                    <a:pt x="2955" y="0"/>
                  </a:lnTo>
                  <a:lnTo>
                    <a:pt x="0" y="0"/>
                  </a:lnTo>
                  <a:lnTo>
                    <a:pt x="0" y="660"/>
                  </a:lnTo>
                  <a:close/>
                </a:path>
              </a:pathLst>
            </a:custGeom>
            <a:solidFill>
              <a:srgbClr val="F6C6AD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2" name="path 212"/>
            <p:cNvSpPr/>
            <p:nvPr/>
          </p:nvSpPr>
          <p:spPr>
            <a:xfrm>
              <a:off x="800100" y="1019175"/>
              <a:ext cx="1895475" cy="438150"/>
            </a:xfrm>
            <a:custGeom>
              <a:avLst/>
              <a:gdLst/>
              <a:ahLst/>
              <a:cxnLst/>
              <a:rect l="0" t="0" r="0" b="0"/>
              <a:pathLst>
                <a:path w="2985" h="690">
                  <a:moveTo>
                    <a:pt x="15" y="675"/>
                  </a:moveTo>
                  <a:lnTo>
                    <a:pt x="2970" y="675"/>
                  </a:lnTo>
                  <a:lnTo>
                    <a:pt x="2970" y="15"/>
                  </a:lnTo>
                  <a:lnTo>
                    <a:pt x="15" y="15"/>
                  </a:lnTo>
                  <a:lnTo>
                    <a:pt x="15" y="675"/>
                  </a:lnTo>
                  <a:close/>
                </a:path>
              </a:pathLst>
            </a:custGeom>
            <a:noFill/>
            <a:ln w="19050" cap="flat">
              <a:solidFill>
                <a:srgbClr val="042433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4" name="path 214"/>
            <p:cNvSpPr/>
            <p:nvPr/>
          </p:nvSpPr>
          <p:spPr>
            <a:xfrm>
              <a:off x="809625" y="1552575"/>
              <a:ext cx="1876425" cy="419100"/>
            </a:xfrm>
            <a:custGeom>
              <a:avLst/>
              <a:gdLst/>
              <a:ahLst/>
              <a:cxnLst/>
              <a:rect l="0" t="0" r="0" b="0"/>
              <a:pathLst>
                <a:path w="2955" h="660">
                  <a:moveTo>
                    <a:pt x="0" y="660"/>
                  </a:moveTo>
                  <a:lnTo>
                    <a:pt x="2955" y="660"/>
                  </a:lnTo>
                  <a:lnTo>
                    <a:pt x="2955" y="0"/>
                  </a:lnTo>
                  <a:lnTo>
                    <a:pt x="0" y="0"/>
                  </a:lnTo>
                  <a:lnTo>
                    <a:pt x="0" y="660"/>
                  </a:lnTo>
                  <a:close/>
                </a:path>
              </a:pathLst>
            </a:custGeom>
            <a:solidFill>
              <a:srgbClr val="F6C6AD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6" name="path 216"/>
            <p:cNvSpPr/>
            <p:nvPr/>
          </p:nvSpPr>
          <p:spPr>
            <a:xfrm>
              <a:off x="800100" y="1543050"/>
              <a:ext cx="1895475" cy="438150"/>
            </a:xfrm>
            <a:custGeom>
              <a:avLst/>
              <a:gdLst/>
              <a:ahLst/>
              <a:cxnLst/>
              <a:rect l="0" t="0" r="0" b="0"/>
              <a:pathLst>
                <a:path w="2985" h="690">
                  <a:moveTo>
                    <a:pt x="15" y="675"/>
                  </a:moveTo>
                  <a:lnTo>
                    <a:pt x="2970" y="675"/>
                  </a:lnTo>
                  <a:lnTo>
                    <a:pt x="2970" y="15"/>
                  </a:lnTo>
                  <a:lnTo>
                    <a:pt x="15" y="15"/>
                  </a:lnTo>
                  <a:lnTo>
                    <a:pt x="15" y="675"/>
                  </a:lnTo>
                  <a:close/>
                </a:path>
              </a:pathLst>
            </a:custGeom>
            <a:noFill/>
            <a:ln w="19050" cap="flat">
              <a:solidFill>
                <a:srgbClr val="042433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8" name="path 218"/>
            <p:cNvSpPr/>
            <p:nvPr/>
          </p:nvSpPr>
          <p:spPr>
            <a:xfrm>
              <a:off x="809625" y="2066925"/>
              <a:ext cx="1876425" cy="419100"/>
            </a:xfrm>
            <a:custGeom>
              <a:avLst/>
              <a:gdLst/>
              <a:ahLst/>
              <a:cxnLst/>
              <a:rect l="0" t="0" r="0" b="0"/>
              <a:pathLst>
                <a:path w="2955" h="660">
                  <a:moveTo>
                    <a:pt x="0" y="660"/>
                  </a:moveTo>
                  <a:lnTo>
                    <a:pt x="2955" y="660"/>
                  </a:lnTo>
                  <a:lnTo>
                    <a:pt x="2955" y="0"/>
                  </a:lnTo>
                  <a:lnTo>
                    <a:pt x="0" y="0"/>
                  </a:lnTo>
                  <a:lnTo>
                    <a:pt x="0" y="660"/>
                  </a:lnTo>
                  <a:close/>
                </a:path>
              </a:pathLst>
            </a:custGeom>
            <a:solidFill>
              <a:srgbClr val="F6C6AD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20" name="path 220"/>
            <p:cNvSpPr/>
            <p:nvPr/>
          </p:nvSpPr>
          <p:spPr>
            <a:xfrm>
              <a:off x="800100" y="2057400"/>
              <a:ext cx="1895475" cy="438150"/>
            </a:xfrm>
            <a:custGeom>
              <a:avLst/>
              <a:gdLst/>
              <a:ahLst/>
              <a:cxnLst/>
              <a:rect l="0" t="0" r="0" b="0"/>
              <a:pathLst>
                <a:path w="2985" h="690">
                  <a:moveTo>
                    <a:pt x="15" y="675"/>
                  </a:moveTo>
                  <a:lnTo>
                    <a:pt x="2970" y="675"/>
                  </a:lnTo>
                  <a:lnTo>
                    <a:pt x="2970" y="15"/>
                  </a:lnTo>
                  <a:lnTo>
                    <a:pt x="15" y="15"/>
                  </a:lnTo>
                  <a:lnTo>
                    <a:pt x="15" y="675"/>
                  </a:lnTo>
                  <a:close/>
                </a:path>
              </a:pathLst>
            </a:custGeom>
            <a:noFill/>
            <a:ln w="19050" cap="flat">
              <a:solidFill>
                <a:srgbClr val="042433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22" name="path 222"/>
            <p:cNvSpPr/>
            <p:nvPr/>
          </p:nvSpPr>
          <p:spPr>
            <a:xfrm>
              <a:off x="809625" y="3048000"/>
              <a:ext cx="1876425" cy="409575"/>
            </a:xfrm>
            <a:custGeom>
              <a:avLst/>
              <a:gdLst/>
              <a:ahLst/>
              <a:cxnLst/>
              <a:rect l="0" t="0" r="0" b="0"/>
              <a:pathLst>
                <a:path w="2955" h="645">
                  <a:moveTo>
                    <a:pt x="0" y="645"/>
                  </a:moveTo>
                  <a:lnTo>
                    <a:pt x="2955" y="645"/>
                  </a:lnTo>
                  <a:lnTo>
                    <a:pt x="2955" y="0"/>
                  </a:lnTo>
                  <a:lnTo>
                    <a:pt x="0" y="0"/>
                  </a:lnTo>
                  <a:lnTo>
                    <a:pt x="0" y="645"/>
                  </a:lnTo>
                  <a:close/>
                </a:path>
              </a:pathLst>
            </a:custGeom>
            <a:solidFill>
              <a:srgbClr val="F6C6AD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24" name="path 224"/>
            <p:cNvSpPr/>
            <p:nvPr/>
          </p:nvSpPr>
          <p:spPr>
            <a:xfrm>
              <a:off x="800100" y="3038475"/>
              <a:ext cx="1895475" cy="428625"/>
            </a:xfrm>
            <a:custGeom>
              <a:avLst/>
              <a:gdLst/>
              <a:ahLst/>
              <a:cxnLst/>
              <a:rect l="0" t="0" r="0" b="0"/>
              <a:pathLst>
                <a:path w="2985" h="675">
                  <a:moveTo>
                    <a:pt x="15" y="660"/>
                  </a:moveTo>
                  <a:lnTo>
                    <a:pt x="2970" y="660"/>
                  </a:lnTo>
                  <a:lnTo>
                    <a:pt x="2970" y="15"/>
                  </a:lnTo>
                  <a:lnTo>
                    <a:pt x="15" y="15"/>
                  </a:lnTo>
                  <a:lnTo>
                    <a:pt x="15" y="660"/>
                  </a:lnTo>
                  <a:close/>
                </a:path>
              </a:pathLst>
            </a:custGeom>
            <a:noFill/>
            <a:ln w="19050" cap="flat">
              <a:solidFill>
                <a:srgbClr val="042433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26" name="textbox 226"/>
          <p:cNvSpPr/>
          <p:nvPr/>
        </p:nvSpPr>
        <p:spPr>
          <a:xfrm>
            <a:off x="4750882" y="502758"/>
            <a:ext cx="4624070" cy="1898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algn="l" rtl="0" eaLnBrk="0">
              <a:lnSpc>
                <a:spcPct val="89000"/>
              </a:lnSpc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t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(Token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级别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  <a:spcBef>
                <a:spcPts val="250"/>
              </a:spcBef>
            </a:pP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4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t</a:t>
            </a:r>
            <a:r>
              <a:rPr sz="1400" kern="0" spc="19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=</a:t>
            </a:r>
            <a:r>
              <a:rPr sz="1400" kern="0" spc="14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token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的位置索引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12700" algn="l" rtl="0" eaLnBrk="0">
              <a:lnSpc>
                <a:spcPts val="1720"/>
              </a:lnSpc>
              <a:spcBef>
                <a:spcPts val="95"/>
              </a:spcBef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4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范围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</a:t>
            </a:r>
            <a:r>
              <a:rPr sz="1400" kern="0" spc="1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到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Io</a:t>
            </a:r>
            <a:r>
              <a:rPr sz="1400" kern="0" spc="-28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i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I</a:t>
            </a:r>
            <a:endParaRPr sz="1400" dirty="0"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  <a:p>
            <a:pPr marL="12700" algn="l" rtl="0" eaLnBrk="0">
              <a:lnSpc>
                <a:spcPct val="88000"/>
              </a:lnSpc>
              <a:spcBef>
                <a:spcPts val="10"/>
              </a:spcBef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4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最细粒度层级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" algn="l" rtl="0" eaLnBrk="0">
              <a:lnSpc>
                <a:spcPct val="86000"/>
              </a:lnSpc>
              <a:spcBef>
                <a:spcPts val="420"/>
              </a:spcBef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与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GAE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的对比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3686810" algn="l" rtl="0" eaLnBrk="0">
              <a:lnSpc>
                <a:spcPct val="84000"/>
              </a:lnSpc>
              <a:spcBef>
                <a:spcPts val="5"/>
              </a:spcBef>
            </a:pP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∞</a:t>
            </a:r>
            <a:endParaRPr sz="1000" dirty="0"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  <a:p>
            <a:pPr marL="2538730" algn="l" rtl="0" eaLnBrk="0">
              <a:lnSpc>
                <a:spcPts val="2750"/>
              </a:lnSpc>
              <a:spcBef>
                <a:spcPts val="50"/>
              </a:spcBef>
              <a:tabLst>
                <a:tab pos="4610100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618865" algn="l" rtl="0" eaLnBrk="0">
              <a:lnSpc>
                <a:spcPct val="88000"/>
              </a:lnSpc>
              <a:spcBef>
                <a:spcPts val="10"/>
              </a:spcBef>
            </a:pP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b</a:t>
            </a:r>
            <a:r>
              <a:rPr sz="1000" kern="0" spc="-11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=0</a:t>
            </a:r>
            <a:endParaRPr sz="1000" dirty="0"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pic>
        <p:nvPicPr>
          <p:cNvPr id="228" name="picture 2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289910" y="1902812"/>
            <a:ext cx="2072142" cy="349350"/>
          </a:xfrm>
          <a:prstGeom prst="rect">
            <a:avLst/>
          </a:prstGeom>
        </p:spPr>
      </p:pic>
      <p:sp>
        <p:nvSpPr>
          <p:cNvPr id="230" name="textbox 230"/>
          <p:cNvSpPr/>
          <p:nvPr/>
        </p:nvSpPr>
        <p:spPr>
          <a:xfrm>
            <a:off x="605473" y="774189"/>
            <a:ext cx="1993900" cy="3313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5000"/>
              </a:lnSpc>
            </a:pPr>
            <a:r>
              <a:rPr sz="18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Question</a:t>
            </a:r>
            <a:endParaRPr sz="1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5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3845" algn="l" rtl="0" eaLnBrk="0">
              <a:lnSpc>
                <a:spcPct val="96000"/>
              </a:lnSpc>
              <a:spcBef>
                <a:spcPts val="545"/>
              </a:spcBef>
            </a:pPr>
            <a:r>
              <a:rPr sz="1800" kern="0" spc="-4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Ouput</a:t>
            </a:r>
            <a:r>
              <a:rPr sz="1800" kern="0" spc="17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800" kern="0" spc="-4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1800" kern="0" spc="16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800" kern="0" spc="-40" dirty="0">
                <a:solidFill>
                  <a:srgbClr val="FFFFFF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(o</a:t>
            </a:r>
            <a:r>
              <a:rPr sz="1300" kern="0" spc="-40" dirty="0">
                <a:solidFill>
                  <a:srgbClr val="FFFFFF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1</a:t>
            </a:r>
            <a:r>
              <a:rPr sz="1800" kern="0" spc="-50" dirty="0">
                <a:solidFill>
                  <a:srgbClr val="FFFFFF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)</a:t>
            </a:r>
            <a:endParaRPr sz="1800" dirty="0"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49275" algn="l" rtl="0" eaLnBrk="0">
              <a:lnSpc>
                <a:spcPct val="97000"/>
              </a:lnSpc>
              <a:spcBef>
                <a:spcPts val="550"/>
              </a:spcBef>
            </a:pPr>
            <a:r>
              <a:rPr sz="1800" kern="0" spc="-4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token</a:t>
            </a:r>
            <a:r>
              <a:rPr sz="1800" kern="0" spc="24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800" kern="0" spc="-4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1800" kern="0" spc="16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800" kern="0" spc="-40" dirty="0">
                <a:solidFill>
                  <a:srgbClr val="FFFFFF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(o</a:t>
            </a:r>
            <a:r>
              <a:rPr sz="1300" kern="0" spc="-40" dirty="0">
                <a:solidFill>
                  <a:srgbClr val="FFFFFF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1</a:t>
            </a:r>
            <a:r>
              <a:rPr sz="1800" kern="0" spc="-40" dirty="0">
                <a:solidFill>
                  <a:srgbClr val="FFFFFF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, </a:t>
            </a:r>
            <a:r>
              <a:rPr sz="1800" kern="0" spc="-40" dirty="0">
                <a:solidFill>
                  <a:srgbClr val="FFFFFF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1)</a:t>
            </a:r>
            <a:endParaRPr sz="1800" dirty="0"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  <a:p>
            <a:pPr algn="l" rtl="0" eaLnBrk="0">
              <a:lnSpc>
                <a:spcPct val="12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6000"/>
              </a:lnSpc>
              <a:spcBef>
                <a:spcPts val="550"/>
              </a:spcBef>
            </a:pPr>
            <a:r>
              <a:rPr sz="1800" kern="0" spc="-3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token</a:t>
            </a:r>
            <a:r>
              <a:rPr sz="1800" kern="0" spc="15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800" kern="0" spc="-3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r>
              <a:rPr sz="1800" kern="0" spc="16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800" kern="0" spc="-30" dirty="0">
                <a:solidFill>
                  <a:srgbClr val="FFFFFF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(o</a:t>
            </a:r>
            <a:r>
              <a:rPr sz="1300" kern="0" spc="-30" dirty="0">
                <a:solidFill>
                  <a:srgbClr val="FFFFFF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2</a:t>
            </a:r>
            <a:r>
              <a:rPr sz="1800" kern="0" spc="-30" dirty="0">
                <a:solidFill>
                  <a:srgbClr val="FFFFFF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, </a:t>
            </a:r>
            <a:r>
              <a:rPr sz="1800" kern="0" spc="-30" dirty="0">
                <a:solidFill>
                  <a:srgbClr val="FFFFFF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1)</a:t>
            </a:r>
            <a:endParaRPr sz="1800" dirty="0"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  <a:p>
            <a:pPr marL="280670" indent="322580" algn="l" rtl="0" eaLnBrk="0">
              <a:lnSpc>
                <a:spcPct val="179000"/>
              </a:lnSpc>
              <a:spcBef>
                <a:spcPts val="315"/>
              </a:spcBef>
            </a:pPr>
            <a:r>
              <a:rPr sz="18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token t</a:t>
            </a:r>
            <a:r>
              <a:rPr sz="1800" kern="0" spc="19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800" kern="0" spc="0" dirty="0">
                <a:solidFill>
                  <a:srgbClr val="FFFFFF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(o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t</a:t>
            </a:r>
            <a:r>
              <a:rPr sz="1800" kern="0" spc="0" dirty="0">
                <a:solidFill>
                  <a:srgbClr val="FFFFFF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, </a:t>
            </a:r>
            <a:r>
              <a:rPr sz="1800" kern="0" spc="0" dirty="0">
                <a:solidFill>
                  <a:srgbClr val="FFFFFF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t) </a:t>
            </a:r>
            <a:r>
              <a:rPr sz="1800" kern="0" spc="-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Ouput 2</a:t>
            </a:r>
            <a:r>
              <a:rPr sz="1800" kern="0" spc="18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800" kern="0" spc="-20" dirty="0">
                <a:solidFill>
                  <a:srgbClr val="FFFFFF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(o</a:t>
            </a:r>
            <a:r>
              <a:rPr sz="1300" kern="0" spc="-20" dirty="0">
                <a:solidFill>
                  <a:srgbClr val="FFFFFF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2</a:t>
            </a:r>
            <a:r>
              <a:rPr sz="1800" kern="0" spc="-20" dirty="0">
                <a:solidFill>
                  <a:srgbClr val="FFFFFF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)</a:t>
            </a:r>
            <a:endParaRPr sz="1800" dirty="0"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  <a:p>
            <a:pPr algn="l" rtl="0" eaLnBrk="0">
              <a:lnSpc>
                <a:spcPct val="103000"/>
              </a:lnSpc>
            </a:pP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6000"/>
              </a:lnSpc>
            </a:pPr>
            <a:r>
              <a:rPr sz="1800" kern="0" spc="-4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token</a:t>
            </a:r>
            <a:r>
              <a:rPr sz="1800" kern="0" spc="28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800" kern="0" spc="-4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1800" kern="0" spc="16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800" kern="0" spc="-40" dirty="0">
                <a:solidFill>
                  <a:srgbClr val="FFFFFF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(o</a:t>
            </a:r>
            <a:r>
              <a:rPr sz="1300" kern="0" spc="-40" dirty="0">
                <a:solidFill>
                  <a:srgbClr val="FFFFFF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2</a:t>
            </a:r>
            <a:r>
              <a:rPr sz="1800" kern="0" spc="-40" dirty="0">
                <a:solidFill>
                  <a:srgbClr val="FFFFFF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, </a:t>
            </a:r>
            <a:r>
              <a:rPr sz="1800" kern="0" spc="-40" dirty="0">
                <a:solidFill>
                  <a:srgbClr val="FFFFFF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1)</a:t>
            </a:r>
            <a:endParaRPr sz="1800" dirty="0"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232" name="textbox 232"/>
          <p:cNvSpPr/>
          <p:nvPr/>
        </p:nvSpPr>
        <p:spPr>
          <a:xfrm>
            <a:off x="3306593" y="1357468"/>
            <a:ext cx="1102360" cy="3322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sentence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级别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  <a:spcBef>
                <a:spcPts val="420"/>
              </a:spcBef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sentence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级别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  <a:spcBef>
                <a:spcPts val="5"/>
              </a:spcBef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sentence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级别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234" name="picture 2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3825" y="5553075"/>
            <a:ext cx="4181475" cy="628650"/>
          </a:xfrm>
          <a:prstGeom prst="rect">
            <a:avLst/>
          </a:prstGeom>
        </p:spPr>
      </p:pic>
      <p:sp>
        <p:nvSpPr>
          <p:cNvPr id="236" name="path 236"/>
          <p:cNvSpPr/>
          <p:nvPr/>
        </p:nvSpPr>
        <p:spPr>
          <a:xfrm>
            <a:off x="4495800" y="428625"/>
            <a:ext cx="19050" cy="6417732"/>
          </a:xfrm>
          <a:custGeom>
            <a:avLst/>
            <a:gdLst/>
            <a:ahLst/>
            <a:cxnLst/>
            <a:rect l="0" t="0" r="0" b="0"/>
            <a:pathLst>
              <a:path w="30" h="10106">
                <a:moveTo>
                  <a:pt x="15" y="0"/>
                </a:moveTo>
                <a:lnTo>
                  <a:pt x="15" y="10106"/>
                </a:lnTo>
              </a:path>
            </a:pathLst>
          </a:custGeom>
          <a:noFill/>
          <a:ln w="19050" cap="flat">
            <a:solidFill>
              <a:srgbClr val="156082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38" name="picture 2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525" y="5124450"/>
            <a:ext cx="4495799" cy="276225"/>
          </a:xfrm>
          <a:prstGeom prst="rect">
            <a:avLst/>
          </a:prstGeom>
        </p:spPr>
      </p:pic>
      <p:pic>
        <p:nvPicPr>
          <p:cNvPr id="240" name="picture 2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172325" y="2581275"/>
            <a:ext cx="2362200" cy="485775"/>
          </a:xfrm>
          <a:prstGeom prst="rect">
            <a:avLst/>
          </a:prstGeom>
        </p:spPr>
      </p:pic>
      <p:sp>
        <p:nvSpPr>
          <p:cNvPr id="242" name="textbox 242"/>
          <p:cNvSpPr/>
          <p:nvPr/>
        </p:nvSpPr>
        <p:spPr>
          <a:xfrm>
            <a:off x="4789983" y="3205318"/>
            <a:ext cx="5012054" cy="2146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400" kern="0" spc="20" dirty="0">
                <a:solidFill>
                  <a:srgbClr val="333333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优势</a:t>
            </a:r>
            <a:r>
              <a:rPr sz="1400" kern="0" spc="20" dirty="0">
                <a:solidFill>
                  <a:srgbClr val="33333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</a:t>
            </a:r>
            <a:r>
              <a:rPr sz="1400" kern="0" spc="20" dirty="0">
                <a:solidFill>
                  <a:srgbClr val="333333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不需要为每个</a:t>
            </a:r>
            <a:r>
              <a:rPr sz="1400" kern="0" spc="0" dirty="0">
                <a:solidFill>
                  <a:srgbClr val="33333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token</a:t>
            </a:r>
            <a:r>
              <a:rPr sz="1400" kern="0" spc="20" dirty="0">
                <a:solidFill>
                  <a:srgbClr val="333333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单独计算优势，而</a:t>
            </a:r>
            <a:r>
              <a:rPr sz="1400" kern="0" spc="10" dirty="0">
                <a:solidFill>
                  <a:srgbClr val="333333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是用整个输出的奖励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44" name="textbox 244"/>
          <p:cNvSpPr/>
          <p:nvPr/>
        </p:nvSpPr>
        <p:spPr>
          <a:xfrm>
            <a:off x="4522619" y="127299"/>
            <a:ext cx="3171189" cy="365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3000" b="1" kern="0" spc="-3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SPLIT</a:t>
            </a:r>
            <a:r>
              <a:rPr sz="3000" b="1" kern="0" spc="29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b="1" kern="0" spc="-3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FUNCTION</a:t>
            </a:r>
            <a:endParaRPr sz="3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6" name="group 6"/>
          <p:cNvGrpSpPr/>
          <p:nvPr/>
        </p:nvGrpSpPr>
        <p:grpSpPr>
          <a:xfrm rot="21600000">
            <a:off x="571500" y="4333875"/>
            <a:ext cx="1895475" cy="438150"/>
            <a:chOff x="0" y="0"/>
            <a:chExt cx="1895475" cy="438150"/>
          </a:xfrm>
        </p:grpSpPr>
        <p:sp>
          <p:nvSpPr>
            <p:cNvPr id="246" name="path 246"/>
            <p:cNvSpPr/>
            <p:nvPr/>
          </p:nvSpPr>
          <p:spPr>
            <a:xfrm>
              <a:off x="9525" y="9525"/>
              <a:ext cx="1876425" cy="419100"/>
            </a:xfrm>
            <a:custGeom>
              <a:avLst/>
              <a:gdLst/>
              <a:ahLst/>
              <a:cxnLst/>
              <a:rect l="0" t="0" r="0" b="0"/>
              <a:pathLst>
                <a:path w="2955" h="660">
                  <a:moveTo>
                    <a:pt x="0" y="660"/>
                  </a:moveTo>
                  <a:lnTo>
                    <a:pt x="2955" y="660"/>
                  </a:lnTo>
                  <a:lnTo>
                    <a:pt x="2955" y="0"/>
                  </a:lnTo>
                  <a:lnTo>
                    <a:pt x="0" y="0"/>
                  </a:lnTo>
                  <a:lnTo>
                    <a:pt x="0" y="660"/>
                  </a:lnTo>
                  <a:close/>
                </a:path>
              </a:pathLst>
            </a:custGeom>
            <a:solidFill>
              <a:srgbClr val="13501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8" name="path 248"/>
            <p:cNvSpPr/>
            <p:nvPr/>
          </p:nvSpPr>
          <p:spPr>
            <a:xfrm>
              <a:off x="0" y="0"/>
              <a:ext cx="1895475" cy="438150"/>
            </a:xfrm>
            <a:custGeom>
              <a:avLst/>
              <a:gdLst/>
              <a:ahLst/>
              <a:cxnLst/>
              <a:rect l="0" t="0" r="0" b="0"/>
              <a:pathLst>
                <a:path w="2985" h="690">
                  <a:moveTo>
                    <a:pt x="15" y="675"/>
                  </a:moveTo>
                  <a:lnTo>
                    <a:pt x="2970" y="675"/>
                  </a:lnTo>
                  <a:lnTo>
                    <a:pt x="2970" y="15"/>
                  </a:lnTo>
                  <a:lnTo>
                    <a:pt x="15" y="15"/>
                  </a:lnTo>
                  <a:lnTo>
                    <a:pt x="15" y="675"/>
                  </a:lnTo>
                  <a:close/>
                </a:path>
              </a:pathLst>
            </a:custGeom>
            <a:noFill/>
            <a:ln w="19050" cap="flat">
              <a:solidFill>
                <a:srgbClr val="042433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50" name="textbox 250"/>
          <p:cNvSpPr/>
          <p:nvPr/>
        </p:nvSpPr>
        <p:spPr>
          <a:xfrm>
            <a:off x="838710" y="4452576"/>
            <a:ext cx="1374139" cy="257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800" kern="0" spc="-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Ouput G</a:t>
            </a:r>
            <a:r>
              <a:rPr sz="1800" kern="0" spc="15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800" kern="0" spc="-20" dirty="0">
                <a:solidFill>
                  <a:srgbClr val="FFFFFF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(o</a:t>
            </a:r>
            <a:r>
              <a:rPr sz="2000" kern="0" spc="-20" baseline="-18000" dirty="0">
                <a:solidFill>
                  <a:srgbClr val="FFFFFF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G</a:t>
            </a:r>
            <a:r>
              <a:rPr sz="1300" kern="0" spc="-140" dirty="0">
                <a:solidFill>
                  <a:srgbClr val="FFFFFF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1800" kern="0" spc="-20" dirty="0">
                <a:solidFill>
                  <a:srgbClr val="FFFFFF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)</a:t>
            </a:r>
            <a:endParaRPr sz="1800" dirty="0"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252" name="textbox 252"/>
          <p:cNvSpPr/>
          <p:nvPr/>
        </p:nvSpPr>
        <p:spPr>
          <a:xfrm>
            <a:off x="1426362" y="4163504"/>
            <a:ext cx="194945" cy="55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40"/>
              </a:lnSpc>
            </a:pPr>
            <a:r>
              <a:rPr sz="1400" kern="0" spc="-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…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4" name="table 254"/>
          <p:cNvGraphicFramePr>
            <a:graphicFrameLocks noGrp="1"/>
          </p:cNvGraphicFramePr>
          <p:nvPr/>
        </p:nvGraphicFramePr>
        <p:xfrm>
          <a:off x="123825" y="542861"/>
          <a:ext cx="6267450" cy="2143125"/>
        </p:xfrm>
        <a:graphic>
          <a:graphicData uri="http://schemas.openxmlformats.org/drawingml/2006/table">
            <a:tbl>
              <a:tblPr/>
              <a:tblGrid>
                <a:gridCol w="6267450"/>
              </a:tblGrid>
              <a:tr h="21336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56" name="picture 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33350" y="552450"/>
            <a:ext cx="6248400" cy="2124075"/>
          </a:xfrm>
          <a:prstGeom prst="rect">
            <a:avLst/>
          </a:prstGeom>
        </p:spPr>
      </p:pic>
      <p:pic>
        <p:nvPicPr>
          <p:cNvPr id="258" name="picture 2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943850" y="2724150"/>
            <a:ext cx="3162300" cy="3381375"/>
          </a:xfrm>
          <a:prstGeom prst="rect">
            <a:avLst/>
          </a:prstGeom>
        </p:spPr>
      </p:pic>
      <p:graphicFrame>
        <p:nvGraphicFramePr>
          <p:cNvPr id="260" name="table 260"/>
          <p:cNvGraphicFramePr>
            <a:graphicFrameLocks noGrp="1"/>
          </p:cNvGraphicFramePr>
          <p:nvPr/>
        </p:nvGraphicFramePr>
        <p:xfrm>
          <a:off x="6505638" y="542861"/>
          <a:ext cx="5619750" cy="1619250"/>
        </p:xfrm>
        <a:graphic>
          <a:graphicData uri="http://schemas.openxmlformats.org/drawingml/2006/table">
            <a:tbl>
              <a:tblPr/>
              <a:tblGrid>
                <a:gridCol w="5619750"/>
              </a:tblGrid>
              <a:tr h="1609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62" name="picture 2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515100" y="552450"/>
            <a:ext cx="5600700" cy="1742059"/>
          </a:xfrm>
          <a:prstGeom prst="rect">
            <a:avLst/>
          </a:prstGeom>
        </p:spPr>
      </p:pic>
      <p:pic>
        <p:nvPicPr>
          <p:cNvPr id="264" name="picture 2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04925" y="3124200"/>
            <a:ext cx="4162425" cy="1666875"/>
          </a:xfrm>
          <a:prstGeom prst="rect">
            <a:avLst/>
          </a:prstGeom>
        </p:spPr>
      </p:pic>
      <p:sp>
        <p:nvSpPr>
          <p:cNvPr id="266" name="textbox 266"/>
          <p:cNvSpPr/>
          <p:nvPr/>
        </p:nvSpPr>
        <p:spPr>
          <a:xfrm>
            <a:off x="3931794" y="127299"/>
            <a:ext cx="4342129" cy="389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9000"/>
              </a:lnSpc>
            </a:pPr>
            <a:r>
              <a:rPr sz="3000" b="1" kern="0" spc="-3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Where</a:t>
            </a:r>
            <a:r>
              <a:rPr sz="3000" b="1" kern="0" spc="28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b="1" kern="0" spc="-3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is</a:t>
            </a:r>
            <a:r>
              <a:rPr sz="3000" b="1" kern="0" spc="23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b="1" kern="0" spc="-3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KL divergence</a:t>
            </a:r>
            <a:endParaRPr sz="3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8" name="textbox 268"/>
          <p:cNvSpPr/>
          <p:nvPr/>
        </p:nvSpPr>
        <p:spPr>
          <a:xfrm>
            <a:off x="2409824" y="2806878"/>
            <a:ext cx="1194435" cy="233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1400" kern="0" spc="16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β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D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KL</a:t>
            </a:r>
            <a:r>
              <a:rPr sz="1400" kern="0" spc="16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[π</a:t>
            </a:r>
            <a:r>
              <a:rPr sz="1000" kern="0" spc="16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θ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II</a:t>
            </a:r>
            <a:r>
              <a:rPr sz="1400" kern="0" spc="16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π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ref</a:t>
            </a:r>
            <a:r>
              <a:rPr sz="1400" kern="0" spc="16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]</a:t>
            </a:r>
            <a:endParaRPr sz="1400" dirty="0"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270" name="textbox 270"/>
          <p:cNvSpPr/>
          <p:nvPr/>
        </p:nvSpPr>
        <p:spPr>
          <a:xfrm>
            <a:off x="8483651" y="2350515"/>
            <a:ext cx="1458594" cy="184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200" kern="0" spc="-10" dirty="0">
                <a:solidFill>
                  <a:srgbClr val="00B05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每个token都有KL惩罚</a:t>
            </a:r>
            <a:endParaRPr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90040" y="6237605"/>
            <a:ext cx="2664460" cy="286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GRPO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5345430" y="61741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VS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8718550" y="6237605"/>
            <a:ext cx="1609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PPO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8483600" y="2287270"/>
            <a:ext cx="1457960" cy="3683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304925" y="4150995"/>
            <a:ext cx="1308735" cy="3683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2" name="table 272"/>
          <p:cNvGraphicFramePr>
            <a:graphicFrameLocks noGrp="1"/>
          </p:cNvGraphicFramePr>
          <p:nvPr/>
        </p:nvGraphicFramePr>
        <p:xfrm>
          <a:off x="123825" y="542861"/>
          <a:ext cx="6267450" cy="2143125"/>
        </p:xfrm>
        <a:graphic>
          <a:graphicData uri="http://schemas.openxmlformats.org/drawingml/2006/table">
            <a:tbl>
              <a:tblPr/>
              <a:tblGrid>
                <a:gridCol w="6267450"/>
              </a:tblGrid>
              <a:tr h="21336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74" name="picture 2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33350" y="552450"/>
            <a:ext cx="6248400" cy="2124075"/>
          </a:xfrm>
          <a:prstGeom prst="rect">
            <a:avLst/>
          </a:prstGeom>
        </p:spPr>
      </p:pic>
      <p:pic>
        <p:nvPicPr>
          <p:cNvPr id="276" name="picture 2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505200" y="4533900"/>
            <a:ext cx="5486400" cy="2047875"/>
          </a:xfrm>
          <a:prstGeom prst="rect">
            <a:avLst/>
          </a:prstGeom>
        </p:spPr>
      </p:pic>
      <p:graphicFrame>
        <p:nvGraphicFramePr>
          <p:cNvPr id="278" name="table 278"/>
          <p:cNvGraphicFramePr>
            <a:graphicFrameLocks noGrp="1"/>
          </p:cNvGraphicFramePr>
          <p:nvPr/>
        </p:nvGraphicFramePr>
        <p:xfrm>
          <a:off x="6505638" y="542861"/>
          <a:ext cx="5619750" cy="1619250"/>
        </p:xfrm>
        <a:graphic>
          <a:graphicData uri="http://schemas.openxmlformats.org/drawingml/2006/table">
            <a:tbl>
              <a:tblPr/>
              <a:tblGrid>
                <a:gridCol w="5619750"/>
              </a:tblGrid>
              <a:tr h="1609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80" name="picture 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515100" y="552450"/>
            <a:ext cx="5600700" cy="1742059"/>
          </a:xfrm>
          <a:prstGeom prst="rect">
            <a:avLst/>
          </a:prstGeom>
        </p:spPr>
      </p:pic>
      <p:pic>
        <p:nvPicPr>
          <p:cNvPr id="282" name="picture 28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00100" y="3267075"/>
            <a:ext cx="4914900" cy="914400"/>
          </a:xfrm>
          <a:prstGeom prst="rect">
            <a:avLst/>
          </a:prstGeom>
        </p:spPr>
      </p:pic>
      <p:sp>
        <p:nvSpPr>
          <p:cNvPr id="284" name="textbox 284"/>
          <p:cNvSpPr/>
          <p:nvPr/>
        </p:nvSpPr>
        <p:spPr>
          <a:xfrm>
            <a:off x="3822747" y="127299"/>
            <a:ext cx="4584065" cy="389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9000"/>
              </a:lnSpc>
            </a:pPr>
            <a:r>
              <a:rPr sz="3000" b="1" kern="0" spc="-2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KL divergence</a:t>
            </a:r>
            <a:r>
              <a:rPr sz="3000" b="1" kern="0" spc="21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b="1" kern="0" spc="-2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r>
              <a:rPr sz="3000" b="1" kern="0" spc="-3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ifference</a:t>
            </a:r>
            <a:endParaRPr sz="3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6" name="textbox 286"/>
          <p:cNvSpPr/>
          <p:nvPr/>
        </p:nvSpPr>
        <p:spPr>
          <a:xfrm>
            <a:off x="2409824" y="2806878"/>
            <a:ext cx="1194435" cy="233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1400" kern="0" spc="16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β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D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KL</a:t>
            </a:r>
            <a:r>
              <a:rPr sz="1400" kern="0" spc="16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[π</a:t>
            </a:r>
            <a:r>
              <a:rPr sz="1000" kern="0" spc="16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θ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II</a:t>
            </a:r>
            <a:r>
              <a:rPr sz="1400" kern="0" spc="16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π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ref</a:t>
            </a:r>
            <a:r>
              <a:rPr sz="1400" kern="0" spc="160" dirty="0">
                <a:solidFill>
                  <a:srgbClr val="000000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]</a:t>
            </a:r>
            <a:endParaRPr sz="1400" dirty="0"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288" name="textbox 288"/>
          <p:cNvSpPr/>
          <p:nvPr/>
        </p:nvSpPr>
        <p:spPr>
          <a:xfrm>
            <a:off x="8483651" y="2350515"/>
            <a:ext cx="1458594" cy="184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200" kern="0" spc="-10" dirty="0">
                <a:solidFill>
                  <a:srgbClr val="00B05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每个token都有KL惩罚</a:t>
            </a:r>
            <a:endParaRPr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rcRect r="1213" b="24793"/>
          <a:stretch>
            <a:fillRect/>
          </a:stretch>
        </p:blipFill>
        <p:spPr>
          <a:xfrm>
            <a:off x="9039225" y="4994910"/>
            <a:ext cx="2940050" cy="3568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xtbox 290"/>
          <p:cNvSpPr/>
          <p:nvPr/>
        </p:nvSpPr>
        <p:spPr>
          <a:xfrm>
            <a:off x="2151042" y="127299"/>
            <a:ext cx="7926069" cy="389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9000"/>
              </a:lnSpc>
            </a:pPr>
            <a:r>
              <a:rPr sz="3000" b="1" kern="0" spc="-1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Iterative Group Relative</a:t>
            </a:r>
            <a:r>
              <a:rPr sz="3000" b="1" kern="0" spc="21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b="1" kern="0" spc="-1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Policy Optimizati</a:t>
            </a:r>
            <a:r>
              <a:rPr sz="3000" b="1" kern="0" spc="-2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</a:t>
            </a:r>
            <a:endParaRPr sz="3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92" name="picture 2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6675" y="409575"/>
            <a:ext cx="11220450" cy="5153025"/>
          </a:xfrm>
          <a:prstGeom prst="rect">
            <a:avLst/>
          </a:prstGeom>
        </p:spPr>
      </p:pic>
      <p:sp>
        <p:nvSpPr>
          <p:cNvPr id="294" name="textbox 294"/>
          <p:cNvSpPr/>
          <p:nvPr/>
        </p:nvSpPr>
        <p:spPr>
          <a:xfrm>
            <a:off x="3735214" y="1778260"/>
            <a:ext cx="7334250" cy="2213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200" kern="0" spc="-20" dirty="0">
                <a:solidFill>
                  <a:srgbClr val="00B050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迭代次数</a:t>
            </a:r>
            <a:endParaRPr sz="1200" dirty="0">
              <a:latin typeface="MS Gothic" panose="020B0609070205080204" charset="-128"/>
              <a:ea typeface="MS Gothic" panose="020B0609070205080204" charset="-128"/>
              <a:cs typeface="MS Gothic" panose="020B0609070205080204" charset="-128"/>
            </a:endParaRPr>
          </a:p>
          <a:p>
            <a:pPr marL="219710" algn="l" rtl="0" eaLnBrk="0">
              <a:lnSpc>
                <a:spcPts val="1465"/>
              </a:lnSpc>
              <a:spcBef>
                <a:spcPts val="855"/>
              </a:spcBef>
            </a:pPr>
            <a:r>
              <a:rPr sz="1200" kern="0" spc="0" dirty="0">
                <a:solidFill>
                  <a:srgbClr val="00B050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不希望新的</a:t>
            </a:r>
            <a:r>
              <a:rPr sz="1200" kern="0" spc="0" dirty="0">
                <a:solidFill>
                  <a:srgbClr val="00B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model</a:t>
            </a:r>
            <a:r>
              <a:rPr sz="1200" kern="0" spc="0" dirty="0">
                <a:solidFill>
                  <a:srgbClr val="00B050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会偏移基座太</a:t>
            </a:r>
            <a:r>
              <a:rPr sz="1200" kern="0" spc="-10" dirty="0">
                <a:solidFill>
                  <a:srgbClr val="00B050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多</a:t>
            </a:r>
            <a:endParaRPr sz="1200" dirty="0">
              <a:latin typeface="MS Gothic" panose="020B0609070205080204" charset="-128"/>
              <a:ea typeface="MS Gothic" panose="020B0609070205080204" charset="-128"/>
              <a:cs typeface="MS Gothic" panose="020B0609070205080204" charset="-128"/>
            </a:endParaRPr>
          </a:p>
          <a:p>
            <a:pPr marL="426720" algn="l" rtl="0" eaLnBrk="0">
              <a:lnSpc>
                <a:spcPts val="2060"/>
              </a:lnSpc>
            </a:pPr>
            <a:r>
              <a:rPr sz="1200" kern="0" spc="-20" dirty="0">
                <a:solidFill>
                  <a:srgbClr val="00B050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采</a:t>
            </a:r>
            <a:r>
              <a:rPr sz="1200" kern="0" spc="-20" dirty="0">
                <a:solidFill>
                  <a:srgbClr val="00B050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样数据</a:t>
            </a:r>
            <a:endParaRPr sz="1200" dirty="0">
              <a:latin typeface="Microsoft JhengHei" panose="020B0604030504040204" charset="-120"/>
              <a:ea typeface="Microsoft JhengHei" panose="020B0604030504040204" charset="-120"/>
              <a:cs typeface="Microsoft JhengHei" panose="020B0604030504040204" charset="-120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523615" algn="l" rtl="0" eaLnBrk="0">
              <a:lnSpc>
                <a:spcPts val="1465"/>
              </a:lnSpc>
              <a:spcBef>
                <a:spcPts val="365"/>
              </a:spcBef>
            </a:pPr>
            <a:r>
              <a:rPr sz="1200" kern="0" spc="-10" dirty="0">
                <a:solidFill>
                  <a:srgbClr val="00B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old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428490" algn="l" rtl="0" eaLnBrk="0">
              <a:lnSpc>
                <a:spcPct val="87000"/>
              </a:lnSpc>
              <a:spcBef>
                <a:spcPts val="1080"/>
              </a:spcBef>
            </a:pPr>
            <a:r>
              <a:rPr sz="1200" kern="0" spc="-20" dirty="0">
                <a:solidFill>
                  <a:srgbClr val="00B05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采样一组</a:t>
            </a:r>
            <a:endParaRPr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4888865" algn="l" rtl="0" eaLnBrk="0">
              <a:lnSpc>
                <a:spcPct val="86000"/>
              </a:lnSpc>
              <a:spcBef>
                <a:spcPts val="1060"/>
              </a:spcBef>
            </a:pPr>
            <a:r>
              <a:rPr sz="1200" kern="0" spc="-10" dirty="0">
                <a:solidFill>
                  <a:srgbClr val="00B050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运行</a:t>
            </a:r>
            <a:r>
              <a:rPr sz="1200" kern="0" spc="-10" dirty="0">
                <a:solidFill>
                  <a:srgbClr val="00B050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奖励模型获取</a:t>
            </a:r>
            <a:r>
              <a:rPr sz="1200" kern="0" spc="-10" dirty="0">
                <a:solidFill>
                  <a:srgbClr val="00B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  <a:spcBef>
                <a:spcPts val="5"/>
              </a:spcBef>
            </a:pPr>
            <a:r>
              <a:rPr sz="1200" kern="0" spc="-20" dirty="0">
                <a:solidFill>
                  <a:srgbClr val="00B050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计算优势函数</a:t>
            </a:r>
            <a:endParaRPr sz="1200" dirty="0">
              <a:latin typeface="Microsoft JhengHei" panose="020B0604030504040204" charset="-120"/>
              <a:ea typeface="Microsoft JhengHei" panose="020B0604030504040204" charset="-120"/>
              <a:cs typeface="Microsoft JhengHei" panose="020B0604030504040204" charset="-120"/>
            </a:endParaRPr>
          </a:p>
        </p:txBody>
      </p:sp>
      <p:pic>
        <p:nvPicPr>
          <p:cNvPr id="296" name="picture 2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0500" y="5448298"/>
            <a:ext cx="5191125" cy="1314448"/>
          </a:xfrm>
          <a:prstGeom prst="rect">
            <a:avLst/>
          </a:prstGeom>
        </p:spPr>
      </p:pic>
      <p:graphicFrame>
        <p:nvGraphicFramePr>
          <p:cNvPr id="298" name="table 298"/>
          <p:cNvGraphicFramePr>
            <a:graphicFrameLocks noGrp="1"/>
          </p:cNvGraphicFramePr>
          <p:nvPr/>
        </p:nvGraphicFramePr>
        <p:xfrm>
          <a:off x="1333500" y="4057650"/>
          <a:ext cx="8715375" cy="638175"/>
        </p:xfrm>
        <a:graphic>
          <a:graphicData uri="http://schemas.openxmlformats.org/drawingml/2006/table">
            <a:tbl>
              <a:tblPr/>
              <a:tblGrid>
                <a:gridCol w="8715375"/>
              </a:tblGrid>
              <a:tr h="6191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picture 3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71450" y="1085850"/>
            <a:ext cx="7772400" cy="4314825"/>
          </a:xfrm>
          <a:prstGeom prst="rect">
            <a:avLst/>
          </a:prstGeom>
        </p:spPr>
      </p:pic>
      <p:pic>
        <p:nvPicPr>
          <p:cNvPr id="302" name="picture 3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572500" y="1866900"/>
            <a:ext cx="3314700" cy="4248150"/>
          </a:xfrm>
          <a:prstGeom prst="rect">
            <a:avLst/>
          </a:prstGeom>
        </p:spPr>
      </p:pic>
      <p:pic>
        <p:nvPicPr>
          <p:cNvPr id="304" name="picture 3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400675" y="1019175"/>
            <a:ext cx="6334125" cy="381000"/>
          </a:xfrm>
          <a:prstGeom prst="rect">
            <a:avLst/>
          </a:prstGeom>
        </p:spPr>
      </p:pic>
      <p:sp>
        <p:nvSpPr>
          <p:cNvPr id="306" name="textbox 306"/>
          <p:cNvSpPr/>
          <p:nvPr/>
        </p:nvSpPr>
        <p:spPr>
          <a:xfrm>
            <a:off x="418769" y="5779446"/>
            <a:ext cx="5207634" cy="3054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200"/>
              </a:lnSpc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hlinkClick r:id="rId4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https://huggingface.co/docs/trl/mai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hlinkClick r:id="rId4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n/en/grpo_trainer</a:t>
            </a:r>
            <a:endParaRPr sz="1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8" name="textbox 308"/>
          <p:cNvSpPr/>
          <p:nvPr/>
        </p:nvSpPr>
        <p:spPr>
          <a:xfrm>
            <a:off x="5205886" y="127299"/>
            <a:ext cx="1804035" cy="364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3000" b="1" kern="0" spc="-4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Code</a:t>
            </a:r>
            <a:r>
              <a:rPr sz="3000" b="1" kern="0" spc="20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b="1" kern="0" spc="-4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</a:t>
            </a:r>
            <a:endParaRPr sz="3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7495" y="16637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想象你在一个大型餐厅（</a:t>
            </a:r>
            <a:r>
              <a:rPr lang="en-US" altLang="zh-CN" sz="1000"/>
              <a:t>GPU</a:t>
            </a:r>
            <a:r>
              <a:rPr lang="zh-CN" altLang="en-US" sz="1000"/>
              <a:t>集群）工作，需要为顾客（训练样本）准备不同版本的菜品（</a:t>
            </a:r>
            <a:r>
              <a:rPr lang="en-US" altLang="zh-CN" sz="1000"/>
              <a:t>completion</a:t>
            </a:r>
            <a:r>
              <a:rPr lang="zh-CN" altLang="en-US" sz="1000"/>
              <a:t>）进行口味比较。</a:t>
            </a:r>
            <a:endParaRPr lang="zh-CN" altLang="en-US" sz="1000"/>
          </a:p>
        </p:txBody>
      </p:sp>
      <p:sp>
        <p:nvSpPr>
          <p:cNvPr id="3" name="文本框 2"/>
          <p:cNvSpPr txBox="1"/>
          <p:nvPr/>
        </p:nvSpPr>
        <p:spPr>
          <a:xfrm>
            <a:off x="2446655" y="3183890"/>
            <a:ext cx="4064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FF0000"/>
                </a:solidFill>
              </a:rPr>
              <a:t>含义：每个厨师（</a:t>
            </a:r>
            <a:r>
              <a:rPr lang="en-US" altLang="zh-CN" sz="1000">
                <a:solidFill>
                  <a:srgbClr val="FF0000"/>
                </a:solidFill>
              </a:rPr>
              <a:t>GPU</a:t>
            </a:r>
            <a:r>
              <a:rPr lang="zh-CN" altLang="en-US" sz="1000">
                <a:solidFill>
                  <a:srgbClr val="FF0000"/>
                </a:solidFill>
              </a:rPr>
              <a:t>）一次最多能炒</a:t>
            </a:r>
            <a:r>
              <a:rPr lang="en-US" altLang="zh-CN" sz="1000">
                <a:solidFill>
                  <a:srgbClr val="FF0000"/>
                </a:solidFill>
              </a:rPr>
              <a:t>4</a:t>
            </a:r>
            <a:r>
              <a:rPr lang="zh-CN" altLang="en-US" sz="1000">
                <a:solidFill>
                  <a:srgbClr val="FF0000"/>
                </a:solidFill>
              </a:rPr>
              <a:t>盘菜（</a:t>
            </a:r>
            <a:r>
              <a:rPr lang="en-US" altLang="zh-CN" sz="1000">
                <a:solidFill>
                  <a:srgbClr val="FF0000"/>
                </a:solidFill>
              </a:rPr>
              <a:t>4</a:t>
            </a:r>
            <a:r>
              <a:rPr lang="zh-CN" altLang="en-US" sz="1000">
                <a:solidFill>
                  <a:srgbClr val="FF0000"/>
                </a:solidFill>
              </a:rPr>
              <a:t>个</a:t>
            </a:r>
            <a:r>
              <a:rPr lang="en-US" altLang="zh-CN" sz="1000">
                <a:solidFill>
                  <a:srgbClr val="FF0000"/>
                </a:solidFill>
              </a:rPr>
              <a:t>completion</a:t>
            </a:r>
            <a:r>
              <a:rPr lang="zh-CN" altLang="en-US" sz="1000">
                <a:solidFill>
                  <a:srgbClr val="FF0000"/>
                </a:solidFill>
              </a:rPr>
              <a:t>）</a:t>
            </a:r>
            <a:endParaRPr lang="zh-CN" altLang="en-US" sz="100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76170" y="3916680"/>
            <a:ext cx="4064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FF0000"/>
                </a:solidFill>
              </a:rPr>
              <a:t>含义：每个顾客点菜时，厨师要准备</a:t>
            </a:r>
            <a:r>
              <a:rPr lang="en-US" altLang="zh-CN" sz="1000">
                <a:solidFill>
                  <a:srgbClr val="FF0000"/>
                </a:solidFill>
              </a:rPr>
              <a:t>4</a:t>
            </a:r>
            <a:r>
              <a:rPr lang="zh-CN" altLang="en-US" sz="1000">
                <a:solidFill>
                  <a:srgbClr val="FF0000"/>
                </a:solidFill>
              </a:rPr>
              <a:t>个不同版本的同一道菜</a:t>
            </a:r>
            <a:endParaRPr lang="zh-CN" altLang="en-US" sz="100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46655" y="3550285"/>
            <a:ext cx="4064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FF0000"/>
                </a:solidFill>
              </a:rPr>
              <a:t>含义：收集</a:t>
            </a:r>
            <a:r>
              <a:rPr lang="en-US" altLang="zh-CN" sz="1000">
                <a:solidFill>
                  <a:srgbClr val="FF0000"/>
                </a:solidFill>
              </a:rPr>
              <a:t>4</a:t>
            </a:r>
            <a:r>
              <a:rPr lang="zh-CN" altLang="en-US" sz="1000">
                <a:solidFill>
                  <a:srgbClr val="FF0000"/>
                </a:solidFill>
              </a:rPr>
              <a:t>次顾客反馈后再调整菜谱</a:t>
            </a:r>
            <a:endParaRPr lang="zh-CN" altLang="en-US" sz="1000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77495" y="3611245"/>
            <a:ext cx="2005965" cy="18415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947535" y="774065"/>
            <a:ext cx="5537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FF0000"/>
                </a:solidFill>
              </a:rPr>
              <a:t>厨师</a:t>
            </a:r>
            <a:endParaRPr lang="zh-CN" altLang="en-US" sz="100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039100" y="774065"/>
            <a:ext cx="113093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FF0000"/>
                </a:solidFill>
              </a:rPr>
              <a:t>厨师每次</a:t>
            </a:r>
            <a:r>
              <a:rPr lang="zh-CN" altLang="en-US" sz="1000">
                <a:solidFill>
                  <a:srgbClr val="FF0000"/>
                </a:solidFill>
              </a:rPr>
              <a:t>产出</a:t>
            </a:r>
            <a:endParaRPr lang="zh-CN" altLang="en-US" sz="100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441565" y="1400175"/>
            <a:ext cx="11309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rgbClr val="FF0000"/>
                </a:solidFill>
              </a:rPr>
              <a:t>厨房最大</a:t>
            </a:r>
            <a:r>
              <a:rPr lang="zh-CN" altLang="en-US" sz="1200" b="1">
                <a:solidFill>
                  <a:srgbClr val="FF0000"/>
                </a:solidFill>
              </a:rPr>
              <a:t>负荷</a:t>
            </a:r>
            <a:endParaRPr lang="zh-CN" altLang="en-US" sz="1200" b="1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208260" y="1400175"/>
            <a:ext cx="17526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rgbClr val="FF0000"/>
                </a:solidFill>
              </a:rPr>
              <a:t>每个订单做</a:t>
            </a:r>
            <a:r>
              <a:rPr lang="zh-CN" altLang="en-US" sz="1200" b="1">
                <a:solidFill>
                  <a:srgbClr val="FF0000"/>
                </a:solidFill>
              </a:rPr>
              <a:t>几个</a:t>
            </a:r>
            <a:r>
              <a:rPr lang="zh-CN" altLang="en-US" sz="1200" b="1">
                <a:solidFill>
                  <a:srgbClr val="FF0000"/>
                </a:solidFill>
              </a:rPr>
              <a:t>口味</a:t>
            </a:r>
            <a:endParaRPr lang="zh-CN" altLang="en-US" sz="1200" b="1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333365" y="1400175"/>
            <a:ext cx="11068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rgbClr val="FF0000"/>
                </a:solidFill>
              </a:rPr>
              <a:t>订单</a:t>
            </a:r>
            <a:r>
              <a:rPr lang="zh-CN" altLang="en-US" sz="1200" b="1">
                <a:solidFill>
                  <a:srgbClr val="FF0000"/>
                </a:solidFill>
              </a:rPr>
              <a:t>最大负荷</a:t>
            </a:r>
            <a:endParaRPr lang="zh-CN" altLang="en-US" sz="1200" b="1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828415" y="1093470"/>
            <a:ext cx="12928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rgbClr val="FF0000"/>
                </a:solidFill>
              </a:rPr>
              <a:t>单批次下：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013190" y="5594985"/>
            <a:ext cx="2319655" cy="48958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915400" y="6201410"/>
            <a:ext cx="29089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rgbClr val="FF0000"/>
                </a:solidFill>
              </a:rPr>
              <a:t>此参数下，两人合理完成一份</a:t>
            </a:r>
            <a:r>
              <a:rPr lang="zh-CN" altLang="en-US" sz="1400" b="1">
                <a:solidFill>
                  <a:srgbClr val="FF0000"/>
                </a:solidFill>
              </a:rPr>
              <a:t>订单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picture 3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181225" y="552450"/>
            <a:ext cx="7829550" cy="4133850"/>
          </a:xfrm>
          <a:prstGeom prst="rect">
            <a:avLst/>
          </a:prstGeom>
        </p:spPr>
      </p:pic>
      <p:pic>
        <p:nvPicPr>
          <p:cNvPr id="312" name="picture 3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23875" y="4810252"/>
            <a:ext cx="11268075" cy="1952496"/>
          </a:xfrm>
          <a:prstGeom prst="rect">
            <a:avLst/>
          </a:prstGeom>
        </p:spPr>
      </p:pic>
      <p:sp>
        <p:nvSpPr>
          <p:cNvPr id="314" name="textbox 314"/>
          <p:cNvSpPr/>
          <p:nvPr/>
        </p:nvSpPr>
        <p:spPr>
          <a:xfrm>
            <a:off x="3405027" y="127299"/>
            <a:ext cx="5406390" cy="364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3000" b="1" kern="0" spc="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Code</a:t>
            </a:r>
            <a:r>
              <a:rPr sz="3000" b="1" kern="0" spc="3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b="1" kern="0" spc="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</a:t>
            </a:r>
            <a:r>
              <a:rPr sz="3000" b="1" kern="0" spc="3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-</a:t>
            </a:r>
            <a:r>
              <a:rPr sz="3000" b="1" kern="0" spc="23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b="1" kern="0" spc="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Num</a:t>
            </a:r>
            <a:r>
              <a:rPr sz="3000" b="1" kern="0" spc="17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b="1" kern="0" spc="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Generations</a:t>
            </a:r>
            <a:endParaRPr sz="3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picture 3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552450"/>
            <a:ext cx="9439275" cy="4876800"/>
          </a:xfrm>
          <a:prstGeom prst="rect">
            <a:avLst/>
          </a:prstGeom>
        </p:spPr>
      </p:pic>
      <p:pic>
        <p:nvPicPr>
          <p:cNvPr id="318" name="picture 3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191625" y="4772023"/>
            <a:ext cx="2952750" cy="2038350"/>
          </a:xfrm>
          <a:prstGeom prst="rect">
            <a:avLst/>
          </a:prstGeom>
        </p:spPr>
      </p:pic>
      <p:sp>
        <p:nvSpPr>
          <p:cNvPr id="320" name="textbox 320"/>
          <p:cNvSpPr/>
          <p:nvPr/>
        </p:nvSpPr>
        <p:spPr>
          <a:xfrm>
            <a:off x="3072286" y="127299"/>
            <a:ext cx="6080759" cy="389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9000"/>
              </a:lnSpc>
            </a:pPr>
            <a:r>
              <a:rPr sz="3000" b="1" kern="0" spc="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Code</a:t>
            </a:r>
            <a:r>
              <a:rPr sz="3000" b="1" kern="0" spc="4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b="1" kern="0" spc="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</a:t>
            </a:r>
            <a:r>
              <a:rPr sz="3000" b="1" kern="0" spc="4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- </a:t>
            </a:r>
            <a:r>
              <a:rPr sz="3000" b="1" kern="0" spc="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Arguments</a:t>
            </a:r>
            <a:r>
              <a:rPr sz="3000" b="1" kern="0" spc="4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b="1" kern="0" spc="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</a:t>
            </a:r>
            <a:r>
              <a:rPr sz="3000" b="1" kern="0" spc="21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b="1" kern="0" spc="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policy</a:t>
            </a:r>
            <a:endParaRPr sz="3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474710" y="281940"/>
            <a:ext cx="3669665" cy="35998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这一页在表达一个非常关键的技术争议：在计算</a:t>
            </a:r>
            <a:r>
              <a:rPr lang="en-US" altLang="zh-CN" sz="1200">
                <a:solidFill>
                  <a:srgbClr val="FF0000"/>
                </a:solidFill>
              </a:rPr>
              <a:t>GRPO</a:t>
            </a:r>
            <a:r>
              <a:rPr lang="zh-CN" altLang="en-US" sz="1200">
                <a:solidFill>
                  <a:srgbClr val="FF0000"/>
                </a:solidFill>
              </a:rPr>
              <a:t>损失时，是否应该对序列长度进行归一化（即除以序列长度</a:t>
            </a:r>
            <a:r>
              <a:rPr lang="en-US" altLang="zh-CN" sz="1200">
                <a:solidFill>
                  <a:srgbClr val="FF0000"/>
                </a:solidFill>
              </a:rPr>
              <a:t> ∣oi ∣</a:t>
            </a:r>
            <a:r>
              <a:rPr lang="zh-CN" altLang="en-US" sz="1200">
                <a:solidFill>
                  <a:srgbClr val="FF0000"/>
                </a:solidFill>
              </a:rPr>
              <a:t>）。</a:t>
            </a:r>
            <a:endParaRPr lang="zh-CN" altLang="en-US" sz="1200">
              <a:solidFill>
                <a:srgbClr val="FF0000"/>
              </a:solidFill>
            </a:endParaRPr>
          </a:p>
          <a:p>
            <a:endParaRPr lang="zh-CN" altLang="en-US" sz="1200">
              <a:solidFill>
                <a:srgbClr val="FF0000"/>
              </a:solidFill>
            </a:endParaRPr>
          </a:p>
          <a:p>
            <a:r>
              <a:rPr lang="en-US" altLang="zh-CN" sz="1200">
                <a:solidFill>
                  <a:srgbClr val="FF0000"/>
                </a:solidFill>
              </a:rPr>
              <a:t>"</a:t>
            </a:r>
            <a:r>
              <a:rPr lang="zh-CN" altLang="en-US" sz="1200">
                <a:solidFill>
                  <a:srgbClr val="FF0000"/>
                </a:solidFill>
              </a:rPr>
              <a:t>不归一化</a:t>
            </a:r>
            <a:r>
              <a:rPr lang="en-US" altLang="zh-CN" sz="1200">
                <a:solidFill>
                  <a:srgbClr val="FF0000"/>
                </a:solidFill>
              </a:rPr>
              <a:t>"</a:t>
            </a:r>
            <a:r>
              <a:rPr lang="zh-CN" altLang="en-US" sz="1200">
                <a:solidFill>
                  <a:srgbClr val="FF0000"/>
                </a:solidFill>
              </a:rPr>
              <a:t>策略的实际效果</a:t>
            </a:r>
            <a:endParaRPr lang="zh-CN" altLang="en-US" sz="1200">
              <a:solidFill>
                <a:srgbClr val="FF0000"/>
              </a:solidFill>
            </a:endParaRPr>
          </a:p>
          <a:p>
            <a:r>
              <a:rPr lang="zh-CN" altLang="en-US" sz="1200">
                <a:solidFill>
                  <a:srgbClr val="FF0000"/>
                </a:solidFill>
              </a:rPr>
              <a:t>优点：</a:t>
            </a:r>
            <a:endParaRPr lang="zh-CN" altLang="en-US" sz="1200">
              <a:solidFill>
                <a:srgbClr val="FF0000"/>
              </a:solidFill>
            </a:endParaRPr>
          </a:p>
          <a:p>
            <a:pPr marL="228600" indent="-228600">
              <a:buAutoNum type="arabicPeriod"/>
            </a:pPr>
            <a:r>
              <a:rPr lang="zh-CN" altLang="en-US" sz="1200">
                <a:solidFill>
                  <a:srgbClr val="FF0000"/>
                </a:solidFill>
              </a:rPr>
              <a:t>鼓励完整回答：模型需要产出足够长度的有价值内容才能获得高总奖励</a:t>
            </a:r>
            <a:endParaRPr lang="en-US" altLang="zh-CN" sz="1200">
              <a:solidFill>
                <a:srgbClr val="FF0000"/>
              </a:solidFill>
            </a:endParaRPr>
          </a:p>
          <a:p>
            <a:pPr marL="228600" indent="-228600">
              <a:buAutoNum type="arabicPeriod"/>
            </a:pPr>
            <a:r>
              <a:rPr lang="zh-CN" altLang="en-US" sz="1200">
                <a:solidFill>
                  <a:srgbClr val="FF0000"/>
                </a:solidFill>
              </a:rPr>
              <a:t>减少</a:t>
            </a:r>
            <a:r>
              <a:rPr lang="en-US" altLang="zh-CN" sz="1200">
                <a:solidFill>
                  <a:srgbClr val="FF0000"/>
                </a:solidFill>
              </a:rPr>
              <a:t>"cheap points"</a:t>
            </a:r>
            <a:r>
              <a:rPr lang="zh-CN" altLang="en-US" sz="1200">
                <a:solidFill>
                  <a:srgbClr val="FF0000"/>
                </a:solidFill>
              </a:rPr>
              <a:t>：避免模型靠几个高质量</a:t>
            </a:r>
            <a:r>
              <a:rPr lang="en-US" altLang="zh-CN" sz="1200">
                <a:solidFill>
                  <a:srgbClr val="FF0000"/>
                </a:solidFill>
              </a:rPr>
              <a:t>token</a:t>
            </a:r>
            <a:r>
              <a:rPr lang="zh-CN" altLang="en-US" sz="1200">
                <a:solidFill>
                  <a:srgbClr val="FF0000"/>
                </a:solidFill>
              </a:rPr>
              <a:t>就获得高</a:t>
            </a:r>
            <a:r>
              <a:rPr lang="en-US" altLang="zh-CN" sz="1200">
                <a:solidFill>
                  <a:srgbClr val="FF0000"/>
                </a:solidFill>
              </a:rPr>
              <a:t>per-token</a:t>
            </a:r>
            <a:r>
              <a:rPr lang="zh-CN" altLang="en-US" sz="1200">
                <a:solidFill>
                  <a:srgbClr val="FF0000"/>
                </a:solidFill>
              </a:rPr>
              <a:t>奖励</a:t>
            </a:r>
            <a:endParaRPr lang="en-US" altLang="zh-CN" sz="1200">
              <a:solidFill>
                <a:srgbClr val="FF0000"/>
              </a:solidFill>
            </a:endParaRPr>
          </a:p>
          <a:p>
            <a:pPr marL="228600" indent="-228600">
              <a:buAutoNum type="arabicPeriod"/>
            </a:pPr>
            <a:r>
              <a:rPr lang="zh-CN" altLang="en-US" sz="1200">
                <a:solidFill>
                  <a:srgbClr val="FF0000"/>
                </a:solidFill>
              </a:rPr>
              <a:t>更自然的长度分布：在代码生成等任务中，完整函数</a:t>
            </a:r>
            <a:r>
              <a:rPr lang="en-US" altLang="zh-CN" sz="1200">
                <a:solidFill>
                  <a:srgbClr val="FF0000"/>
                </a:solidFill>
              </a:rPr>
              <a:t>/</a:t>
            </a:r>
            <a:r>
              <a:rPr lang="zh-CN" altLang="en-US" sz="1200">
                <a:solidFill>
                  <a:srgbClr val="FF0000"/>
                </a:solidFill>
              </a:rPr>
              <a:t>类的长度相对固定</a:t>
            </a:r>
            <a:endParaRPr lang="zh-CN" altLang="en-US" sz="1200">
              <a:solidFill>
                <a:srgbClr val="FF0000"/>
              </a:solidFill>
            </a:endParaRPr>
          </a:p>
          <a:p>
            <a:endParaRPr lang="en-US" altLang="zh-CN" sz="1200">
              <a:solidFill>
                <a:srgbClr val="FF0000"/>
              </a:solidFill>
            </a:endParaRPr>
          </a:p>
          <a:p>
            <a:r>
              <a:rPr lang="zh-CN" altLang="en-US" sz="1200">
                <a:solidFill>
                  <a:srgbClr val="FF0000"/>
                </a:solidFill>
              </a:rPr>
              <a:t>风险：</a:t>
            </a:r>
            <a:endParaRPr lang="zh-CN" altLang="en-US" sz="1200">
              <a:solidFill>
                <a:srgbClr val="FF0000"/>
              </a:solidFill>
            </a:endParaRPr>
          </a:p>
          <a:p>
            <a:pPr marL="228600" indent="-228600">
              <a:buAutoNum type="arabicPeriod"/>
            </a:pPr>
            <a:r>
              <a:rPr lang="zh-CN" altLang="en-US" sz="1200">
                <a:solidFill>
                  <a:srgbClr val="FF0000"/>
                </a:solidFill>
              </a:rPr>
              <a:t>模型学会</a:t>
            </a:r>
            <a:r>
              <a:rPr lang="en-US" altLang="zh-CN" sz="1200">
                <a:solidFill>
                  <a:srgbClr val="FF0000"/>
                </a:solidFill>
              </a:rPr>
              <a:t>"</a:t>
            </a:r>
            <a:r>
              <a:rPr lang="zh-CN" altLang="en-US" sz="1200">
                <a:solidFill>
                  <a:srgbClr val="FF0000"/>
                </a:solidFill>
              </a:rPr>
              <a:t>注水</a:t>
            </a:r>
            <a:r>
              <a:rPr lang="en-US" altLang="zh-CN" sz="1200">
                <a:solidFill>
                  <a:srgbClr val="FF0000"/>
                </a:solidFill>
              </a:rPr>
              <a:t>"</a:t>
            </a:r>
            <a:r>
              <a:rPr lang="zh-CN" altLang="en-US" sz="1200">
                <a:solidFill>
                  <a:srgbClr val="FF0000"/>
                </a:solidFill>
              </a:rPr>
              <a:t>：添加无意义的</a:t>
            </a:r>
            <a:r>
              <a:rPr lang="en-US" altLang="zh-CN" sz="1200">
                <a:solidFill>
                  <a:srgbClr val="FF0000"/>
                </a:solidFill>
              </a:rPr>
              <a:t>token</a:t>
            </a:r>
            <a:r>
              <a:rPr lang="zh-CN" altLang="en-US" sz="1200">
                <a:solidFill>
                  <a:srgbClr val="FF0000"/>
                </a:solidFill>
              </a:rPr>
              <a:t>来增加长度以获取更高总奖励</a:t>
            </a:r>
            <a:endParaRPr lang="en-US" altLang="zh-CN" sz="1200">
              <a:solidFill>
                <a:srgbClr val="FF0000"/>
              </a:solidFill>
            </a:endParaRPr>
          </a:p>
          <a:p>
            <a:pPr marL="228600" indent="-228600">
              <a:buAutoNum type="arabicPeriod"/>
            </a:pPr>
            <a:r>
              <a:rPr lang="zh-CN" altLang="en-US" sz="1200">
                <a:solidFill>
                  <a:srgbClr val="FF0000"/>
                </a:solidFill>
              </a:rPr>
              <a:t>长序列主导训练：批次中长序列会主导梯度更新</a:t>
            </a:r>
            <a:endParaRPr lang="en-US" altLang="zh-CN" sz="1200">
              <a:solidFill>
                <a:srgbClr val="FF0000"/>
              </a:solidFill>
            </a:endParaRPr>
          </a:p>
          <a:p>
            <a:pPr marL="228600" indent="-228600">
              <a:buAutoNum type="arabicPeriod"/>
            </a:pPr>
            <a:r>
              <a:rPr lang="zh-CN" altLang="en-US" sz="1200">
                <a:solidFill>
                  <a:srgbClr val="FF0000"/>
                </a:solidFill>
              </a:rPr>
              <a:t>训练不稳定：损失值变化范围大，需要更小的学习率</a:t>
            </a:r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0485" y="5137150"/>
            <a:ext cx="406400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>
                <a:solidFill>
                  <a:srgbClr val="FF0000"/>
                </a:solidFill>
              </a:rPr>
              <a:t>折中方案与当前研究趋势</a:t>
            </a:r>
            <a:endParaRPr lang="zh-CN" altLang="en-US" sz="1000" b="1">
              <a:solidFill>
                <a:srgbClr val="FF0000"/>
              </a:solidFill>
            </a:endParaRPr>
          </a:p>
          <a:p>
            <a:endParaRPr lang="zh-CN" altLang="en-US" sz="1000"/>
          </a:p>
          <a:p>
            <a:r>
              <a:rPr lang="zh-CN" altLang="en-US" sz="1000"/>
              <a:t>方案</a:t>
            </a:r>
            <a:r>
              <a:rPr lang="en-US" altLang="zh-CN" sz="1000"/>
              <a:t>1</a:t>
            </a:r>
            <a:r>
              <a:rPr lang="zh-CN" altLang="en-US" sz="1000"/>
              <a:t>：任务特定选择</a:t>
            </a:r>
            <a:endParaRPr lang="zh-CN" altLang="en-US" sz="1000"/>
          </a:p>
          <a:p>
            <a:endParaRPr lang="zh-CN" altLang="en-US" sz="1000"/>
          </a:p>
          <a:p>
            <a:pPr marL="228600" indent="-228600">
              <a:buAutoNum type="arabicPeriod"/>
            </a:pPr>
            <a:r>
              <a:rPr lang="zh-CN" altLang="en-US" sz="1000"/>
              <a:t>代码生成、数学推理：倾向于不归一化，因为需要完整解决方案</a:t>
            </a:r>
            <a:endParaRPr lang="en-US" altLang="zh-CN" sz="1000"/>
          </a:p>
          <a:p>
            <a:pPr marL="228600" indent="-228600">
              <a:buAutoNum type="arabicPeriod"/>
            </a:pPr>
            <a:r>
              <a:rPr lang="zh-CN" altLang="en-US" sz="1000"/>
              <a:t>对话、创意写作：倾向于归一化，避免无意义延伸</a:t>
            </a:r>
            <a:endParaRPr lang="en-US" altLang="zh-CN" sz="1000"/>
          </a:p>
          <a:p>
            <a:pPr marL="228600" indent="-228600">
              <a:buAutoNum type="arabicPeriod"/>
            </a:pPr>
            <a:r>
              <a:rPr lang="zh-CN" altLang="en-US" sz="1000"/>
              <a:t>指令遵循：可能归一化更好，因为简洁性通常被奖励</a:t>
            </a:r>
            <a:endParaRPr lang="zh-CN" altLang="en-US" sz="1000"/>
          </a:p>
        </p:txBody>
      </p:sp>
      <p:sp>
        <p:nvSpPr>
          <p:cNvPr id="5" name="文本框 4"/>
          <p:cNvSpPr txBox="1"/>
          <p:nvPr/>
        </p:nvSpPr>
        <p:spPr>
          <a:xfrm>
            <a:off x="70485" y="6305550"/>
            <a:ext cx="4356100" cy="585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buClrTx/>
              <a:buSzTx/>
              <a:buFontTx/>
              <a:buNone/>
            </a:pPr>
            <a:r>
              <a:rPr lang="zh-CN" altLang="en-US" sz="1000"/>
              <a:t>方案</a:t>
            </a:r>
            <a:r>
              <a:rPr lang="en-US" altLang="zh-CN" sz="1000"/>
              <a:t>2</a:t>
            </a:r>
            <a:r>
              <a:rPr lang="zh-CN" altLang="en-US" sz="1000"/>
              <a:t>：自适应</a:t>
            </a:r>
            <a:r>
              <a:rPr lang="zh-CN" altLang="en-US" sz="1000"/>
              <a:t>策略</a:t>
            </a:r>
            <a:endParaRPr lang="zh-CN" altLang="en-US" sz="1000"/>
          </a:p>
          <a:p>
            <a:pPr indent="0" algn="l">
              <a:buClrTx/>
              <a:buSzTx/>
              <a:buFontTx/>
              <a:buNone/>
            </a:pPr>
            <a:endParaRPr lang="zh-CN" altLang="en-US" sz="1000"/>
          </a:p>
          <a:p>
            <a:pPr indent="0" algn="l">
              <a:buClrTx/>
              <a:buSzTx/>
              <a:buFontTx/>
              <a:buNone/>
            </a:pPr>
            <a:r>
              <a:rPr lang="zh-CN" altLang="en-US" sz="1000"/>
              <a:t>过短，轻微惩罚；过长，归一化避免主导；正常范围，不归一化</a:t>
            </a:r>
            <a:endParaRPr lang="zh-CN" altLang="en-US" sz="1000"/>
          </a:p>
        </p:txBody>
      </p:sp>
      <p:sp>
        <p:nvSpPr>
          <p:cNvPr id="6" name="文本框 5"/>
          <p:cNvSpPr txBox="1"/>
          <p:nvPr/>
        </p:nvSpPr>
        <p:spPr>
          <a:xfrm>
            <a:off x="4835525" y="5465445"/>
            <a:ext cx="4356100" cy="683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buClrTx/>
              <a:buSzTx/>
              <a:buFontTx/>
              <a:buNone/>
            </a:pPr>
            <a:r>
              <a:rPr lang="zh-CN" altLang="en-US" sz="1000"/>
              <a:t>方案3：基于奖励函数的隐含归一化</a:t>
            </a:r>
            <a:endParaRPr lang="zh-CN" altLang="en-US" sz="1000"/>
          </a:p>
          <a:p>
            <a:pPr indent="0" algn="l">
              <a:buClrTx/>
              <a:buSzTx/>
              <a:buFontTx/>
              <a:buNone/>
            </a:pPr>
            <a:r>
              <a:rPr lang="zh-CN" altLang="en-US" sz="1000"/>
              <a:t>如果奖励函数本身已经考虑了长度（如BLEU、ROUGE包含长度惩罚），那么损失计算中可以不额外归一化。</a:t>
            </a:r>
            <a:endParaRPr lang="zh-CN" altLang="en-US" sz="10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160" y="6034405"/>
            <a:ext cx="1976755" cy="7759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picture 3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38125" y="990600"/>
            <a:ext cx="5419725" cy="4876800"/>
          </a:xfrm>
          <a:prstGeom prst="rect">
            <a:avLst/>
          </a:prstGeom>
        </p:spPr>
      </p:pic>
      <p:pic>
        <p:nvPicPr>
          <p:cNvPr id="324" name="picture 3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934075" y="1190625"/>
            <a:ext cx="6019800" cy="2314575"/>
          </a:xfrm>
          <a:prstGeom prst="rect">
            <a:avLst/>
          </a:prstGeom>
        </p:spPr>
      </p:pic>
      <p:pic>
        <p:nvPicPr>
          <p:cNvPr id="326" name="picture 3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934075" y="3743325"/>
            <a:ext cx="4362450" cy="2200275"/>
          </a:xfrm>
          <a:prstGeom prst="rect">
            <a:avLst/>
          </a:prstGeom>
        </p:spPr>
      </p:pic>
      <p:sp>
        <p:nvSpPr>
          <p:cNvPr id="328" name="textbox 328"/>
          <p:cNvSpPr/>
          <p:nvPr/>
        </p:nvSpPr>
        <p:spPr>
          <a:xfrm>
            <a:off x="3659408" y="127299"/>
            <a:ext cx="4900295" cy="384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3000" b="1" kern="0" spc="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Code</a:t>
            </a:r>
            <a:r>
              <a:rPr sz="3000" b="1" kern="0" spc="4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b="1" kern="0" spc="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</a:t>
            </a:r>
            <a:r>
              <a:rPr sz="3000" b="1" kern="0" spc="4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-</a:t>
            </a:r>
            <a:r>
              <a:rPr sz="3000" b="1" kern="0" spc="21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b="1" kern="0" spc="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Prepare</a:t>
            </a:r>
            <a:r>
              <a:rPr sz="3000" b="1" kern="0" spc="16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b="1" kern="0" spc="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Inputs</a:t>
            </a:r>
            <a:endParaRPr sz="3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2085" y="345440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200" b="0" i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缓存生成结果：避免每一步都调用生成模型，节省计算资源。</a:t>
            </a:r>
            <a:endParaRPr lang="zh-CN" altLang="en-US" sz="1200" b="0" i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200" b="0" i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批次切分与重用：一次生成，多次使用，适合多步策略优化。</a:t>
            </a:r>
            <a:endParaRPr lang="zh-CN" altLang="en-US" sz="1200" b="0" i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200" b="0" i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支持断点续训：缓存为空时可从检查点恢复。</a:t>
            </a:r>
            <a:endParaRPr lang="zh-CN" altLang="en-US" sz="1200" b="0" i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7020" y="5644515"/>
            <a:ext cx="3192145" cy="115824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800"/>
              </a:spcBef>
              <a:spcAft>
                <a:spcPts val="800"/>
              </a:spcAft>
            </a:pP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缓存机制（</a:t>
            </a: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-apple-system"/>
              </a:rPr>
              <a:t>Buffering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）</a:t>
            </a:r>
            <a:endParaRPr lang="zh-CN" altLang="en-US" sz="16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1000" b="0" i="0">
                <a:solidFill>
                  <a:srgbClr val="111133"/>
                </a:solidFill>
                <a:latin typeface="-apple-system"/>
                <a:ea typeface="-apple-system"/>
              </a:rPr>
              <a:t>不是每次迭代都重新生成</a:t>
            </a:r>
            <a:r>
              <a:rPr lang="en-US" altLang="zh-CN" sz="1000" b="0" i="0">
                <a:solidFill>
                  <a:srgbClr val="111133"/>
                </a:solidFill>
                <a:latin typeface="-apple-system"/>
                <a:ea typeface="-apple-system"/>
              </a:rPr>
              <a:t>completion</a:t>
            </a:r>
            <a:endParaRPr lang="en-US" altLang="zh-CN" sz="10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1000" b="0" i="0">
                <a:solidFill>
                  <a:srgbClr val="111133"/>
                </a:solidFill>
                <a:latin typeface="-apple-system"/>
                <a:ea typeface="-apple-system"/>
              </a:rPr>
              <a:t>只在固定间隔生成一次，然后循环使用</a:t>
            </a:r>
            <a:endParaRPr lang="zh-CN" altLang="en-US" sz="10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1000" b="0" i="0">
                <a:solidFill>
                  <a:srgbClr val="111133"/>
                </a:solidFill>
                <a:latin typeface="-apple-system"/>
                <a:ea typeface="-apple-system"/>
              </a:rPr>
              <a:t>节省大量计算资源</a:t>
            </a:r>
            <a:endParaRPr lang="zh-CN" altLang="en-US" sz="1000" b="0" i="0">
              <a:solidFill>
                <a:srgbClr val="111133"/>
              </a:solidFill>
              <a:latin typeface="-apple-system"/>
              <a:ea typeface="-apple-system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79165" y="5644515"/>
            <a:ext cx="3778885" cy="115824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800"/>
              </a:spcBef>
              <a:spcAft>
                <a:spcPts val="800"/>
              </a:spcAft>
            </a:pP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梯度累积（</a:t>
            </a: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-apple-system"/>
              </a:rPr>
              <a:t>Gradient Accumulation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）</a:t>
            </a:r>
            <a:endParaRPr lang="zh-CN" altLang="en-US" sz="16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1000" b="0" i="0">
                <a:solidFill>
                  <a:srgbClr val="111133"/>
                </a:solidFill>
                <a:latin typeface="-apple-system"/>
                <a:ea typeface="-apple-system"/>
              </a:rPr>
              <a:t>将多个小</a:t>
            </a:r>
            <a:r>
              <a:rPr lang="en-US" altLang="zh-CN" sz="1000" b="0" i="0">
                <a:solidFill>
                  <a:srgbClr val="111133"/>
                </a:solidFill>
                <a:latin typeface="-apple-system"/>
                <a:ea typeface="-apple-system"/>
              </a:rPr>
              <a:t>batch</a:t>
            </a:r>
            <a:r>
              <a:rPr lang="zh-CN" altLang="en-US" sz="1000" b="0" i="0">
                <a:solidFill>
                  <a:srgbClr val="111133"/>
                </a:solidFill>
                <a:latin typeface="-apple-system"/>
                <a:ea typeface="-apple-system"/>
              </a:rPr>
              <a:t>的梯度累积起来</a:t>
            </a:r>
            <a:endParaRPr lang="zh-CN" altLang="en-US" sz="10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1000" b="0" i="0">
                <a:solidFill>
                  <a:srgbClr val="111133"/>
                </a:solidFill>
                <a:latin typeface="-apple-system"/>
                <a:ea typeface="-apple-system"/>
              </a:rPr>
              <a:t>模拟更大的</a:t>
            </a:r>
            <a:r>
              <a:rPr lang="en-US" altLang="zh-CN" sz="1000" b="0" i="0">
                <a:solidFill>
                  <a:srgbClr val="111133"/>
                </a:solidFill>
                <a:latin typeface="-apple-system"/>
                <a:ea typeface="-apple-system"/>
              </a:rPr>
              <a:t>batch size</a:t>
            </a:r>
            <a:endParaRPr lang="en-US" altLang="zh-CN" sz="10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1000" b="0" i="0">
                <a:solidFill>
                  <a:srgbClr val="111133"/>
                </a:solidFill>
                <a:latin typeface="-apple-system"/>
                <a:ea typeface="-apple-system"/>
              </a:rPr>
              <a:t>提高训练稳定性</a:t>
            </a:r>
            <a:endParaRPr lang="zh-CN" altLang="en-US" sz="1000" b="0" i="0">
              <a:solidFill>
                <a:srgbClr val="111133"/>
              </a:solidFill>
              <a:latin typeface="-apple-system"/>
              <a:ea typeface="-apple-system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13955" y="5614035"/>
            <a:ext cx="3653790" cy="11887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800"/>
              </a:spcBef>
              <a:spcAft>
                <a:spcPts val="800"/>
              </a:spcAft>
            </a:pPr>
            <a:r>
              <a:rPr lang="zh-CN" altLang="en-US" b="0" i="0">
                <a:solidFill>
                  <a:srgbClr val="111133"/>
                </a:solidFill>
                <a:latin typeface="-apple-system"/>
                <a:ea typeface="-apple-system"/>
              </a:rPr>
              <a:t>分布式处理</a:t>
            </a:r>
            <a:endParaRPr lang="zh-CN" altLang="en-US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en-US" altLang="zh-CN" sz="1000" b="0" i="0">
                <a:solidFill>
                  <a:srgbClr val="111133"/>
                </a:solidFill>
                <a:latin typeface="ui-monospace"/>
                <a:ea typeface="ui-monospace"/>
              </a:rPr>
              <a:t>split_pixel_values_by_grid</a:t>
            </a:r>
            <a:r>
              <a:rPr lang="en-US" altLang="zh-CN" sz="1000" b="0" i="0">
                <a:solidFill>
                  <a:srgbClr val="1111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000" b="0" i="0">
                <a:solidFill>
                  <a:srgbClr val="111133"/>
                </a:solidFill>
                <a:latin typeface="-apple-system"/>
                <a:ea typeface="-apple-system"/>
              </a:rPr>
              <a:t>和</a:t>
            </a:r>
            <a:r>
              <a:rPr lang="en-US" altLang="zh-CN" sz="1000" b="0" i="0">
                <a:solidFill>
                  <a:srgbClr val="111133"/>
                </a:solidFill>
                <a:latin typeface="-apple-system"/>
                <a:ea typeface="-apple-system"/>
              </a:rPr>
              <a:t> </a:t>
            </a:r>
            <a:r>
              <a:rPr lang="en-US" altLang="zh-CN" sz="1000" b="0" i="0">
                <a:solidFill>
                  <a:srgbClr val="111133"/>
                </a:solidFill>
                <a:latin typeface="ui-monospace"/>
                <a:ea typeface="ui-monospace"/>
              </a:rPr>
              <a:t>split_tensor_dict</a:t>
            </a:r>
            <a:endParaRPr lang="en-US" altLang="zh-CN" sz="1000" b="0" i="0">
              <a:solidFill>
                <a:srgbClr val="111133"/>
              </a:solidFill>
              <a:latin typeface="ui-monospace"/>
              <a:ea typeface="ui-monospace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1000" b="0" i="0">
                <a:solidFill>
                  <a:srgbClr val="111133"/>
                </a:solidFill>
                <a:latin typeface="-apple-system"/>
                <a:ea typeface="-apple-system"/>
              </a:rPr>
              <a:t>支持多</a:t>
            </a:r>
            <a:r>
              <a:rPr lang="en-US" altLang="zh-CN" sz="1000" b="0" i="0">
                <a:solidFill>
                  <a:srgbClr val="111133"/>
                </a:solidFill>
                <a:latin typeface="-apple-system"/>
                <a:ea typeface="-apple-system"/>
              </a:rPr>
              <a:t>GPU</a:t>
            </a:r>
            <a:r>
              <a:rPr lang="zh-CN" altLang="en-US" sz="1000" b="0" i="0">
                <a:solidFill>
                  <a:srgbClr val="111133"/>
                </a:solidFill>
                <a:latin typeface="-apple-system"/>
                <a:ea typeface="-apple-system"/>
              </a:rPr>
              <a:t>并行处理</a:t>
            </a:r>
            <a:endParaRPr lang="zh-CN" altLang="en-US" sz="10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1000" b="0" i="0">
                <a:solidFill>
                  <a:srgbClr val="111133"/>
                </a:solidFill>
                <a:latin typeface="-apple-system"/>
                <a:ea typeface="-apple-system"/>
              </a:rPr>
              <a:t>确保数据正确分布在不同设备上</a:t>
            </a:r>
            <a:endParaRPr lang="zh-CN" altLang="en-US" sz="1000" b="0" i="0">
              <a:solidFill>
                <a:srgbClr val="1111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0" name="table 330"/>
          <p:cNvGraphicFramePr>
            <a:graphicFrameLocks noGrp="1"/>
          </p:cNvGraphicFramePr>
          <p:nvPr/>
        </p:nvGraphicFramePr>
        <p:xfrm>
          <a:off x="6167818" y="2447988"/>
          <a:ext cx="4019550" cy="2190750"/>
        </p:xfrm>
        <a:graphic>
          <a:graphicData uri="http://schemas.openxmlformats.org/drawingml/2006/table">
            <a:tbl>
              <a:tblPr/>
              <a:tblGrid>
                <a:gridCol w="4019550"/>
              </a:tblGrid>
              <a:tr h="21812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32" name="picture 3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167755" y="2457450"/>
            <a:ext cx="4000500" cy="2171700"/>
          </a:xfrm>
          <a:prstGeom prst="rect">
            <a:avLst/>
          </a:prstGeom>
        </p:spPr>
      </p:pic>
      <p:pic>
        <p:nvPicPr>
          <p:cNvPr id="334" name="picture 3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09575" y="638175"/>
            <a:ext cx="6372225" cy="1295400"/>
          </a:xfrm>
          <a:prstGeom prst="rect">
            <a:avLst/>
          </a:prstGeom>
        </p:spPr>
      </p:pic>
      <p:pic>
        <p:nvPicPr>
          <p:cNvPr id="336" name="picture 3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3219450"/>
            <a:ext cx="5067300" cy="1409700"/>
          </a:xfrm>
          <a:prstGeom prst="rect">
            <a:avLst/>
          </a:prstGeom>
        </p:spPr>
      </p:pic>
      <p:pic>
        <p:nvPicPr>
          <p:cNvPr id="338" name="picture 3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71525" y="2019300"/>
            <a:ext cx="4905375" cy="914400"/>
          </a:xfrm>
          <a:prstGeom prst="rect">
            <a:avLst/>
          </a:prstGeom>
        </p:spPr>
      </p:pic>
      <p:sp>
        <p:nvSpPr>
          <p:cNvPr id="340" name="textbox 340"/>
          <p:cNvSpPr/>
          <p:nvPr/>
        </p:nvSpPr>
        <p:spPr>
          <a:xfrm>
            <a:off x="3669567" y="127299"/>
            <a:ext cx="4879975" cy="384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3000" b="1" kern="0" spc="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Code</a:t>
            </a:r>
            <a:r>
              <a:rPr sz="3000" b="1" kern="0" spc="3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b="1" kern="0" spc="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</a:t>
            </a:r>
            <a:r>
              <a:rPr sz="3000" b="1" kern="0" spc="3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-</a:t>
            </a:r>
            <a:r>
              <a:rPr sz="3000" b="1" kern="0" spc="15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b="1" kern="0" spc="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Compute</a:t>
            </a:r>
            <a:r>
              <a:rPr sz="3000" b="1" kern="0" spc="26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b="1" kern="0" spc="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Loss</a:t>
            </a:r>
            <a:endParaRPr sz="3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81800" y="638492"/>
            <a:ext cx="5080000" cy="175323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200" b="0" i="0">
                <a:latin typeface="-apple-system"/>
                <a:ea typeface="-apple-system"/>
              </a:rPr>
              <a:t>这一页展示了</a:t>
            </a:r>
            <a:r>
              <a:rPr lang="en-US" altLang="zh-CN" sz="1200" b="0" i="0">
                <a:latin typeface="-apple-system"/>
                <a:ea typeface="-apple-system"/>
              </a:rPr>
              <a:t>GRPO</a:t>
            </a:r>
            <a:r>
              <a:rPr lang="zh-CN" altLang="en-US" sz="1200" b="0" i="0">
                <a:latin typeface="-apple-system"/>
                <a:ea typeface="-apple-system"/>
              </a:rPr>
              <a:t>如何计算最终的训练损失，包含两个核心部分：</a:t>
            </a:r>
            <a:endParaRPr lang="zh-CN" altLang="en-US" sz="1200" b="0" i="0">
              <a:latin typeface="-apple-system"/>
              <a:ea typeface="-apple-system"/>
            </a:endParaRPr>
          </a:p>
          <a:p>
            <a:pPr marL="0" indent="0"/>
            <a:endParaRPr lang="zh-CN" altLang="en-US" sz="1200" b="0" i="0">
              <a:latin typeface="-apple-system"/>
              <a:ea typeface="-apple-system"/>
            </a:endParaRPr>
          </a:p>
          <a:p>
            <a:pPr marL="0" indent="0"/>
            <a:r>
              <a:rPr lang="en-US" altLang="zh-CN" sz="1200" b="0" i="0">
                <a:latin typeface="-apple-system"/>
                <a:ea typeface="-apple-system"/>
              </a:rPr>
              <a:t>KL</a:t>
            </a:r>
            <a:r>
              <a:rPr lang="zh-CN" altLang="en-US" sz="1200" b="0" i="0">
                <a:latin typeface="-apple-system"/>
                <a:ea typeface="-apple-system"/>
              </a:rPr>
              <a:t>散度惩罚项：</a:t>
            </a:r>
            <a:endParaRPr lang="zh-CN" altLang="en-US" sz="1200" b="0" i="0">
              <a:latin typeface="-apple-system"/>
              <a:ea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b="0" i="0">
                <a:latin typeface="-apple-system"/>
                <a:ea typeface="-apple-system"/>
              </a:rPr>
              <a:t>使用</a:t>
            </a:r>
            <a:r>
              <a:rPr lang="en-US" altLang="zh-CN" sz="1200" b="0" i="0">
                <a:latin typeface="-apple-system"/>
                <a:ea typeface="-apple-system"/>
              </a:rPr>
              <a:t> r−logr−1 </a:t>
            </a:r>
            <a:r>
              <a:rPr lang="zh-CN" altLang="en-US" sz="1200" b="0" i="0">
                <a:latin typeface="-apple-system"/>
                <a:ea typeface="-apple-system"/>
              </a:rPr>
              <a:t>作为无偏估计</a:t>
            </a:r>
            <a:endParaRPr lang="zh-CN" altLang="en-US" sz="1200" b="0" i="0">
              <a:latin typeface="-apple-system"/>
              <a:ea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b="0" i="0">
                <a:latin typeface="-apple-system"/>
                <a:ea typeface="-apple-system"/>
              </a:rPr>
              <a:t>保证非负性，防止策略崩溃</a:t>
            </a:r>
            <a:endParaRPr lang="zh-CN" altLang="en-US" sz="1200" b="0" i="0">
              <a:latin typeface="-apple-system"/>
              <a:ea typeface="-apple-system"/>
            </a:endParaRPr>
          </a:p>
          <a:p>
            <a:pPr marL="0" indent="0"/>
            <a:r>
              <a:rPr lang="zh-CN" altLang="en-US" sz="1200" b="0" i="0">
                <a:latin typeface="-apple-system"/>
                <a:ea typeface="-apple-system"/>
              </a:rPr>
              <a:t>策略损失：</a:t>
            </a:r>
            <a:endParaRPr lang="zh-CN" altLang="en-US" sz="1200" b="0" i="0">
              <a:latin typeface="-apple-system"/>
              <a:ea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b="0" i="0">
                <a:latin typeface="-apple-system"/>
                <a:ea typeface="-apple-system"/>
              </a:rPr>
              <a:t>基于重要性采样比</a:t>
            </a:r>
            <a:endParaRPr lang="zh-CN" altLang="en-US" sz="1200" b="0" i="0">
              <a:latin typeface="-apple-system"/>
              <a:ea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b="0" i="0">
                <a:latin typeface="-apple-system"/>
                <a:ea typeface="-apple-system"/>
              </a:rPr>
              <a:t>使用双侧</a:t>
            </a:r>
            <a:r>
              <a:rPr lang="en-US" altLang="zh-CN" sz="1200" b="0" i="0">
                <a:latin typeface="-apple-system"/>
                <a:ea typeface="-apple-system"/>
              </a:rPr>
              <a:t>clipping</a:t>
            </a:r>
            <a:r>
              <a:rPr lang="zh-CN" altLang="en-US" sz="1200" b="0" i="0">
                <a:latin typeface="-apple-system"/>
                <a:ea typeface="-apple-system"/>
              </a:rPr>
              <a:t>控制更新幅度</a:t>
            </a:r>
            <a:endParaRPr lang="zh-CN" altLang="en-US" sz="1200" b="0" i="0">
              <a:latin typeface="-apple-system"/>
              <a:ea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b="0" i="0">
                <a:latin typeface="-apple-system"/>
                <a:ea typeface="-apple-system"/>
              </a:rPr>
              <a:t>最终损失为两者的组合</a:t>
            </a:r>
            <a:endParaRPr lang="zh-CN" altLang="en-US" sz="1200" b="0" i="0"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0675" y="4629150"/>
            <a:ext cx="3968115" cy="170434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1300"/>
              </a:lnSpc>
              <a:spcBef>
                <a:spcPts val="800"/>
              </a:spcBef>
              <a:spcAft>
                <a:spcPts val="800"/>
              </a:spcAft>
            </a:pP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最佳实践建议：</a:t>
            </a:r>
            <a:endParaRPr lang="zh-CN" altLang="en-US" sz="16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AutoNum type="arabicPeriod"/>
            </a:pP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合理设置</a:t>
            </a: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-apple-system"/>
              </a:rPr>
              <a:t>beta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：控制</a:t>
            </a: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-apple-system"/>
              </a:rPr>
              <a:t>KL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惩罚强度</a:t>
            </a:r>
            <a:endParaRPr lang="zh-CN" altLang="en-US" sz="16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AutoNum type="arabicPeriod"/>
            </a:pP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监控</a:t>
            </a: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-apple-system"/>
              </a:rPr>
              <a:t>KL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值：确保策略不会偏离太远</a:t>
            </a:r>
            <a:endParaRPr lang="zh-CN" altLang="en-US" sz="16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AutoNum type="arabicPeriod"/>
            </a:pPr>
            <a:r>
              <a:rPr lang="zh-CN" altLang="en-US" sz="1600" b="1" i="0">
                <a:solidFill>
                  <a:srgbClr val="111133"/>
                </a:solidFill>
                <a:latin typeface="-apple-system"/>
                <a:ea typeface="-apple-system"/>
              </a:rPr>
              <a:t>调整</a:t>
            </a:r>
            <a:r>
              <a:rPr lang="en-US" altLang="zh-CN" sz="1600" b="1" i="0">
                <a:solidFill>
                  <a:srgbClr val="111133"/>
                </a:solidFill>
                <a:latin typeface="-apple-system"/>
                <a:ea typeface="-apple-system"/>
              </a:rPr>
              <a:t>epsilon</a:t>
            </a:r>
            <a:r>
              <a:rPr lang="zh-CN" altLang="en-US" sz="1600" b="1" i="0">
                <a:solidFill>
                  <a:srgbClr val="111133"/>
                </a:solidFill>
                <a:latin typeface="-apple-system"/>
                <a:ea typeface="-apple-system"/>
              </a:rPr>
              <a:t>和</a:t>
            </a:r>
            <a:r>
              <a:rPr lang="en-US" altLang="zh-CN" sz="1600" b="1" i="0">
                <a:solidFill>
                  <a:srgbClr val="111133"/>
                </a:solidFill>
                <a:latin typeface="-apple-system"/>
                <a:ea typeface="-apple-system"/>
              </a:rPr>
              <a:t>delta</a:t>
            </a:r>
            <a:r>
              <a:rPr lang="zh-CN" altLang="en-US" sz="1600" b="1" i="0">
                <a:solidFill>
                  <a:srgbClr val="111133"/>
                </a:solidFill>
                <a:latin typeface="-apple-system"/>
                <a:ea typeface="-apple-system"/>
              </a:rPr>
              <a:t>：平衡探索与稳定</a:t>
            </a:r>
            <a:endParaRPr lang="zh-CN" altLang="en-US" sz="1600" b="1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AutoNum type="arabicPeriod"/>
            </a:pPr>
            <a:r>
              <a:rPr lang="zh-CN" altLang="en-US" sz="1600" b="1" i="0">
                <a:solidFill>
                  <a:srgbClr val="111133"/>
                </a:solidFill>
                <a:latin typeface="-apple-system"/>
                <a:ea typeface="-apple-system"/>
              </a:rPr>
              <a:t>注意数值稳定性：避免</a:t>
            </a:r>
            <a:r>
              <a:rPr lang="en-US" altLang="zh-CN" sz="1600" b="1" i="0">
                <a:solidFill>
                  <a:srgbClr val="111133"/>
                </a:solidFill>
                <a:latin typeface="-apple-system"/>
                <a:ea typeface="-apple-system"/>
              </a:rPr>
              <a:t>log</a:t>
            </a:r>
            <a:r>
              <a:rPr lang="zh-CN" altLang="en-US" sz="1600" b="1" i="0">
                <a:solidFill>
                  <a:srgbClr val="111133"/>
                </a:solidFill>
                <a:latin typeface="-apple-system"/>
                <a:ea typeface="-apple-system"/>
              </a:rPr>
              <a:t>概率下溢</a:t>
            </a:r>
            <a:endParaRPr lang="zh-CN" altLang="en-US" sz="1600" b="1" i="0">
              <a:solidFill>
                <a:srgbClr val="111133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31410" y="4792980"/>
            <a:ext cx="6696075" cy="1938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000" b="0" i="0">
                <a:solidFill>
                  <a:srgbClr val="FF0000"/>
                </a:solidFill>
                <a:latin typeface="-apple-system"/>
                <a:ea typeface="-apple-system"/>
              </a:rPr>
              <a:t>在</a:t>
            </a:r>
            <a:r>
              <a:rPr lang="en-US" altLang="zh-CN" sz="1000" b="0" i="0">
                <a:solidFill>
                  <a:srgbClr val="FF0000"/>
                </a:solidFill>
                <a:latin typeface="-apple-system"/>
                <a:ea typeface="-apple-system"/>
              </a:rPr>
              <a:t>GRPO</a:t>
            </a:r>
            <a:r>
              <a:rPr lang="zh-CN" altLang="en-US" sz="1000" b="0" i="0">
                <a:solidFill>
                  <a:srgbClr val="FF0000"/>
                </a:solidFill>
                <a:latin typeface="-apple-system"/>
                <a:ea typeface="-apple-system"/>
              </a:rPr>
              <a:t>算法中，</a:t>
            </a:r>
            <a:r>
              <a:rPr lang="en-US" altLang="zh-CN" sz="1000" b="0" i="0">
                <a:solidFill>
                  <a:srgbClr val="FF0000"/>
                </a:solidFill>
                <a:latin typeface="-apple-system"/>
                <a:ea typeface="-apple-system"/>
              </a:rPr>
              <a:t>epsilon</a:t>
            </a:r>
            <a:r>
              <a:rPr lang="zh-CN" altLang="en-US" sz="1000" b="0" i="0">
                <a:solidFill>
                  <a:srgbClr val="FF0000"/>
                </a:solidFill>
                <a:latin typeface="-apple-system"/>
                <a:ea typeface="-apple-system"/>
              </a:rPr>
              <a:t>和</a:t>
            </a:r>
            <a:r>
              <a:rPr lang="en-US" altLang="zh-CN" sz="1000" b="0" i="0">
                <a:solidFill>
                  <a:srgbClr val="FF0000"/>
                </a:solidFill>
                <a:latin typeface="-apple-system"/>
                <a:ea typeface="-apple-system"/>
              </a:rPr>
              <a:t>delta</a:t>
            </a:r>
            <a:r>
              <a:rPr lang="zh-CN" altLang="en-US" sz="1000" b="0" i="0">
                <a:solidFill>
                  <a:srgbClr val="FF0000"/>
                </a:solidFill>
                <a:latin typeface="-apple-system"/>
                <a:ea typeface="-apple-system"/>
              </a:rPr>
              <a:t>是用来控制策略更新幅度的参数，它们直接关系到算法的探索能力与训练稳定性。</a:t>
            </a:r>
            <a:endParaRPr lang="zh-CN" altLang="en-US" sz="1000" b="0" i="0">
              <a:solidFill>
                <a:srgbClr val="FF0000"/>
              </a:solidFill>
              <a:latin typeface="-apple-system"/>
              <a:ea typeface="-apple-system"/>
            </a:endParaRPr>
          </a:p>
          <a:p>
            <a:pPr marL="0" indent="0"/>
            <a:endParaRPr lang="zh-CN" altLang="en-US" sz="1000" b="0" i="0">
              <a:solidFill>
                <a:srgbClr val="FF0000"/>
              </a:solidFill>
              <a:latin typeface="-apple-system"/>
              <a:ea typeface="-apple-system"/>
            </a:endParaRPr>
          </a:p>
          <a:p>
            <a:pPr marL="0" indent="0"/>
            <a:r>
              <a:rPr lang="en-US" altLang="zh-CN" sz="1000" b="0" i="0">
                <a:solidFill>
                  <a:srgbClr val="FF0000"/>
                </a:solidFill>
                <a:latin typeface="-apple-system"/>
                <a:ea typeface="-apple-system"/>
              </a:rPr>
              <a:t>epsilon (ε)</a:t>
            </a:r>
            <a:r>
              <a:rPr lang="zh-CN" altLang="en-US" sz="1000" b="0" i="0">
                <a:solidFill>
                  <a:srgbClr val="FF0000"/>
                </a:solidFill>
                <a:latin typeface="-apple-system"/>
                <a:ea typeface="-apple-system"/>
              </a:rPr>
              <a:t>：在双侧</a:t>
            </a:r>
            <a:r>
              <a:rPr lang="en-US" altLang="zh-CN" sz="1000" b="0" i="0">
                <a:solidFill>
                  <a:srgbClr val="FF0000"/>
                </a:solidFill>
                <a:latin typeface="-apple-system"/>
                <a:ea typeface="-apple-system"/>
              </a:rPr>
              <a:t>clipping</a:t>
            </a:r>
            <a:r>
              <a:rPr lang="zh-CN" altLang="en-US" sz="1000" b="0" i="0">
                <a:solidFill>
                  <a:srgbClr val="FF0000"/>
                </a:solidFill>
                <a:latin typeface="-apple-system"/>
                <a:ea typeface="-apple-system"/>
              </a:rPr>
              <a:t>中控制策略更新的</a:t>
            </a:r>
            <a:r>
              <a:rPr lang="en-US" altLang="zh-CN" sz="1000" b="0" i="0">
                <a:solidFill>
                  <a:srgbClr val="FF0000"/>
                </a:solidFill>
                <a:latin typeface="-apple-system"/>
                <a:ea typeface="-apple-system"/>
              </a:rPr>
              <a:t>"</a:t>
            </a:r>
            <a:r>
              <a:rPr lang="zh-CN" altLang="en-US" sz="1000" b="0" i="0">
                <a:solidFill>
                  <a:srgbClr val="FF0000"/>
                </a:solidFill>
                <a:latin typeface="-apple-system"/>
                <a:ea typeface="-apple-system"/>
              </a:rPr>
              <a:t>安全范围</a:t>
            </a:r>
            <a:r>
              <a:rPr lang="en-US" altLang="zh-CN" sz="1000" b="0" i="0">
                <a:solidFill>
                  <a:srgbClr val="FF0000"/>
                </a:solidFill>
                <a:latin typeface="-apple-system"/>
                <a:ea typeface="-apple-system"/>
              </a:rPr>
              <a:t>"</a:t>
            </a:r>
            <a:r>
              <a:rPr lang="zh-CN" altLang="en-US" sz="1000" b="0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。来自</a:t>
            </a:r>
            <a:r>
              <a:rPr lang="en-US" altLang="zh-CN" sz="1000" b="0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ppo</a:t>
            </a:r>
            <a:r>
              <a:rPr lang="zh-CN" altLang="en-US" sz="1000" b="0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的继承，</a:t>
            </a:r>
            <a:r>
              <a:rPr lang="en-US" altLang="zh-CN" sz="1000" b="0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clip(r_t(θ), 1-ε, 1+ε)</a:t>
            </a:r>
            <a:endParaRPr lang="en-US" altLang="zh-CN" sz="1000" b="0" i="0">
              <a:solidFill>
                <a:srgbClr val="FF0000"/>
              </a:solidFill>
              <a:latin typeface="-apple-system"/>
              <a:ea typeface="宋体" panose="02010600030101010101" pitchFamily="2" charset="-122"/>
            </a:endParaRPr>
          </a:p>
          <a:p>
            <a:pPr marL="0" indent="0"/>
            <a:endParaRPr lang="en-US" altLang="zh-CN" sz="1000" b="0" i="0">
              <a:solidFill>
                <a:srgbClr val="FF0000"/>
              </a:solidFill>
              <a:latin typeface="-apple-system"/>
              <a:ea typeface="宋体" panose="02010600030101010101" pitchFamily="2" charset="-122"/>
            </a:endParaRPr>
          </a:p>
          <a:p>
            <a:pPr marL="0" indent="0"/>
            <a:r>
              <a:rPr lang="en-US" altLang="zh-CN" sz="1000" b="0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delta (δ)</a:t>
            </a:r>
            <a:r>
              <a:rPr lang="zh-CN" altLang="en-US" sz="1000" b="0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：在单侧</a:t>
            </a:r>
            <a:r>
              <a:rPr lang="en-US" altLang="zh-CN" sz="1000" b="0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clipping</a:t>
            </a:r>
            <a:r>
              <a:rPr lang="zh-CN" altLang="en-US" sz="1000" b="0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中限制策略更新的</a:t>
            </a:r>
            <a:r>
              <a:rPr lang="en-US" altLang="zh-CN" sz="1000" b="0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"</a:t>
            </a:r>
            <a:r>
              <a:rPr lang="zh-CN" altLang="en-US" sz="1000" b="0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最大步长</a:t>
            </a:r>
            <a:r>
              <a:rPr lang="en-US" altLang="zh-CN" sz="1000" b="0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"</a:t>
            </a:r>
            <a:r>
              <a:rPr lang="zh-CN" altLang="en-US" sz="1000" b="0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。来自工程实践。</a:t>
            </a:r>
            <a:endParaRPr lang="zh-CN" altLang="en-US" sz="1000" b="0" i="0">
              <a:solidFill>
                <a:srgbClr val="FF0000"/>
              </a:solidFill>
              <a:latin typeface="-apple-system"/>
              <a:ea typeface="宋体" panose="02010600030101010101" pitchFamily="2" charset="-122"/>
            </a:endParaRPr>
          </a:p>
          <a:p>
            <a:pPr marL="0" indent="0"/>
            <a:r>
              <a:rPr lang="zh-CN" altLang="en-US" sz="1000" b="1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问题发现</a:t>
            </a:r>
            <a:r>
              <a:rPr lang="zh-CN" altLang="en-US" sz="1000" b="0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：即使有</a:t>
            </a:r>
            <a:r>
              <a:rPr lang="en-US" altLang="zh-CN" sz="1000" b="0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clipping</a:t>
            </a:r>
            <a:r>
              <a:rPr lang="zh-CN" altLang="en-US" sz="1000" b="0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，某些</a:t>
            </a:r>
            <a:r>
              <a:rPr lang="en-US" altLang="zh-CN" sz="1000" b="0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token</a:t>
            </a:r>
            <a:r>
              <a:rPr lang="zh-CN" altLang="en-US" sz="1000" b="0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仍可能导致极端更新，</a:t>
            </a:r>
            <a:r>
              <a:rPr lang="zh-CN" altLang="en-US" sz="1000" b="1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解决方案</a:t>
            </a:r>
            <a:r>
              <a:rPr lang="zh-CN" altLang="en-US" sz="1000" b="0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：添加硬性上限。</a:t>
            </a:r>
            <a:endParaRPr lang="zh-CN" altLang="en-US" sz="1000" b="0" i="0">
              <a:solidFill>
                <a:srgbClr val="FF0000"/>
              </a:solidFill>
              <a:latin typeface="-apple-system"/>
              <a:ea typeface="宋体" panose="02010600030101010101" pitchFamily="2" charset="-122"/>
            </a:endParaRPr>
          </a:p>
          <a:p>
            <a:pPr marL="0" indent="0"/>
            <a:r>
              <a:rPr lang="en-US" altLang="zh-CN" sz="1000" b="0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# </a:t>
            </a:r>
            <a:r>
              <a:rPr lang="zh-CN" altLang="en-US" sz="1000" b="0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当</a:t>
            </a:r>
            <a:r>
              <a:rPr lang="en-US" altLang="zh-CN" sz="1000" b="0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r = π_θ/π_ref &gt; delta</a:t>
            </a:r>
            <a:r>
              <a:rPr lang="zh-CN" altLang="en-US" sz="1000" b="0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时，强制截断</a:t>
            </a:r>
            <a:endParaRPr lang="zh-CN" altLang="en-US" sz="1000" b="0" i="0">
              <a:solidFill>
                <a:srgbClr val="FF0000"/>
              </a:solidFill>
              <a:latin typeface="-apple-system"/>
              <a:ea typeface="宋体" panose="02010600030101010101" pitchFamily="2" charset="-122"/>
            </a:endParaRPr>
          </a:p>
          <a:p>
            <a:pPr marL="0" indent="0"/>
            <a:r>
              <a:rPr lang="en-US" altLang="zh-CN" sz="1000" b="0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# </a:t>
            </a:r>
            <a:r>
              <a:rPr lang="zh-CN" altLang="en-US" sz="1000" b="0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例如：</a:t>
            </a:r>
            <a:r>
              <a:rPr lang="en-US" altLang="zh-CN" sz="1000" b="0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delta=5.0</a:t>
            </a:r>
            <a:r>
              <a:rPr lang="zh-CN" altLang="en-US" sz="1000" b="0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，防止策略概率变化超过</a:t>
            </a:r>
            <a:r>
              <a:rPr lang="en-US" altLang="zh-CN" sz="1000" b="0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5</a:t>
            </a:r>
            <a:r>
              <a:rPr lang="zh-CN" altLang="en-US" sz="1000" b="0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倍</a:t>
            </a:r>
            <a:endParaRPr lang="zh-CN" altLang="en-US" sz="1000" b="0" i="0">
              <a:solidFill>
                <a:srgbClr val="FF0000"/>
              </a:solidFill>
              <a:latin typeface="-apple-system"/>
              <a:ea typeface="宋体" panose="02010600030101010101" pitchFamily="2" charset="-122"/>
            </a:endParaRPr>
          </a:p>
          <a:p>
            <a:pPr marL="0" indent="0"/>
            <a:endParaRPr lang="zh-CN" altLang="en-US" sz="1000" b="0" i="0">
              <a:solidFill>
                <a:srgbClr val="FF0000"/>
              </a:solidFill>
              <a:latin typeface="-apple-system"/>
              <a:ea typeface="宋体" panose="02010600030101010101" pitchFamily="2" charset="-122"/>
            </a:endParaRPr>
          </a:p>
          <a:p>
            <a:pPr marL="0" indent="0"/>
            <a:r>
              <a:rPr lang="zh-CN" altLang="en-US" sz="1000" b="0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通俗解释：</a:t>
            </a:r>
            <a:endParaRPr lang="zh-CN" altLang="en-US" sz="1000" b="0" i="0">
              <a:solidFill>
                <a:srgbClr val="FF0000"/>
              </a:solidFill>
              <a:latin typeface="-apple-system"/>
              <a:ea typeface="宋体" panose="02010600030101010101" pitchFamily="2" charset="-122"/>
            </a:endParaRPr>
          </a:p>
          <a:p>
            <a:pPr marL="0" indent="0"/>
            <a:r>
              <a:rPr lang="en-US" altLang="zh-CN" sz="1000" b="1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epsilon = </a:t>
            </a:r>
            <a:r>
              <a:rPr lang="zh-CN" altLang="en-US" sz="1000" b="1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车把的左右转动幅度</a:t>
            </a:r>
            <a:r>
              <a:rPr lang="zh-CN" altLang="en-US" sz="1000" b="0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。太小：不敢转弯，永远在直线上；太大：疯狂摇摆，容易摔倒</a:t>
            </a:r>
            <a:endParaRPr lang="zh-CN" altLang="en-US" sz="1000" b="0" i="0">
              <a:solidFill>
                <a:srgbClr val="FF0000"/>
              </a:solidFill>
              <a:latin typeface="-apple-system"/>
              <a:ea typeface="宋体" panose="02010600030101010101" pitchFamily="2" charset="-122"/>
            </a:endParaRPr>
          </a:p>
          <a:p>
            <a:pPr marL="0" indent="0"/>
            <a:r>
              <a:rPr lang="en-US" altLang="zh-CN" sz="1000" b="1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delta = </a:t>
            </a:r>
            <a:r>
              <a:rPr lang="zh-CN" altLang="en-US" sz="1000" b="1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油门的最大踩踏深度</a:t>
            </a:r>
            <a:r>
              <a:rPr lang="zh-CN" altLang="en-US" sz="1000" b="0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。太小：速度太慢，无法保持平衡；太大：突然加速，控制不住</a:t>
            </a:r>
            <a:endParaRPr lang="zh-CN" altLang="en-US" sz="1000" b="0" i="0">
              <a:solidFill>
                <a:srgbClr val="FF0000"/>
              </a:solidFill>
              <a:latin typeface="-apple-system"/>
              <a:ea typeface="宋体" panose="02010600030101010101" pitchFamily="2" charset="-122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4217035" y="5274945"/>
            <a:ext cx="555625" cy="5778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1137920" y="6276975"/>
            <a:ext cx="1009650" cy="255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2339975" y="6372225"/>
            <a:ext cx="1083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下一页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0" name="table 330"/>
          <p:cNvGraphicFramePr>
            <a:graphicFrameLocks noGrp="1"/>
          </p:cNvGraphicFramePr>
          <p:nvPr/>
        </p:nvGraphicFramePr>
        <p:xfrm>
          <a:off x="6167818" y="2447988"/>
          <a:ext cx="4019550" cy="2190750"/>
        </p:xfrm>
        <a:graphic>
          <a:graphicData uri="http://schemas.openxmlformats.org/drawingml/2006/table">
            <a:tbl>
              <a:tblPr/>
              <a:tblGrid>
                <a:gridCol w="4019550"/>
              </a:tblGrid>
              <a:tr h="21812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32" name="picture 3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167755" y="2457450"/>
            <a:ext cx="4000500" cy="2171700"/>
          </a:xfrm>
          <a:prstGeom prst="rect">
            <a:avLst/>
          </a:prstGeom>
        </p:spPr>
      </p:pic>
      <p:pic>
        <p:nvPicPr>
          <p:cNvPr id="334" name="picture 3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09575" y="638175"/>
            <a:ext cx="6372225" cy="1295400"/>
          </a:xfrm>
          <a:prstGeom prst="rect">
            <a:avLst/>
          </a:prstGeom>
        </p:spPr>
      </p:pic>
      <p:pic>
        <p:nvPicPr>
          <p:cNvPr id="336" name="picture 3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3219450"/>
            <a:ext cx="5067300" cy="1409700"/>
          </a:xfrm>
          <a:prstGeom prst="rect">
            <a:avLst/>
          </a:prstGeom>
        </p:spPr>
      </p:pic>
      <p:pic>
        <p:nvPicPr>
          <p:cNvPr id="338" name="picture 3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71525" y="2019300"/>
            <a:ext cx="4905375" cy="914400"/>
          </a:xfrm>
          <a:prstGeom prst="rect">
            <a:avLst/>
          </a:prstGeom>
        </p:spPr>
      </p:pic>
      <p:sp>
        <p:nvSpPr>
          <p:cNvPr id="340" name="textbox 340"/>
          <p:cNvSpPr/>
          <p:nvPr/>
        </p:nvSpPr>
        <p:spPr>
          <a:xfrm>
            <a:off x="3669567" y="127299"/>
            <a:ext cx="4879975" cy="384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3000" b="1" kern="0" spc="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Code</a:t>
            </a:r>
            <a:r>
              <a:rPr sz="3000" b="1" kern="0" spc="3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b="1" kern="0" spc="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</a:t>
            </a:r>
            <a:r>
              <a:rPr sz="3000" b="1" kern="0" spc="3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-</a:t>
            </a:r>
            <a:r>
              <a:rPr sz="3000" b="1" kern="0" spc="15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b="1" kern="0" spc="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Compute</a:t>
            </a:r>
            <a:r>
              <a:rPr sz="3000" b="1" kern="0" spc="26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b="1" kern="0" spc="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Loss</a:t>
            </a:r>
            <a:endParaRPr sz="3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81800" y="638492"/>
            <a:ext cx="5080000" cy="175323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200" b="0" i="0">
                <a:latin typeface="-apple-system"/>
                <a:ea typeface="-apple-system"/>
              </a:rPr>
              <a:t>这一页展示了</a:t>
            </a:r>
            <a:r>
              <a:rPr lang="en-US" altLang="zh-CN" sz="1200" b="0" i="0">
                <a:latin typeface="-apple-system"/>
                <a:ea typeface="-apple-system"/>
              </a:rPr>
              <a:t>GRPO</a:t>
            </a:r>
            <a:r>
              <a:rPr lang="zh-CN" altLang="en-US" sz="1200" b="0" i="0">
                <a:latin typeface="-apple-system"/>
                <a:ea typeface="-apple-system"/>
              </a:rPr>
              <a:t>如何计算最终的训练损失，包含两个核心部分：</a:t>
            </a:r>
            <a:endParaRPr lang="zh-CN" altLang="en-US" sz="1200" b="0" i="0">
              <a:latin typeface="-apple-system"/>
              <a:ea typeface="-apple-system"/>
            </a:endParaRPr>
          </a:p>
          <a:p>
            <a:pPr marL="0" indent="0"/>
            <a:endParaRPr lang="zh-CN" altLang="en-US" sz="1200" b="0" i="0">
              <a:latin typeface="-apple-system"/>
              <a:ea typeface="-apple-system"/>
            </a:endParaRPr>
          </a:p>
          <a:p>
            <a:pPr marL="0" indent="0"/>
            <a:r>
              <a:rPr lang="en-US" altLang="zh-CN" sz="1200" b="0" i="0">
                <a:latin typeface="-apple-system"/>
                <a:ea typeface="-apple-system"/>
              </a:rPr>
              <a:t>KL</a:t>
            </a:r>
            <a:r>
              <a:rPr lang="zh-CN" altLang="en-US" sz="1200" b="0" i="0">
                <a:latin typeface="-apple-system"/>
                <a:ea typeface="-apple-system"/>
              </a:rPr>
              <a:t>散度惩罚项：</a:t>
            </a:r>
            <a:endParaRPr lang="zh-CN" altLang="en-US" sz="1200" b="0" i="0">
              <a:latin typeface="-apple-system"/>
              <a:ea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b="0" i="0">
                <a:latin typeface="-apple-system"/>
                <a:ea typeface="-apple-system"/>
              </a:rPr>
              <a:t>使用</a:t>
            </a:r>
            <a:r>
              <a:rPr lang="en-US" altLang="zh-CN" sz="1200" b="0" i="0">
                <a:latin typeface="-apple-system"/>
                <a:ea typeface="-apple-system"/>
              </a:rPr>
              <a:t> r−logr−1 </a:t>
            </a:r>
            <a:r>
              <a:rPr lang="zh-CN" altLang="en-US" sz="1200" b="0" i="0">
                <a:latin typeface="-apple-system"/>
                <a:ea typeface="-apple-system"/>
              </a:rPr>
              <a:t>作为无偏估计</a:t>
            </a:r>
            <a:endParaRPr lang="zh-CN" altLang="en-US" sz="1200" b="0" i="0">
              <a:latin typeface="-apple-system"/>
              <a:ea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b="0" i="0">
                <a:latin typeface="-apple-system"/>
                <a:ea typeface="-apple-system"/>
              </a:rPr>
              <a:t>保证非负性，防止策略崩溃</a:t>
            </a:r>
            <a:endParaRPr lang="zh-CN" altLang="en-US" sz="1200" b="0" i="0">
              <a:latin typeface="-apple-system"/>
              <a:ea typeface="-apple-system"/>
            </a:endParaRPr>
          </a:p>
          <a:p>
            <a:pPr marL="0" indent="0"/>
            <a:r>
              <a:rPr lang="zh-CN" altLang="en-US" sz="1200" b="0" i="0">
                <a:latin typeface="-apple-system"/>
                <a:ea typeface="-apple-system"/>
              </a:rPr>
              <a:t>策略损失：</a:t>
            </a:r>
            <a:endParaRPr lang="zh-CN" altLang="en-US" sz="1200" b="0" i="0">
              <a:latin typeface="-apple-system"/>
              <a:ea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b="0" i="0">
                <a:latin typeface="-apple-system"/>
                <a:ea typeface="-apple-system"/>
              </a:rPr>
              <a:t>基于重要性采样比</a:t>
            </a:r>
            <a:endParaRPr lang="zh-CN" altLang="en-US" sz="1200" b="0" i="0">
              <a:latin typeface="-apple-system"/>
              <a:ea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b="0" i="0">
                <a:latin typeface="-apple-system"/>
                <a:ea typeface="-apple-system"/>
              </a:rPr>
              <a:t>使用双侧</a:t>
            </a:r>
            <a:r>
              <a:rPr lang="en-US" altLang="zh-CN" sz="1200" b="0" i="0">
                <a:latin typeface="-apple-system"/>
                <a:ea typeface="-apple-system"/>
              </a:rPr>
              <a:t>clipping</a:t>
            </a:r>
            <a:r>
              <a:rPr lang="zh-CN" altLang="en-US" sz="1200" b="0" i="0">
                <a:latin typeface="-apple-system"/>
                <a:ea typeface="-apple-system"/>
              </a:rPr>
              <a:t>控制更新幅度</a:t>
            </a:r>
            <a:endParaRPr lang="zh-CN" altLang="en-US" sz="1200" b="0" i="0">
              <a:latin typeface="-apple-system"/>
              <a:ea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b="0" i="0">
                <a:latin typeface="-apple-system"/>
                <a:ea typeface="-apple-system"/>
              </a:rPr>
              <a:t>最终损失为两者的组合</a:t>
            </a:r>
            <a:endParaRPr lang="zh-CN" altLang="en-US" sz="1200" b="0" i="0"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0675" y="4629150"/>
            <a:ext cx="3968115" cy="170434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1300"/>
              </a:lnSpc>
              <a:spcBef>
                <a:spcPts val="800"/>
              </a:spcBef>
              <a:spcAft>
                <a:spcPts val="800"/>
              </a:spcAft>
            </a:pP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最佳实践建议：</a:t>
            </a:r>
            <a:endParaRPr lang="zh-CN" altLang="en-US" sz="16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AutoNum type="arabicPeriod"/>
            </a:pP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合理设置</a:t>
            </a: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-apple-system"/>
              </a:rPr>
              <a:t>beta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：控制</a:t>
            </a: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-apple-system"/>
              </a:rPr>
              <a:t>KL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惩罚强度</a:t>
            </a:r>
            <a:endParaRPr lang="zh-CN" altLang="en-US" sz="16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AutoNum type="arabicPeriod"/>
            </a:pP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监控</a:t>
            </a: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-apple-system"/>
              </a:rPr>
              <a:t>KL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值：确保策略不会偏离太远</a:t>
            </a:r>
            <a:endParaRPr lang="zh-CN" altLang="en-US" sz="16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AutoNum type="arabicPeriod"/>
            </a:pPr>
            <a:r>
              <a:rPr lang="zh-CN" altLang="en-US" sz="1600" b="1" i="0">
                <a:solidFill>
                  <a:srgbClr val="111133"/>
                </a:solidFill>
                <a:latin typeface="-apple-system"/>
                <a:ea typeface="-apple-system"/>
              </a:rPr>
              <a:t>调整</a:t>
            </a:r>
            <a:r>
              <a:rPr lang="en-US" altLang="zh-CN" sz="1600" b="1" i="0">
                <a:solidFill>
                  <a:srgbClr val="111133"/>
                </a:solidFill>
                <a:latin typeface="-apple-system"/>
                <a:ea typeface="-apple-system"/>
              </a:rPr>
              <a:t>epsilon</a:t>
            </a:r>
            <a:r>
              <a:rPr lang="zh-CN" altLang="en-US" sz="1600" b="1" i="0">
                <a:solidFill>
                  <a:srgbClr val="111133"/>
                </a:solidFill>
                <a:latin typeface="-apple-system"/>
                <a:ea typeface="-apple-system"/>
              </a:rPr>
              <a:t>和</a:t>
            </a:r>
            <a:r>
              <a:rPr lang="en-US" altLang="zh-CN" sz="1600" b="1" i="0">
                <a:solidFill>
                  <a:srgbClr val="111133"/>
                </a:solidFill>
                <a:latin typeface="-apple-system"/>
                <a:ea typeface="-apple-system"/>
              </a:rPr>
              <a:t>delta</a:t>
            </a:r>
            <a:r>
              <a:rPr lang="zh-CN" altLang="en-US" sz="1600" b="1" i="0">
                <a:solidFill>
                  <a:srgbClr val="111133"/>
                </a:solidFill>
                <a:latin typeface="-apple-system"/>
                <a:ea typeface="-apple-system"/>
              </a:rPr>
              <a:t>：平衡探索与稳定</a:t>
            </a:r>
            <a:endParaRPr lang="zh-CN" altLang="en-US" sz="1600" b="1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AutoNum type="arabicPeriod"/>
            </a:pPr>
            <a:r>
              <a:rPr lang="zh-CN" altLang="en-US" sz="1600" b="1" i="0">
                <a:solidFill>
                  <a:srgbClr val="111133"/>
                </a:solidFill>
                <a:latin typeface="-apple-system"/>
                <a:ea typeface="-apple-system"/>
              </a:rPr>
              <a:t>注意数值稳定性：避免</a:t>
            </a:r>
            <a:r>
              <a:rPr lang="en-US" altLang="zh-CN" sz="1600" b="1" i="0">
                <a:solidFill>
                  <a:srgbClr val="111133"/>
                </a:solidFill>
                <a:latin typeface="-apple-system"/>
                <a:ea typeface="-apple-system"/>
              </a:rPr>
              <a:t>log</a:t>
            </a:r>
            <a:r>
              <a:rPr lang="zh-CN" altLang="en-US" sz="1600" b="1" i="0">
                <a:solidFill>
                  <a:srgbClr val="111133"/>
                </a:solidFill>
                <a:latin typeface="-apple-system"/>
                <a:ea typeface="-apple-system"/>
              </a:rPr>
              <a:t>概率下溢</a:t>
            </a:r>
            <a:endParaRPr lang="zh-CN" altLang="en-US" sz="1600" b="1" i="0">
              <a:solidFill>
                <a:srgbClr val="111133"/>
              </a:solidFill>
              <a:latin typeface="-apple-system"/>
              <a:ea typeface="-apple-system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3875405" y="5633085"/>
            <a:ext cx="611505" cy="5410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120" y="5031105"/>
            <a:ext cx="2743835" cy="1744980"/>
          </a:xfrm>
          <a:prstGeom prst="rect">
            <a:avLst/>
          </a:prstGeom>
        </p:spPr>
      </p:pic>
      <p:graphicFrame>
        <p:nvGraphicFramePr>
          <p:cNvPr id="11" name="table 330"/>
          <p:cNvGraphicFramePr>
            <a:graphicFrameLocks noGrp="1"/>
          </p:cNvGraphicFramePr>
          <p:nvPr/>
        </p:nvGraphicFramePr>
        <p:xfrm>
          <a:off x="6388100" y="6565900"/>
          <a:ext cx="998855" cy="235585"/>
        </p:xfrm>
        <a:graphic>
          <a:graphicData uri="http://schemas.openxmlformats.org/drawingml/2006/table">
            <a:tbl>
              <a:tblPr/>
              <a:tblGrid>
                <a:gridCol w="998855"/>
              </a:tblGrid>
              <a:tr h="2355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4746625" y="4695190"/>
            <a:ext cx="2536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当处理极小的概率值</a:t>
            </a:r>
            <a:r>
              <a:rPr lang="zh-CN" altLang="en-US"/>
              <a:t>时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134225" y="4909820"/>
            <a:ext cx="1415415" cy="13354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1300"/>
              </a:lnSpc>
              <a:spcBef>
                <a:spcPts val="800"/>
              </a:spcBef>
              <a:spcAft>
                <a:spcPts val="800"/>
              </a:spcAft>
            </a:pPr>
            <a:r>
              <a:rPr lang="zh-CN" altLang="en-US" sz="1000" b="0" i="0">
                <a:solidFill>
                  <a:srgbClr val="111133"/>
                </a:solidFill>
                <a:latin typeface="-apple-system"/>
                <a:ea typeface="-apple-system"/>
              </a:rPr>
              <a:t>实际后果</a:t>
            </a:r>
            <a:endParaRPr lang="zh-CN" altLang="en-US" sz="10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1000" b="0" i="0">
                <a:solidFill>
                  <a:srgbClr val="111133"/>
                </a:solidFill>
                <a:latin typeface="-apple-system"/>
                <a:ea typeface="-apple-system"/>
              </a:rPr>
              <a:t>梯度计算错误</a:t>
            </a:r>
            <a:endParaRPr lang="zh-CN" altLang="en-US" sz="10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1000" b="0" i="0">
                <a:solidFill>
                  <a:srgbClr val="111133"/>
                </a:solidFill>
                <a:latin typeface="-apple-system"/>
                <a:ea typeface="-apple-system"/>
              </a:rPr>
              <a:t>损失函数变成</a:t>
            </a:r>
            <a:r>
              <a:rPr lang="en-US" altLang="zh-CN" sz="1000" b="0" i="0">
                <a:solidFill>
                  <a:srgbClr val="111133"/>
                </a:solidFill>
                <a:latin typeface="-apple-system"/>
                <a:ea typeface="-apple-system"/>
              </a:rPr>
              <a:t>NaN</a:t>
            </a:r>
            <a:endParaRPr lang="en-US" altLang="zh-CN" sz="10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1000" b="0" i="0">
                <a:solidFill>
                  <a:srgbClr val="111133"/>
                </a:solidFill>
                <a:latin typeface="-apple-system"/>
                <a:ea typeface="-apple-system"/>
              </a:rPr>
              <a:t>训练突然崩溃</a:t>
            </a:r>
            <a:endParaRPr lang="zh-CN" altLang="en-US" sz="10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1000" b="0" i="0">
                <a:solidFill>
                  <a:srgbClr val="111133"/>
                </a:solidFill>
                <a:latin typeface="-apple-system"/>
                <a:ea typeface="-apple-system"/>
              </a:rPr>
              <a:t>模型性能急剧下降</a:t>
            </a:r>
            <a:endParaRPr lang="zh-CN" altLang="en-US" sz="1000" b="0" i="0">
              <a:solidFill>
                <a:srgbClr val="111133"/>
              </a:solidFill>
              <a:latin typeface="-apple-system"/>
              <a:ea typeface="-apple-system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067800" y="4953635"/>
            <a:ext cx="2234565" cy="13354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1300"/>
              </a:lnSpc>
              <a:spcBef>
                <a:spcPts val="800"/>
              </a:spcBef>
              <a:spcAft>
                <a:spcPts val="800"/>
              </a:spcAft>
            </a:pPr>
            <a:r>
              <a:rPr lang="zh-CN" altLang="en-US" sz="1000" b="0" i="0">
                <a:solidFill>
                  <a:srgbClr val="111133"/>
                </a:solidFill>
                <a:latin typeface="-apple-system"/>
                <a:ea typeface="-apple-system"/>
              </a:rPr>
              <a:t>解决方案（实战技巧）</a:t>
            </a:r>
            <a:endParaRPr lang="zh-CN" altLang="en-US" sz="10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Font typeface="Arial" panose="020B0604020202020204"/>
              <a:buNone/>
            </a:pPr>
            <a:r>
              <a:rPr lang="en-US" altLang="zh-CN" sz="1000" b="0" i="0">
                <a:solidFill>
                  <a:srgbClr val="111133"/>
                </a:solidFill>
                <a:latin typeface="-apple-system"/>
                <a:ea typeface="-apple-system"/>
              </a:rPr>
              <a:t>1. </a:t>
            </a:r>
            <a:r>
              <a:rPr lang="zh-CN" altLang="en-US" sz="1000" b="0" i="0">
                <a:solidFill>
                  <a:srgbClr val="111133"/>
                </a:solidFill>
                <a:latin typeface="-apple-system"/>
                <a:ea typeface="-apple-system"/>
              </a:rPr>
              <a:t>始终使用</a:t>
            </a:r>
            <a:r>
              <a:rPr lang="en-US" altLang="zh-CN" sz="1000" b="0" i="0">
                <a:solidFill>
                  <a:srgbClr val="111133"/>
                </a:solidFill>
                <a:latin typeface="-apple-system"/>
                <a:ea typeface="-apple-system"/>
              </a:rPr>
              <a:t>log-space</a:t>
            </a:r>
            <a:r>
              <a:rPr lang="zh-CN" altLang="en-US" sz="1000" b="0" i="0">
                <a:solidFill>
                  <a:srgbClr val="111133"/>
                </a:solidFill>
                <a:latin typeface="-apple-system"/>
                <a:ea typeface="-apple-system"/>
              </a:rPr>
              <a:t>计算</a:t>
            </a:r>
            <a:endParaRPr lang="zh-CN" altLang="en-US" sz="10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Font typeface="Arial" panose="020B0604020202020204"/>
              <a:buNone/>
            </a:pPr>
            <a:r>
              <a:rPr lang="en-US" altLang="zh-CN" sz="1000" b="0" i="0">
                <a:solidFill>
                  <a:srgbClr val="111133"/>
                </a:solidFill>
                <a:latin typeface="-apple-system"/>
                <a:ea typeface="-apple-system"/>
              </a:rPr>
              <a:t>2. </a:t>
            </a:r>
            <a:r>
              <a:rPr lang="zh-CN" altLang="en-US" sz="1000" b="0" i="0">
                <a:solidFill>
                  <a:srgbClr val="111133"/>
                </a:solidFill>
                <a:latin typeface="-apple-system"/>
                <a:ea typeface="-apple-system"/>
              </a:rPr>
              <a:t>安全计算重要性采样比</a:t>
            </a:r>
            <a:endParaRPr lang="zh-CN" altLang="en-US" sz="10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Font typeface="Arial" panose="020B0604020202020204"/>
              <a:buNone/>
            </a:pPr>
            <a:r>
              <a:rPr lang="en-US" altLang="zh-CN" sz="1000" b="0" i="0">
                <a:solidFill>
                  <a:srgbClr val="111133"/>
                </a:solidFill>
                <a:latin typeface="-apple-system"/>
                <a:ea typeface="-apple-system"/>
              </a:rPr>
              <a:t>3. KL</a:t>
            </a:r>
            <a:r>
              <a:rPr lang="zh-CN" altLang="en-US" sz="1000" b="0" i="0">
                <a:solidFill>
                  <a:srgbClr val="111133"/>
                </a:solidFill>
                <a:latin typeface="-apple-system"/>
                <a:ea typeface="-apple-system"/>
              </a:rPr>
              <a:t>散度计算的稳定性</a:t>
            </a:r>
            <a:endParaRPr lang="zh-CN" altLang="en-US" sz="10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Font typeface="Arial" panose="020B0604020202020204"/>
              <a:buNone/>
            </a:pPr>
            <a:r>
              <a:rPr lang="en-US" altLang="zh-CN" sz="1000" b="0" i="0">
                <a:solidFill>
                  <a:srgbClr val="111133"/>
                </a:solidFill>
                <a:latin typeface="-apple-system"/>
                <a:ea typeface="-apple-system"/>
              </a:rPr>
              <a:t>4. </a:t>
            </a:r>
            <a:r>
              <a:rPr lang="zh-CN" altLang="en-US" sz="1000" b="0" i="0">
                <a:solidFill>
                  <a:srgbClr val="111133"/>
                </a:solidFill>
                <a:latin typeface="-apple-system"/>
                <a:ea typeface="-apple-system"/>
              </a:rPr>
              <a:t>梯度裁剪与混合精度</a:t>
            </a:r>
            <a:endParaRPr lang="zh-CN" altLang="en-US" sz="1000" b="0" i="0">
              <a:solidFill>
                <a:srgbClr val="1111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textbox 342"/>
          <p:cNvSpPr/>
          <p:nvPr/>
        </p:nvSpPr>
        <p:spPr>
          <a:xfrm>
            <a:off x="4109407" y="2653491"/>
            <a:ext cx="4037329" cy="692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6000" b="1" kern="0" spc="-50" dirty="0">
                <a:solidFill>
                  <a:srgbClr val="215F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Discussion</a:t>
            </a:r>
            <a:endParaRPr sz="6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4162</Words>
  <Application>WPS 演示</Application>
  <PresentationFormat/>
  <Paragraphs>428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6" baseType="lpstr">
      <vt:lpstr>Arial</vt:lpstr>
      <vt:lpstr>宋体</vt:lpstr>
      <vt:lpstr>Wingdings</vt:lpstr>
      <vt:lpstr>Arial</vt:lpstr>
      <vt:lpstr>Microsoft JhengHei</vt:lpstr>
      <vt:lpstr>MS Gothic</vt:lpstr>
      <vt:lpstr>Cambria Math</vt:lpstr>
      <vt:lpstr>等线</vt:lpstr>
      <vt:lpstr>微软雅黑</vt:lpstr>
      <vt:lpstr>Arial Unicode MS</vt:lpstr>
      <vt:lpstr>Calibri</vt:lpstr>
      <vt:lpstr>-apple-system</vt:lpstr>
      <vt:lpstr>Segoe Print</vt:lpstr>
      <vt:lpstr>quote-cjk-patch</vt:lpstr>
      <vt:lpstr>黑体</vt:lpstr>
      <vt:lpstr>ui-monospace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我想要两颗西柚</cp:lastModifiedBy>
  <cp:revision>37</cp:revision>
  <dcterms:created xsi:type="dcterms:W3CDTF">2025-12-17T03:19:00Z</dcterms:created>
  <dcterms:modified xsi:type="dcterms:W3CDTF">2025-12-18T03:23:15Z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2025-12-17T19:16:17Z</vt:filetime>
  </property>
  <property fmtid="{D5CDD505-2E9C-101B-9397-08002B2CF9AE}" pid="4" name="ICV">
    <vt:lpwstr>833A3CEE53144C15BBCBB1CBBF6436B0_12</vt:lpwstr>
  </property>
  <property fmtid="{D5CDD505-2E9C-101B-9397-08002B2CF9AE}" pid="5" name="KSOProductBuildVer">
    <vt:lpwstr>2052-12.1.0.24034</vt:lpwstr>
  </property>
</Properties>
</file>